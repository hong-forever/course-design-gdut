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10" r:id="rId2"/>
  </p:sldMasterIdLst>
  <p:notesMasterIdLst>
    <p:notesMasterId r:id="rId21"/>
  </p:notesMasterIdLst>
  <p:sldIdLst>
    <p:sldId id="257" r:id="rId3"/>
    <p:sldId id="258" r:id="rId4"/>
    <p:sldId id="260" r:id="rId5"/>
    <p:sldId id="259" r:id="rId6"/>
    <p:sldId id="264" r:id="rId7"/>
    <p:sldId id="297" r:id="rId8"/>
    <p:sldId id="267" r:id="rId9"/>
    <p:sldId id="265" r:id="rId10"/>
    <p:sldId id="298" r:id="rId11"/>
    <p:sldId id="299" r:id="rId12"/>
    <p:sldId id="300" r:id="rId13"/>
    <p:sldId id="301" r:id="rId14"/>
    <p:sldId id="276" r:id="rId15"/>
    <p:sldId id="266" r:id="rId16"/>
    <p:sldId id="261" r:id="rId17"/>
    <p:sldId id="285" r:id="rId18"/>
    <p:sldId id="263" r:id="rId19"/>
    <p:sldId id="295"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0000"/>
    <a:srgbClr val="00B0F0"/>
    <a:srgbClr val="0F6F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196" autoAdjust="0"/>
  </p:normalViewPr>
  <p:slideViewPr>
    <p:cSldViewPr snapToGrid="0" showGuides="1">
      <p:cViewPr varScale="1">
        <p:scale>
          <a:sx n="89" d="100"/>
          <a:sy n="89" d="100"/>
        </p:scale>
        <p:origin x="56" y="38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005C57-3BCD-4459-898B-335C3FEE58D4}" type="datetimeFigureOut">
              <a:rPr lang="zh-CN" altLang="en-US" smtClean="0"/>
              <a:t>2024/4/15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670B3A-BFD8-4057-8D7B-2E8320C50C26}" type="slidenum">
              <a:rPr lang="zh-CN" altLang="en-US" smtClean="0"/>
              <a:t>‹#›</a:t>
            </a:fld>
            <a:endParaRPr lang="zh-CN" altLang="en-US"/>
          </a:p>
        </p:txBody>
      </p:sp>
    </p:spTree>
    <p:extLst>
      <p:ext uri="{BB962C8B-B14F-4D97-AF65-F5344CB8AC3E}">
        <p14:creationId xmlns:p14="http://schemas.microsoft.com/office/powerpoint/2010/main" val="86930454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Rot="1" noChangeAspect="1" noTextEdit="1"/>
          </p:cNvSpPr>
          <p:nvPr>
            <p:ph type="sldImg"/>
          </p:nvPr>
        </p:nvSpPr>
        <p:spPr bwMode="auto">
          <a:noFill/>
          <a:ln>
            <a:solidFill>
              <a:srgbClr val="000000"/>
            </a:solidFill>
            <a:miter lim="800000"/>
          </a:ln>
        </p:spPr>
      </p:sp>
      <p:sp>
        <p:nvSpPr>
          <p:cNvPr id="8194" name="Rectangle 3"/>
          <p:cNvSpPr>
            <a:spLocks noGrp="1"/>
          </p:cNvSpPr>
          <p:nvPr>
            <p:ph type="body" idx="1"/>
          </p:nvPr>
        </p:nvSpPr>
        <p:spPr bwMode="auto">
          <a:noFill/>
        </p:spPr>
        <p:txBody>
          <a:bodyPr wrap="square" numCol="1" anchor="t" anchorCtr="0" compatLnSpc="1"/>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TextEdit="1"/>
          </p:cNvSpPr>
          <p:nvPr>
            <p:ph type="sldImg"/>
          </p:nvPr>
        </p:nvSpPr>
        <p:spPr bwMode="auto">
          <a:noFill/>
          <a:ln>
            <a:solidFill>
              <a:srgbClr val="000000"/>
            </a:solidFill>
            <a:miter lim="800000"/>
          </a:ln>
        </p:spPr>
      </p:sp>
      <p:sp>
        <p:nvSpPr>
          <p:cNvPr id="14338" name="Rectangle 3"/>
          <p:cNvSpPr>
            <a:spLocks noGrp="1"/>
          </p:cNvSpPr>
          <p:nvPr>
            <p:ph type="body" idx="1"/>
          </p:nvPr>
        </p:nvSpPr>
        <p:spPr bwMode="auto">
          <a:noFill/>
        </p:spPr>
        <p:txBody>
          <a:bodyPr wrap="square" numCol="1" anchor="t" anchorCtr="0" compatLnSpc="1"/>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6A33FD6-664F-4ED7-82EB-1EEF97BF7A52}" type="slidenum">
              <a:rPr lang="zh-CN" altLang="en-US" smtClean="0"/>
              <a:t>‹#›</a:t>
            </a:fld>
            <a:endParaRPr lang="zh-CN" altLang="en-US"/>
          </a:p>
        </p:txBody>
      </p:sp>
    </p:spTree>
  </p:cSld>
  <p:clrMapOvr>
    <a:masterClrMapping/>
  </p:clrMapOvr>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6A33FD6-664F-4ED7-82EB-1EEF97BF7A52}" type="slidenum">
              <a:rPr lang="zh-CN" altLang="en-US" smtClean="0"/>
              <a:t>‹#›</a:t>
            </a:fld>
            <a:endParaRPr lang="zh-CN" altLang="en-US"/>
          </a:p>
        </p:txBody>
      </p:sp>
    </p:spTree>
  </p:cSld>
  <p:clrMapOvr>
    <a:masterClrMapping/>
  </p:clrMapOvr>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6A33FD6-664F-4ED7-82EB-1EEF97BF7A52}" type="slidenum">
              <a:rPr lang="zh-CN" altLang="en-US" smtClean="0"/>
              <a:t>‹#›</a:t>
            </a:fld>
            <a:endParaRPr lang="zh-CN" altLang="en-US"/>
          </a:p>
        </p:txBody>
      </p:sp>
    </p:spTree>
  </p:cSld>
  <p:clrMapOvr>
    <a:masterClrMapping/>
  </p:clrMapOvr>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6A33FD6-664F-4ED7-82EB-1EEF97BF7A52}" type="slidenum">
              <a:rPr lang="zh-CN" altLang="en-US" smtClean="0"/>
              <a:t>‹#›</a:t>
            </a:fld>
            <a:endParaRPr lang="zh-CN" altLang="en-US"/>
          </a:p>
        </p:txBody>
      </p:sp>
    </p:spTree>
  </p:cSld>
  <p:clrMapOvr>
    <a:masterClrMapping/>
  </p:clrMapOvr>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cSld>
  <p:clrMapOvr>
    <a:masterClrMapping/>
  </p:clrMapOvr>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271824128"/>
      </p:ext>
    </p:extLst>
  </p:cSld>
  <p:clrMapOvr>
    <a:masterClrMapping/>
  </p:clrMapOvr>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2058454266"/>
      </p:ext>
    </p:extLst>
  </p:cSld>
  <p:clrMapOvr>
    <a:masterClrMapping/>
  </p:clrMapOvr>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62288595"/>
      </p:ext>
    </p:extLst>
  </p:cSld>
  <p:clrMapOvr>
    <a:masterClrMapping/>
  </p:clrMapOvr>
  <p:hf sldNum="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4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4081850877"/>
      </p:ext>
    </p:extLst>
  </p:cSld>
  <p:clrMapOvr>
    <a:masterClrMapping/>
  </p:clrMapOvr>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5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769548192"/>
      </p:ext>
    </p:extLst>
  </p:cSld>
  <p:clrMapOvr>
    <a:masterClrMapping/>
  </p:clrMapOvr>
  <p:hf sldNum="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6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990219082"/>
      </p:ext>
    </p:extLst>
  </p:cSld>
  <p:clrMapOvr>
    <a:masterClrMapping/>
  </p:clrMapOvr>
  <p:hf sldNum="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7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434131051"/>
      </p:ext>
    </p:extLst>
  </p:cSld>
  <p:clrMapOvr>
    <a:masterClrMapping/>
  </p:clrMapOvr>
  <p:hf sldNum="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8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574620183"/>
      </p:ext>
    </p:extLst>
  </p:cSld>
  <p:clrMapOvr>
    <a:masterClrMapping/>
  </p:clrMapOvr>
  <p:hf sldNum="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9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287047502"/>
      </p:ext>
    </p:extLst>
  </p:cSld>
  <p:clrMapOvr>
    <a:masterClrMapping/>
  </p:clrMapOvr>
  <p:hf sldNum="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10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2594017352"/>
      </p:ext>
    </p:extLst>
  </p:cSld>
  <p:clrMapOvr>
    <a:masterClrMapping/>
  </p:clrMapOvr>
  <p:hf sldNum="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1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618468509"/>
      </p:ext>
    </p:extLst>
  </p:cSld>
  <p:clrMapOvr>
    <a:masterClrMapping/>
  </p:clrMapOvr>
  <p:hf sldNum="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1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090404030"/>
      </p:ext>
    </p:extLst>
  </p:cSld>
  <p:clrMapOvr>
    <a:masterClrMapping/>
  </p:clrMapOvr>
  <p:hf sldNum="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1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480023102"/>
      </p:ext>
    </p:extLst>
  </p:cSld>
  <p:clrMapOvr>
    <a:masterClrMapping/>
  </p:clrMapOvr>
  <p:hf sldNum="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14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948355905"/>
      </p:ext>
    </p:extLst>
  </p:cSld>
  <p:clrMapOvr>
    <a:masterClrMapping/>
  </p:clrMapOvr>
  <p:hf sldNum="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15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380133265"/>
      </p:ext>
    </p:extLst>
  </p:cSld>
  <p:clrMapOvr>
    <a:masterClrMapping/>
  </p:clrMapOvr>
  <p:hf sldNum="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16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484618511"/>
      </p:ext>
    </p:extLst>
  </p:cSld>
  <p:clrMapOvr>
    <a:masterClrMapping/>
  </p:clrMapOvr>
  <p:hf sldNum="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17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793551134"/>
      </p:ext>
    </p:extLst>
  </p:cSld>
  <p:clrMapOvr>
    <a:masterClrMapping/>
  </p:clrMapOvr>
  <p:hf sldNum="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18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661304423"/>
      </p:ext>
    </p:extLst>
  </p:cSld>
  <p:clrMapOvr>
    <a:masterClrMapping/>
  </p:clrMapOvr>
  <p:hf sldNum="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19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338551463"/>
      </p:ext>
    </p:extLst>
  </p:cSld>
  <p:clrMapOvr>
    <a:masterClrMapping/>
  </p:clrMapOvr>
  <p:hf sldNum="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20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996422771"/>
      </p:ext>
    </p:extLst>
  </p:cSld>
  <p:clrMapOvr>
    <a:masterClrMapping/>
  </p:clrMapOvr>
  <p:hf sldNum="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2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798165753"/>
      </p:ext>
    </p:extLst>
  </p:cSld>
  <p:clrMapOvr>
    <a:masterClrMapping/>
  </p:clrMapOvr>
  <p:hf sldNum="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2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2521047521"/>
      </p:ext>
    </p:extLst>
  </p:cSld>
  <p:clrMapOvr>
    <a:masterClrMapping/>
  </p:clrMapOvr>
  <p:hf sldNum="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2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722668475"/>
      </p:ext>
    </p:extLst>
  </p:cSld>
  <p:clrMapOvr>
    <a:masterClrMapping/>
  </p:clrMapOvr>
  <p:hf sldNum="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24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691937238"/>
      </p:ext>
    </p:extLst>
  </p:cSld>
  <p:clrMapOvr>
    <a:masterClrMapping/>
  </p:clrMapOvr>
  <p:hf sldNum="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25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870664725"/>
      </p:ext>
    </p:extLst>
  </p:cSld>
  <p:clrMapOvr>
    <a:masterClrMapping/>
  </p:clrMapOvr>
  <p:hf sldNum="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26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251693209"/>
      </p:ext>
    </p:extLst>
  </p:cSld>
  <p:clrMapOvr>
    <a:masterClrMapping/>
  </p:clrMapOvr>
  <p:hf sldNum="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27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633911770"/>
      </p:ext>
    </p:extLst>
  </p:cSld>
  <p:clrMapOvr>
    <a:masterClrMapping/>
  </p:clrMapOvr>
  <p:hf sldNum="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28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313857383"/>
      </p:ext>
    </p:extLst>
  </p:cSld>
  <p:clrMapOvr>
    <a:masterClrMapping/>
  </p:clrMapOvr>
  <p:hf sldNum="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29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292467335"/>
      </p:ext>
    </p:extLst>
  </p:cSld>
  <p:clrMapOvr>
    <a:masterClrMapping/>
  </p:clrMapOvr>
  <p:hf sldNum="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30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939604649"/>
      </p:ext>
    </p:extLst>
  </p:cSld>
  <p:clrMapOvr>
    <a:masterClrMapping/>
  </p:clrMapOvr>
  <p:hf sldNum="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3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2091307934"/>
      </p:ext>
    </p:extLst>
  </p:cSld>
  <p:clrMapOvr>
    <a:masterClrMapping/>
  </p:clrMapOvr>
  <p:hf sldNum="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3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2835808038"/>
      </p:ext>
    </p:extLst>
  </p:cSld>
  <p:clrMapOvr>
    <a:masterClrMapping/>
  </p:clrMapOvr>
  <p:hf sldNum="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3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2566614799"/>
      </p:ext>
    </p:extLst>
  </p:cSld>
  <p:clrMapOvr>
    <a:masterClrMapping/>
  </p:clrMapOvr>
  <p:hf sldNum="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34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032617600"/>
      </p:ext>
    </p:extLst>
  </p:cSld>
  <p:clrMapOvr>
    <a:masterClrMapping/>
  </p:clrMapOvr>
  <p:hf sldNum="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35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2233872318"/>
      </p:ext>
    </p:extLst>
  </p:cSld>
  <p:clrMapOvr>
    <a:masterClrMapping/>
  </p:clrMapOvr>
  <p:hf sldNum="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36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1917427433"/>
      </p:ext>
    </p:extLst>
  </p:cSld>
  <p:clrMapOvr>
    <a:masterClrMapping/>
  </p:clrMapOvr>
  <p:hf sldNum="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37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2338634921"/>
      </p:ext>
    </p:extLst>
  </p:cSld>
  <p:clrMapOvr>
    <a:masterClrMapping/>
  </p:clrMapOvr>
  <p:hf sldNum="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38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255589645"/>
      </p:ext>
    </p:extLst>
  </p:cSld>
  <p:clrMapOvr>
    <a:masterClrMapping/>
  </p:clrMapOvr>
  <p:hf sldNum="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39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676072862"/>
      </p:ext>
    </p:extLst>
  </p:cSld>
  <p:clrMapOvr>
    <a:masterClrMapping/>
  </p:clrMapOvr>
  <p:hf sldNum="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40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995994309"/>
      </p:ext>
    </p:extLst>
  </p:cSld>
  <p:clrMapOvr>
    <a:masterClrMapping/>
  </p:clrMapOvr>
  <p:hf sldNum="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4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Tree>
    <p:extLst>
      <p:ext uri="{BB962C8B-B14F-4D97-AF65-F5344CB8AC3E}">
        <p14:creationId xmlns:p14="http://schemas.microsoft.com/office/powerpoint/2010/main" val="3321470320"/>
      </p:ext>
    </p:extLst>
  </p:cSld>
  <p:clrMapOvr>
    <a:masterClrMapping/>
  </p:clrMapOvr>
  <p:hf sldNum="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4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6A33FD6-664F-4ED7-82EB-1EEF97BF7A52}" type="slidenum">
              <a:rPr lang="zh-CN" altLang="en-US" smtClean="0"/>
              <a:t>‹#›</a:t>
            </a:fld>
            <a:endParaRPr lang="zh-CN" altLang="en-US"/>
          </a:p>
        </p:txBody>
      </p:sp>
      <p:sp>
        <p:nvSpPr>
          <p:cNvPr id="10" name="TextBox 9"/>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1761862709"/>
      </p:ext>
    </p:extLst>
  </p:cSld>
  <p:clrMapOvr>
    <a:masterClrMapping/>
  </p:clrMapOvr>
  <p:hf sldNum="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6A33FD6-664F-4ED7-82EB-1EEF97BF7A52}" type="slidenum">
              <a:rPr lang="zh-CN" altLang="en-US" smtClean="0"/>
              <a:t>‹#›</a:t>
            </a:fld>
            <a:endParaRPr lang="zh-CN" altLang="en-US"/>
          </a:p>
        </p:txBody>
      </p:sp>
    </p:spTree>
  </p:cSld>
  <p:clrMapOvr>
    <a:masterClrMapping/>
  </p:clrMapOvr>
  <p:hf sldNum="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6A33FD6-664F-4ED7-82EB-1EEF97BF7A52}" type="slidenum">
              <a:rPr lang="zh-CN" altLang="en-US" smtClean="0"/>
              <a:t>‹#›</a:t>
            </a:fld>
            <a:endParaRPr lang="zh-CN" altLang="en-US"/>
          </a:p>
        </p:txBody>
      </p:sp>
    </p:spTree>
  </p:cSld>
  <p:clrMapOvr>
    <a:masterClrMapping/>
  </p:clrMapOvr>
  <p:hf sldNum="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6A33FD6-664F-4ED7-82EB-1EEF97BF7A52}" type="slidenum">
              <a:rPr lang="zh-CN" altLang="en-US" smtClean="0"/>
              <a:t>‹#›</a:t>
            </a:fld>
            <a:endParaRPr lang="zh-CN" altLang="en-US"/>
          </a:p>
        </p:txBody>
      </p:sp>
    </p:spTree>
  </p:cSld>
  <p:clrMapOvr>
    <a:masterClrMapping/>
  </p:clrMapOvr>
  <p:hf sldNum="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6A33FD6-664F-4ED7-82EB-1EEF97BF7A52}" type="slidenum">
              <a:rPr lang="zh-CN" altLang="en-US" smtClean="0"/>
              <a:t>‹#›</a:t>
            </a:fld>
            <a:endParaRPr lang="zh-CN" altLang="en-US"/>
          </a:p>
        </p:txBody>
      </p:sp>
    </p:spTree>
  </p:cSld>
  <p:clrMapOvr>
    <a:masterClrMapping/>
  </p:clrMapOvr>
  <p:hf sldNum="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6A33FD6-664F-4ED7-82EB-1EEF97BF7A52}" type="slidenum">
              <a:rPr lang="zh-CN" altLang="en-US" smtClean="0"/>
              <a:t>‹#›</a:t>
            </a:fld>
            <a:endParaRPr lang="zh-CN" altLang="en-US"/>
          </a:p>
        </p:txBody>
      </p:sp>
    </p:spTree>
  </p:cSld>
  <p:clrMapOvr>
    <a:masterClrMapping/>
  </p:clrMapOvr>
  <p:hf sldNum="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C1CB0E1-A891-4BAB-8300-A522F39228CB}" type="datetimeFigureOut">
              <a:rPr lang="zh-CN" altLang="en-US" smtClean="0"/>
              <a:t>2024/4/15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6A33FD6-664F-4ED7-82EB-1EEF97BF7A52}" type="slidenum">
              <a:rPr lang="zh-CN" altLang="en-US" smtClean="0"/>
              <a:t>‹#›</a:t>
            </a:fld>
            <a:endParaRPr lang="zh-CN" altLang="en-US"/>
          </a:p>
        </p:txBody>
      </p:sp>
    </p:spTree>
  </p:cSld>
  <p:clrMapOvr>
    <a:masterClrMapping/>
  </p:clrMapOvr>
  <p:hf sldNum="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93" y="2"/>
            <a:ext cx="12184307" cy="6862332"/>
          </a:xfrm>
          <a:prstGeom prst="rect">
            <a:avLst/>
          </a:prstGeom>
        </p:spPr>
      </p:pic>
    </p:spTree>
  </p:cSld>
  <p:clrMapOvr>
    <a:masterClrMapping/>
  </p:clrMapOvr>
  <p:hf sldNum="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93" y="2"/>
            <a:ext cx="12184307" cy="6862332"/>
          </a:xfrm>
          <a:prstGeom prst="rect">
            <a:avLst/>
          </a:prstGeom>
        </p:spPr>
      </p:pic>
    </p:spTree>
  </p:cSld>
  <p:clrMapOvr>
    <a:masterClrMapping/>
  </p:clrMapOvr>
  <p:hf sldNum="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93" y="2"/>
            <a:ext cx="12184307" cy="6862332"/>
          </a:xfrm>
          <a:prstGeom prst="rect">
            <a:avLst/>
          </a:prstGeom>
        </p:spPr>
      </p:pic>
    </p:spTree>
  </p:cSld>
  <p:clrMapOvr>
    <a:masterClrMapping/>
  </p:clrMapOvr>
  <p:hf sldNum="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93" y="2"/>
            <a:ext cx="12184307" cy="6862332"/>
          </a:xfrm>
          <a:prstGeom prst="rect">
            <a:avLst/>
          </a:prstGeom>
        </p:spPr>
      </p:pic>
    </p:spTree>
  </p:cSld>
  <p:clrMapOvr>
    <a:masterClrMapping/>
  </p:clrMapOvr>
  <p:hf sldNum="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93" y="2"/>
            <a:ext cx="12184307" cy="6862332"/>
          </a:xfrm>
          <a:prstGeom prst="rect">
            <a:avLst/>
          </a:prstGeom>
        </p:spPr>
      </p:pic>
    </p:spTree>
  </p:cSld>
  <p:clrMapOvr>
    <a:masterClrMapping/>
  </p:clrMapOvr>
  <p:hf sldNum="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sp>
        <p:nvSpPr>
          <p:cNvPr id="8" name="矩形 7"/>
          <p:cNvSpPr/>
          <p:nvPr userDrawn="1"/>
        </p:nvSpPr>
        <p:spPr>
          <a:xfrm>
            <a:off x="1388755" y="332656"/>
            <a:ext cx="68221" cy="41173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solidFill>
            </a:endParaRPr>
          </a:p>
        </p:txBody>
      </p:sp>
      <p:sp>
        <p:nvSpPr>
          <p:cNvPr id="9" name="矩形 8"/>
          <p:cNvSpPr/>
          <p:nvPr userDrawn="1"/>
        </p:nvSpPr>
        <p:spPr>
          <a:xfrm>
            <a:off x="-16598" y="332656"/>
            <a:ext cx="1275734" cy="41173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solidFill>
            </a:endParaRPr>
          </a:p>
        </p:txBody>
      </p:sp>
      <p:cxnSp>
        <p:nvCxnSpPr>
          <p:cNvPr id="11" name="直接连接符 10"/>
          <p:cNvCxnSpPr/>
          <p:nvPr userDrawn="1"/>
        </p:nvCxnSpPr>
        <p:spPr>
          <a:xfrm>
            <a:off x="1630887" y="744390"/>
            <a:ext cx="3627992"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文本占位符 12"/>
          <p:cNvSpPr>
            <a:spLocks noGrp="1"/>
          </p:cNvSpPr>
          <p:nvPr>
            <p:ph type="body" sz="quarter" idx="10" hasCustomPrompt="1"/>
          </p:nvPr>
        </p:nvSpPr>
        <p:spPr>
          <a:xfrm>
            <a:off x="1630887" y="332656"/>
            <a:ext cx="3627992" cy="411734"/>
          </a:xfrm>
        </p:spPr>
        <p:txBody>
          <a:bodyPr anchor="ctr">
            <a:normAutofit/>
          </a:bodyPr>
          <a:lstStyle>
            <a:lvl1pPr marL="0" indent="0">
              <a:buNone/>
              <a:defRPr sz="2400" b="0">
                <a:latin typeface="微软雅黑" panose="020B0503020204020204" pitchFamily="34" charset="-122"/>
                <a:ea typeface="微软雅黑" panose="020B0503020204020204" pitchFamily="34" charset="-122"/>
              </a:defRPr>
            </a:lvl1pPr>
          </a:lstStyle>
          <a:p>
            <a:pPr lvl="0"/>
            <a:r>
              <a:rPr lang="zh-CN" altLang="en-US" dirty="0"/>
              <a:t>点击输入标题内容</a:t>
            </a:r>
          </a:p>
        </p:txBody>
      </p:sp>
      <p:sp>
        <p:nvSpPr>
          <p:cNvPr id="14" name="矩形 13"/>
          <p:cNvSpPr/>
          <p:nvPr userDrawn="1"/>
        </p:nvSpPr>
        <p:spPr>
          <a:xfrm>
            <a:off x="0" y="6750893"/>
            <a:ext cx="3118700" cy="11663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矩形 14"/>
          <p:cNvSpPr/>
          <p:nvPr userDrawn="1"/>
        </p:nvSpPr>
        <p:spPr>
          <a:xfrm>
            <a:off x="3022639" y="6750893"/>
            <a:ext cx="3118700" cy="11663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6045278" y="6750893"/>
            <a:ext cx="3118700" cy="1166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矩形 16"/>
          <p:cNvSpPr/>
          <p:nvPr userDrawn="1"/>
        </p:nvSpPr>
        <p:spPr>
          <a:xfrm>
            <a:off x="9067917" y="6750893"/>
            <a:ext cx="3118700" cy="1166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hf sldNum="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8" name="矩形 7"/>
          <p:cNvSpPr/>
          <p:nvPr userDrawn="1"/>
        </p:nvSpPr>
        <p:spPr>
          <a:xfrm>
            <a:off x="1388755" y="332656"/>
            <a:ext cx="68221" cy="41173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solidFill>
            </a:endParaRPr>
          </a:p>
        </p:txBody>
      </p:sp>
      <p:sp>
        <p:nvSpPr>
          <p:cNvPr id="9" name="矩形 8"/>
          <p:cNvSpPr/>
          <p:nvPr userDrawn="1"/>
        </p:nvSpPr>
        <p:spPr>
          <a:xfrm>
            <a:off x="-16598" y="332656"/>
            <a:ext cx="1275734" cy="41173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solidFill>
            </a:endParaRPr>
          </a:p>
        </p:txBody>
      </p:sp>
      <p:cxnSp>
        <p:nvCxnSpPr>
          <p:cNvPr id="11" name="直接连接符 10"/>
          <p:cNvCxnSpPr/>
          <p:nvPr userDrawn="1"/>
        </p:nvCxnSpPr>
        <p:spPr>
          <a:xfrm>
            <a:off x="1630887" y="744390"/>
            <a:ext cx="3627992"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文本占位符 12"/>
          <p:cNvSpPr>
            <a:spLocks noGrp="1"/>
          </p:cNvSpPr>
          <p:nvPr>
            <p:ph type="body" sz="quarter" idx="10" hasCustomPrompt="1"/>
          </p:nvPr>
        </p:nvSpPr>
        <p:spPr>
          <a:xfrm>
            <a:off x="1630887" y="332656"/>
            <a:ext cx="3627992" cy="411734"/>
          </a:xfrm>
        </p:spPr>
        <p:txBody>
          <a:bodyPr anchor="ctr">
            <a:normAutofit/>
          </a:bodyPr>
          <a:lstStyle>
            <a:lvl1pPr marL="0" indent="0">
              <a:buNone/>
              <a:defRPr sz="2400" b="0">
                <a:latin typeface="微软雅黑" panose="020B0503020204020204" pitchFamily="34" charset="-122"/>
                <a:ea typeface="微软雅黑" panose="020B0503020204020204" pitchFamily="34" charset="-122"/>
              </a:defRPr>
            </a:lvl1pPr>
          </a:lstStyle>
          <a:p>
            <a:pPr lvl="0"/>
            <a:r>
              <a:rPr lang="zh-CN" altLang="en-US" dirty="0"/>
              <a:t>点击输入标题内容</a:t>
            </a:r>
          </a:p>
        </p:txBody>
      </p:sp>
      <p:sp>
        <p:nvSpPr>
          <p:cNvPr id="14" name="矩形 13"/>
          <p:cNvSpPr/>
          <p:nvPr userDrawn="1"/>
        </p:nvSpPr>
        <p:spPr>
          <a:xfrm>
            <a:off x="0" y="6750893"/>
            <a:ext cx="3118700" cy="11663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矩形 14"/>
          <p:cNvSpPr/>
          <p:nvPr userDrawn="1"/>
        </p:nvSpPr>
        <p:spPr>
          <a:xfrm>
            <a:off x="3022639" y="6750893"/>
            <a:ext cx="3118700" cy="11663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6045278" y="6750893"/>
            <a:ext cx="3118700" cy="1166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矩形 16"/>
          <p:cNvSpPr/>
          <p:nvPr userDrawn="1"/>
        </p:nvSpPr>
        <p:spPr>
          <a:xfrm>
            <a:off x="9067917" y="6750893"/>
            <a:ext cx="3118700" cy="1166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hf sldNum="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2024/4/15</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98563957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2024/4/15</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0460356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34891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3.xml"/><Relationship Id="rId2" Type="http://schemas.openxmlformats.org/officeDocument/2006/relationships/slideLayout" Target="../slideLayouts/slideLayout62.xml"/><Relationship Id="rId1" Type="http://schemas.openxmlformats.org/officeDocument/2006/relationships/slideLayout" Target="../slideLayouts/slideLayout6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1CB0E1-A891-4BAB-8300-A522F39228CB}" type="datetimeFigureOut">
              <a:rPr lang="zh-CN" altLang="en-US" smtClean="0"/>
              <a:t>2024/4/15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A33FD6-664F-4ED7-82EB-1EEF97BF7A5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654" r:id="rId48"/>
    <p:sldLayoutId id="2147483655" r:id="rId49"/>
    <p:sldLayoutId id="2147483656" r:id="rId50"/>
    <p:sldLayoutId id="2147483657" r:id="rId51"/>
    <p:sldLayoutId id="2147483658" r:id="rId52"/>
    <p:sldLayoutId id="2147483659" r:id="rId53"/>
    <p:sldLayoutId id="2147483660" r:id="rId54"/>
    <p:sldLayoutId id="2147483661" r:id="rId55"/>
    <p:sldLayoutId id="2147483662" r:id="rId56"/>
    <p:sldLayoutId id="2147483663" r:id="rId57"/>
    <p:sldLayoutId id="2147483665" r:id="rId58"/>
    <p:sldLayoutId id="2147483666" r:id="rId59"/>
    <p:sldLayoutId id="2147483667" r:id="rId60"/>
  </p:sldLayoutIdLs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6217238"/>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5.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9.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9.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7.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9.xml"/><Relationship Id="rId1" Type="http://schemas.openxmlformats.org/officeDocument/2006/relationships/tags" Target="../tags/tag1.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2405267"/>
            <a:ext cx="12188992" cy="2935412"/>
          </a:xfrm>
          <a:prstGeom prst="rect">
            <a:avLst/>
          </a:prstGeom>
          <a:gradFill>
            <a:gsLst>
              <a:gs pos="100000">
                <a:srgbClr val="002060"/>
              </a:gs>
              <a:gs pos="0">
                <a:srgbClr val="0070C0"/>
              </a:gs>
            </a:gsLst>
            <a:lin ang="2700000"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657" tIns="43327" rIns="86657" bIns="43327" numCol="1" spcCol="0" rtlCol="0" fromWordArt="0" anchor="ctr" anchorCtr="0" forceAA="0" compatLnSpc="1">
            <a:noAutofit/>
          </a:bodyPr>
          <a:lstStyle/>
          <a:p>
            <a:pPr algn="ctr"/>
            <a:endParaRPr lang="zh-CN" altLang="en-US" sz="1705">
              <a:cs typeface="+mn-ea"/>
              <a:sym typeface="+mn-lt"/>
            </a:endParaRPr>
          </a:p>
        </p:txBody>
      </p:sp>
      <p:sp>
        <p:nvSpPr>
          <p:cNvPr id="67" name="圆角矩形 66"/>
          <p:cNvSpPr/>
          <p:nvPr/>
        </p:nvSpPr>
        <p:spPr>
          <a:xfrm>
            <a:off x="9285149" y="4742038"/>
            <a:ext cx="2434219" cy="552144"/>
          </a:xfrm>
          <a:prstGeom prst="roundRect">
            <a:avLst>
              <a:gd name="adj" fmla="val 42270"/>
            </a:avLst>
          </a:prstGeom>
          <a:solidFill>
            <a:schemeClr val="bg1"/>
          </a:solidFill>
          <a:ln>
            <a:noFill/>
          </a:ln>
          <a:effectLst>
            <a:innerShdw blurRad="63500" dist="127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705" dirty="0">
              <a:cs typeface="+mn-ea"/>
              <a:sym typeface="+mn-lt"/>
            </a:endParaRPr>
          </a:p>
        </p:txBody>
      </p:sp>
      <p:sp>
        <p:nvSpPr>
          <p:cNvPr id="68" name="TextBox 25"/>
          <p:cNvSpPr txBox="1"/>
          <p:nvPr/>
        </p:nvSpPr>
        <p:spPr>
          <a:xfrm>
            <a:off x="2519660" y="279033"/>
            <a:ext cx="7051789" cy="1754326"/>
          </a:xfrm>
          <a:prstGeom prst="rect">
            <a:avLst/>
          </a:prstGeom>
          <a:noFill/>
        </p:spPr>
        <p:txBody>
          <a:bodyPr wrap="square" rtlCol="0">
            <a:spAutoFit/>
          </a:bodyPr>
          <a:lstStyle/>
          <a:p>
            <a:pPr algn="ctr">
              <a:defRPr/>
            </a:pPr>
            <a:r>
              <a:rPr lang="en-US" altLang="zh-CN" sz="3600" b="1" cap="all" dirty="0">
                <a:gradFill>
                  <a:gsLst>
                    <a:gs pos="100000">
                      <a:srgbClr val="002060"/>
                    </a:gs>
                    <a:gs pos="0">
                      <a:srgbClr val="0070C0"/>
                    </a:gs>
                  </a:gsLst>
                  <a:lin ang="2700000" scaled="0"/>
                </a:gradFill>
                <a:cs typeface="+mn-ea"/>
                <a:sym typeface="+mn-lt"/>
              </a:rPr>
              <a:t>  A_Systematic_Study_of_DDR4_DRAM_Faults_in_the_Field</a:t>
            </a:r>
          </a:p>
        </p:txBody>
      </p:sp>
      <p:sp>
        <p:nvSpPr>
          <p:cNvPr id="2" name="文本框 1">
            <a:extLst>
              <a:ext uri="{FF2B5EF4-FFF2-40B4-BE49-F238E27FC236}">
                <a16:creationId xmlns:a16="http://schemas.microsoft.com/office/drawing/2014/main" id="{4824635D-35F6-2652-38D6-0D3F5F7E2441}"/>
              </a:ext>
            </a:extLst>
          </p:cNvPr>
          <p:cNvSpPr txBox="1"/>
          <p:nvPr/>
        </p:nvSpPr>
        <p:spPr>
          <a:xfrm>
            <a:off x="9419093" y="4833444"/>
            <a:ext cx="2166330" cy="369332"/>
          </a:xfrm>
          <a:prstGeom prst="rect">
            <a:avLst/>
          </a:prstGeom>
          <a:noFill/>
        </p:spPr>
        <p:txBody>
          <a:bodyPr wrap="square" rtlCol="0">
            <a:spAutoFit/>
          </a:bodyPr>
          <a:lstStyle/>
          <a:p>
            <a:r>
              <a:rPr lang="en-US" altLang="zh-CN" dirty="0"/>
              <a:t>23</a:t>
            </a:r>
            <a:r>
              <a:rPr lang="zh-CN" altLang="en-US" dirty="0"/>
              <a:t>集成</a:t>
            </a:r>
            <a:r>
              <a:rPr lang="en-US" altLang="zh-CN" dirty="0"/>
              <a:t>3</a:t>
            </a:r>
            <a:r>
              <a:rPr lang="zh-CN" altLang="en-US" dirty="0"/>
              <a:t>班 黄海鸿</a:t>
            </a:r>
          </a:p>
        </p:txBody>
      </p:sp>
      <p:sp>
        <p:nvSpPr>
          <p:cNvPr id="3" name="圆角矩形 66">
            <a:extLst>
              <a:ext uri="{FF2B5EF4-FFF2-40B4-BE49-F238E27FC236}">
                <a16:creationId xmlns:a16="http://schemas.microsoft.com/office/drawing/2014/main" id="{93CB9212-6CE0-8AA3-4635-B1309364989B}"/>
              </a:ext>
            </a:extLst>
          </p:cNvPr>
          <p:cNvSpPr/>
          <p:nvPr/>
        </p:nvSpPr>
        <p:spPr>
          <a:xfrm>
            <a:off x="1612987" y="2942900"/>
            <a:ext cx="5610160" cy="782206"/>
          </a:xfrm>
          <a:prstGeom prst="roundRect">
            <a:avLst>
              <a:gd name="adj" fmla="val 42270"/>
            </a:avLst>
          </a:prstGeom>
          <a:solidFill>
            <a:schemeClr val="bg1"/>
          </a:solidFill>
          <a:ln>
            <a:noFill/>
          </a:ln>
          <a:effectLst>
            <a:innerShdw blurRad="63500" dist="127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705" dirty="0">
              <a:cs typeface="+mn-ea"/>
              <a:sym typeface="+mn-lt"/>
            </a:endParaRPr>
          </a:p>
        </p:txBody>
      </p:sp>
      <p:sp>
        <p:nvSpPr>
          <p:cNvPr id="5" name="文本框 4">
            <a:extLst>
              <a:ext uri="{FF2B5EF4-FFF2-40B4-BE49-F238E27FC236}">
                <a16:creationId xmlns:a16="http://schemas.microsoft.com/office/drawing/2014/main" id="{0AE73FE6-ECAD-07C9-789B-4E2935A98EE0}"/>
              </a:ext>
            </a:extLst>
          </p:cNvPr>
          <p:cNvSpPr txBox="1"/>
          <p:nvPr/>
        </p:nvSpPr>
        <p:spPr>
          <a:xfrm>
            <a:off x="2215425" y="2994813"/>
            <a:ext cx="4915667" cy="646331"/>
          </a:xfrm>
          <a:prstGeom prst="rect">
            <a:avLst/>
          </a:prstGeom>
          <a:noFill/>
        </p:spPr>
        <p:txBody>
          <a:bodyPr wrap="square" rtlCol="0">
            <a:spAutoFit/>
          </a:bodyPr>
          <a:lstStyle/>
          <a:p>
            <a:r>
              <a:rPr lang="en-US" altLang="zh-CN" dirty="0"/>
              <a:t>2023 IEEE International Symposium on High-Performance Computer Architecture (HPCA)</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fade">
                                      <p:cBhvr>
                                        <p:cTn id="11" dur="500"/>
                                        <p:tgtEl>
                                          <p:spTgt spid="67"/>
                                        </p:tgtEl>
                                      </p:cBhvr>
                                    </p:animEffect>
                                  </p:childTnLst>
                                </p:cTn>
                              </p:par>
                              <p:par>
                                <p:cTn id="12" presetID="22" presetClass="entr" presetSubtype="8" fill="hold" grpId="0" nodeType="withEffect">
                                  <p:stCondLst>
                                    <p:cond delay="250"/>
                                  </p:stCondLst>
                                  <p:childTnLst>
                                    <p:set>
                                      <p:cBhvr>
                                        <p:cTn id="13" dur="1" fill="hold">
                                          <p:stCondLst>
                                            <p:cond delay="0"/>
                                          </p:stCondLst>
                                        </p:cTn>
                                        <p:tgtEl>
                                          <p:spTgt spid="68"/>
                                        </p:tgtEl>
                                        <p:attrNameLst>
                                          <p:attrName>style.visibility</p:attrName>
                                        </p:attrNameLst>
                                      </p:cBhvr>
                                      <p:to>
                                        <p:strVal val="visible"/>
                                      </p:to>
                                    </p:set>
                                    <p:animEffect transition="in" filter="wipe(left)">
                                      <p:cBhvr>
                                        <p:cTn id="14" dur="1750"/>
                                        <p:tgtEl>
                                          <p:spTgt spid="68"/>
                                        </p:tgtEl>
                                      </p:cBhvr>
                                    </p:animEffect>
                                  </p:childTnLst>
                                </p:cTn>
                              </p:par>
                            </p:childTnLst>
                          </p:cTn>
                        </p:par>
                        <p:par>
                          <p:cTn id="15" fill="hold">
                            <p:stCondLst>
                              <p:cond delay="250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67" grpId="0" animBg="1"/>
      <p:bldP spid="68" grpId="0"/>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3706874" y="452122"/>
            <a:ext cx="4778249" cy="659500"/>
          </a:xfrm>
          <a:prstGeom prst="roundRect">
            <a:avLst>
              <a:gd name="adj" fmla="val 42270"/>
            </a:avLst>
          </a:prstGeom>
          <a:gradFill>
            <a:gsLst>
              <a:gs pos="99000">
                <a:schemeClr val="bg1"/>
              </a:gs>
              <a:gs pos="0">
                <a:schemeClr val="bg1">
                  <a:lumMod val="95000"/>
                </a:schemeClr>
              </a:gs>
            </a:gsLst>
            <a:lin ang="0" scaled="0"/>
          </a:gradFill>
          <a:ln>
            <a:noFill/>
          </a:ln>
          <a:effectLst>
            <a:innerShdw blurRad="63500" dist="127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70C0"/>
                </a:solidFill>
                <a:cs typeface="+mn-ea"/>
                <a:sym typeface="+mn-lt"/>
              </a:rPr>
              <a:t>目录页丨</a:t>
            </a:r>
            <a:r>
              <a:rPr lang="en-US" altLang="zh-CN" sz="2400" dirty="0">
                <a:solidFill>
                  <a:srgbClr val="0070C0"/>
                </a:solidFill>
                <a:cs typeface="+mn-ea"/>
                <a:sym typeface="+mn-lt"/>
              </a:rPr>
              <a:t>Contents</a:t>
            </a:r>
            <a:endParaRPr lang="zh-CN" altLang="en-US" sz="2400" dirty="0">
              <a:solidFill>
                <a:srgbClr val="0070C0"/>
              </a:solidFill>
              <a:cs typeface="+mn-ea"/>
              <a:sym typeface="+mn-lt"/>
            </a:endParaRPr>
          </a:p>
        </p:txBody>
      </p:sp>
      <p:grpSp>
        <p:nvGrpSpPr>
          <p:cNvPr id="5" name="组合 4"/>
          <p:cNvGrpSpPr/>
          <p:nvPr/>
        </p:nvGrpSpPr>
        <p:grpSpPr>
          <a:xfrm>
            <a:off x="3848100" y="1709101"/>
            <a:ext cx="3922406" cy="726415"/>
            <a:chOff x="3848100" y="1709102"/>
            <a:chExt cx="3922405" cy="726414"/>
          </a:xfrm>
        </p:grpSpPr>
        <p:sp>
          <p:nvSpPr>
            <p:cNvPr id="6" name="Freeform 19"/>
            <p:cNvSpPr/>
            <p:nvPr/>
          </p:nvSpPr>
          <p:spPr bwMode="auto">
            <a:xfrm>
              <a:off x="3848100" y="1709102"/>
              <a:ext cx="3922405" cy="726414"/>
            </a:xfrm>
            <a:custGeom>
              <a:avLst/>
              <a:gdLst>
                <a:gd name="T0" fmla="*/ 3200 w 3200"/>
                <a:gd name="T1" fmla="*/ 320 h 640"/>
                <a:gd name="T2" fmla="*/ 2880 w 3200"/>
                <a:gd name="T3" fmla="*/ 640 h 640"/>
                <a:gd name="T4" fmla="*/ 320 w 3200"/>
                <a:gd name="T5" fmla="*/ 640 h 640"/>
                <a:gd name="T6" fmla="*/ 0 w 3200"/>
                <a:gd name="T7" fmla="*/ 320 h 640"/>
                <a:gd name="T8" fmla="*/ 320 w 3200"/>
                <a:gd name="T9" fmla="*/ 0 h 640"/>
                <a:gd name="T10" fmla="*/ 2880 w 3200"/>
                <a:gd name="T11" fmla="*/ 0 h 640"/>
                <a:gd name="T12" fmla="*/ 3200 w 3200"/>
                <a:gd name="T13" fmla="*/ 320 h 640"/>
              </a:gdLst>
              <a:ahLst/>
              <a:cxnLst>
                <a:cxn ang="0">
                  <a:pos x="T0" y="T1"/>
                </a:cxn>
                <a:cxn ang="0">
                  <a:pos x="T2" y="T3"/>
                </a:cxn>
                <a:cxn ang="0">
                  <a:pos x="T4" y="T5"/>
                </a:cxn>
                <a:cxn ang="0">
                  <a:pos x="T6" y="T7"/>
                </a:cxn>
                <a:cxn ang="0">
                  <a:pos x="T8" y="T9"/>
                </a:cxn>
                <a:cxn ang="0">
                  <a:pos x="T10" y="T11"/>
                </a:cxn>
                <a:cxn ang="0">
                  <a:pos x="T12" y="T13"/>
                </a:cxn>
              </a:cxnLst>
              <a:rect l="0" t="0" r="r" b="b"/>
              <a:pathLst>
                <a:path w="3200" h="640">
                  <a:moveTo>
                    <a:pt x="3200" y="320"/>
                  </a:moveTo>
                  <a:cubicBezTo>
                    <a:pt x="3200" y="496"/>
                    <a:pt x="3056" y="640"/>
                    <a:pt x="2880" y="640"/>
                  </a:cubicBezTo>
                  <a:cubicBezTo>
                    <a:pt x="320" y="640"/>
                    <a:pt x="320" y="640"/>
                    <a:pt x="320" y="640"/>
                  </a:cubicBezTo>
                  <a:cubicBezTo>
                    <a:pt x="144" y="640"/>
                    <a:pt x="0" y="496"/>
                    <a:pt x="0" y="320"/>
                  </a:cubicBezTo>
                  <a:cubicBezTo>
                    <a:pt x="0" y="144"/>
                    <a:pt x="144" y="0"/>
                    <a:pt x="320" y="0"/>
                  </a:cubicBezTo>
                  <a:cubicBezTo>
                    <a:pt x="2880" y="0"/>
                    <a:pt x="2880" y="0"/>
                    <a:pt x="2880" y="0"/>
                  </a:cubicBezTo>
                  <a:cubicBezTo>
                    <a:pt x="3056" y="0"/>
                    <a:pt x="3200" y="144"/>
                    <a:pt x="3200" y="320"/>
                  </a:cubicBezTo>
                  <a:close/>
                </a:path>
              </a:pathLst>
            </a:cu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lstStyle/>
            <a:p>
              <a:endParaRPr lang="zh-CN" altLang="en-US" sz="1350">
                <a:solidFill>
                  <a:srgbClr val="0070C0"/>
                </a:solidFill>
                <a:cs typeface="+mn-ea"/>
                <a:sym typeface="+mn-lt"/>
              </a:endParaRPr>
            </a:p>
          </p:txBody>
        </p:sp>
        <p:sp>
          <p:nvSpPr>
            <p:cNvPr id="7" name="矩形 6"/>
            <p:cNvSpPr/>
            <p:nvPr/>
          </p:nvSpPr>
          <p:spPr>
            <a:xfrm>
              <a:off x="4726969" y="1857039"/>
              <a:ext cx="2424061" cy="461664"/>
            </a:xfrm>
            <a:prstGeom prst="rect">
              <a:avLst/>
            </a:prstGeom>
          </p:spPr>
          <p:txBody>
            <a:bodyPr wrap="none">
              <a:spAutoFit/>
            </a:bodyPr>
            <a:lstStyle/>
            <a:p>
              <a:r>
                <a:rPr lang="zh-CN" altLang="en-US" sz="2400" dirty="0">
                  <a:solidFill>
                    <a:srgbClr val="0070C0"/>
                  </a:solidFill>
                  <a:cs typeface="+mn-ea"/>
                  <a:sym typeface="+mn-lt"/>
                </a:rPr>
                <a:t>研究背景与目的</a:t>
              </a:r>
            </a:p>
          </p:txBody>
        </p:sp>
      </p:grpSp>
      <p:grpSp>
        <p:nvGrpSpPr>
          <p:cNvPr id="8" name="组合 7"/>
          <p:cNvGrpSpPr/>
          <p:nvPr/>
        </p:nvGrpSpPr>
        <p:grpSpPr>
          <a:xfrm>
            <a:off x="4400207" y="2786668"/>
            <a:ext cx="3918293" cy="726415"/>
            <a:chOff x="4400206" y="2786664"/>
            <a:chExt cx="3918293" cy="726414"/>
          </a:xfrm>
        </p:grpSpPr>
        <p:sp>
          <p:nvSpPr>
            <p:cNvPr id="9" name="Freeform 19"/>
            <p:cNvSpPr/>
            <p:nvPr/>
          </p:nvSpPr>
          <p:spPr bwMode="auto">
            <a:xfrm flipH="1">
              <a:off x="4400206" y="2786664"/>
              <a:ext cx="3918293" cy="726414"/>
            </a:xfrm>
            <a:custGeom>
              <a:avLst/>
              <a:gdLst>
                <a:gd name="T0" fmla="*/ 3200 w 3200"/>
                <a:gd name="T1" fmla="*/ 320 h 640"/>
                <a:gd name="T2" fmla="*/ 2880 w 3200"/>
                <a:gd name="T3" fmla="*/ 640 h 640"/>
                <a:gd name="T4" fmla="*/ 320 w 3200"/>
                <a:gd name="T5" fmla="*/ 640 h 640"/>
                <a:gd name="T6" fmla="*/ 0 w 3200"/>
                <a:gd name="T7" fmla="*/ 320 h 640"/>
                <a:gd name="T8" fmla="*/ 320 w 3200"/>
                <a:gd name="T9" fmla="*/ 0 h 640"/>
                <a:gd name="T10" fmla="*/ 2880 w 3200"/>
                <a:gd name="T11" fmla="*/ 0 h 640"/>
                <a:gd name="T12" fmla="*/ 3200 w 3200"/>
                <a:gd name="T13" fmla="*/ 320 h 640"/>
              </a:gdLst>
              <a:ahLst/>
              <a:cxnLst>
                <a:cxn ang="0">
                  <a:pos x="T0" y="T1"/>
                </a:cxn>
                <a:cxn ang="0">
                  <a:pos x="T2" y="T3"/>
                </a:cxn>
                <a:cxn ang="0">
                  <a:pos x="T4" y="T5"/>
                </a:cxn>
                <a:cxn ang="0">
                  <a:pos x="T6" y="T7"/>
                </a:cxn>
                <a:cxn ang="0">
                  <a:pos x="T8" y="T9"/>
                </a:cxn>
                <a:cxn ang="0">
                  <a:pos x="T10" y="T11"/>
                </a:cxn>
                <a:cxn ang="0">
                  <a:pos x="T12" y="T13"/>
                </a:cxn>
              </a:cxnLst>
              <a:rect l="0" t="0" r="r" b="b"/>
              <a:pathLst>
                <a:path w="3200" h="640">
                  <a:moveTo>
                    <a:pt x="3200" y="320"/>
                  </a:moveTo>
                  <a:cubicBezTo>
                    <a:pt x="3200" y="496"/>
                    <a:pt x="3056" y="640"/>
                    <a:pt x="2880" y="640"/>
                  </a:cubicBezTo>
                  <a:cubicBezTo>
                    <a:pt x="320" y="640"/>
                    <a:pt x="320" y="640"/>
                    <a:pt x="320" y="640"/>
                  </a:cubicBezTo>
                  <a:cubicBezTo>
                    <a:pt x="144" y="640"/>
                    <a:pt x="0" y="496"/>
                    <a:pt x="0" y="320"/>
                  </a:cubicBezTo>
                  <a:cubicBezTo>
                    <a:pt x="0" y="144"/>
                    <a:pt x="144" y="0"/>
                    <a:pt x="320" y="0"/>
                  </a:cubicBezTo>
                  <a:cubicBezTo>
                    <a:pt x="2880" y="0"/>
                    <a:pt x="2880" y="0"/>
                    <a:pt x="2880" y="0"/>
                  </a:cubicBezTo>
                  <a:cubicBezTo>
                    <a:pt x="3056" y="0"/>
                    <a:pt x="3200" y="144"/>
                    <a:pt x="3200" y="320"/>
                  </a:cubicBezTo>
                  <a:close/>
                </a:path>
              </a:pathLst>
            </a:cu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lstStyle/>
            <a:p>
              <a:endParaRPr lang="zh-CN" altLang="en-US" sz="1350">
                <a:solidFill>
                  <a:srgbClr val="00B0F0"/>
                </a:solidFill>
                <a:cs typeface="+mn-ea"/>
                <a:sym typeface="+mn-lt"/>
              </a:endParaRPr>
            </a:p>
          </p:txBody>
        </p:sp>
        <p:sp>
          <p:nvSpPr>
            <p:cNvPr id="10" name="矩形 9"/>
            <p:cNvSpPr/>
            <p:nvPr/>
          </p:nvSpPr>
          <p:spPr>
            <a:xfrm>
              <a:off x="4899803" y="2943871"/>
              <a:ext cx="1415772" cy="461664"/>
            </a:xfrm>
            <a:prstGeom prst="rect">
              <a:avLst/>
            </a:prstGeom>
          </p:spPr>
          <p:txBody>
            <a:bodyPr wrap="none">
              <a:spAutoFit/>
            </a:bodyPr>
            <a:lstStyle/>
            <a:p>
              <a:r>
                <a:rPr lang="zh-CN" altLang="en-US" sz="2400" dirty="0">
                  <a:solidFill>
                    <a:srgbClr val="00B0F0"/>
                  </a:solidFill>
                  <a:cs typeface="+mn-ea"/>
                  <a:sym typeface="+mn-lt"/>
                </a:rPr>
                <a:t>研究方法</a:t>
              </a:r>
            </a:p>
          </p:txBody>
        </p:sp>
      </p:grpSp>
      <p:grpSp>
        <p:nvGrpSpPr>
          <p:cNvPr id="11" name="组合 10"/>
          <p:cNvGrpSpPr/>
          <p:nvPr/>
        </p:nvGrpSpPr>
        <p:grpSpPr>
          <a:xfrm>
            <a:off x="3848100" y="3864225"/>
            <a:ext cx="3922406" cy="726415"/>
            <a:chOff x="3848100" y="3864226"/>
            <a:chExt cx="3922405" cy="726414"/>
          </a:xfrm>
        </p:grpSpPr>
        <p:sp>
          <p:nvSpPr>
            <p:cNvPr id="12" name="Freeform 19"/>
            <p:cNvSpPr/>
            <p:nvPr/>
          </p:nvSpPr>
          <p:spPr bwMode="auto">
            <a:xfrm>
              <a:off x="3848100" y="3864226"/>
              <a:ext cx="3922405" cy="726414"/>
            </a:xfrm>
            <a:custGeom>
              <a:avLst/>
              <a:gdLst>
                <a:gd name="T0" fmla="*/ 3200 w 3200"/>
                <a:gd name="T1" fmla="*/ 320 h 640"/>
                <a:gd name="T2" fmla="*/ 2880 w 3200"/>
                <a:gd name="T3" fmla="*/ 640 h 640"/>
                <a:gd name="T4" fmla="*/ 320 w 3200"/>
                <a:gd name="T5" fmla="*/ 640 h 640"/>
                <a:gd name="T6" fmla="*/ 0 w 3200"/>
                <a:gd name="T7" fmla="*/ 320 h 640"/>
                <a:gd name="T8" fmla="*/ 320 w 3200"/>
                <a:gd name="T9" fmla="*/ 0 h 640"/>
                <a:gd name="T10" fmla="*/ 2880 w 3200"/>
                <a:gd name="T11" fmla="*/ 0 h 640"/>
                <a:gd name="T12" fmla="*/ 3200 w 3200"/>
                <a:gd name="T13" fmla="*/ 320 h 640"/>
              </a:gdLst>
              <a:ahLst/>
              <a:cxnLst>
                <a:cxn ang="0">
                  <a:pos x="T0" y="T1"/>
                </a:cxn>
                <a:cxn ang="0">
                  <a:pos x="T2" y="T3"/>
                </a:cxn>
                <a:cxn ang="0">
                  <a:pos x="T4" y="T5"/>
                </a:cxn>
                <a:cxn ang="0">
                  <a:pos x="T6" y="T7"/>
                </a:cxn>
                <a:cxn ang="0">
                  <a:pos x="T8" y="T9"/>
                </a:cxn>
                <a:cxn ang="0">
                  <a:pos x="T10" y="T11"/>
                </a:cxn>
                <a:cxn ang="0">
                  <a:pos x="T12" y="T13"/>
                </a:cxn>
              </a:cxnLst>
              <a:rect l="0" t="0" r="r" b="b"/>
              <a:pathLst>
                <a:path w="3200" h="640">
                  <a:moveTo>
                    <a:pt x="3200" y="320"/>
                  </a:moveTo>
                  <a:cubicBezTo>
                    <a:pt x="3200" y="496"/>
                    <a:pt x="3056" y="640"/>
                    <a:pt x="2880" y="640"/>
                  </a:cubicBezTo>
                  <a:cubicBezTo>
                    <a:pt x="320" y="640"/>
                    <a:pt x="320" y="640"/>
                    <a:pt x="320" y="640"/>
                  </a:cubicBezTo>
                  <a:cubicBezTo>
                    <a:pt x="144" y="640"/>
                    <a:pt x="0" y="496"/>
                    <a:pt x="0" y="320"/>
                  </a:cubicBezTo>
                  <a:cubicBezTo>
                    <a:pt x="0" y="144"/>
                    <a:pt x="144" y="0"/>
                    <a:pt x="320" y="0"/>
                  </a:cubicBezTo>
                  <a:cubicBezTo>
                    <a:pt x="2880" y="0"/>
                    <a:pt x="2880" y="0"/>
                    <a:pt x="2880" y="0"/>
                  </a:cubicBezTo>
                  <a:cubicBezTo>
                    <a:pt x="3056" y="0"/>
                    <a:pt x="3200" y="144"/>
                    <a:pt x="3200" y="320"/>
                  </a:cubicBezTo>
                  <a:close/>
                </a:path>
              </a:pathLst>
            </a:cu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lstStyle/>
            <a:p>
              <a:endParaRPr lang="zh-CN" altLang="en-US" sz="1350">
                <a:solidFill>
                  <a:srgbClr val="0070C0"/>
                </a:solidFill>
                <a:cs typeface="+mn-ea"/>
                <a:sym typeface="+mn-lt"/>
              </a:endParaRPr>
            </a:p>
          </p:txBody>
        </p:sp>
        <p:sp>
          <p:nvSpPr>
            <p:cNvPr id="13" name="矩形 12"/>
            <p:cNvSpPr/>
            <p:nvPr/>
          </p:nvSpPr>
          <p:spPr>
            <a:xfrm>
              <a:off x="4726969" y="3994491"/>
              <a:ext cx="2339101" cy="461664"/>
            </a:xfrm>
            <a:prstGeom prst="rect">
              <a:avLst/>
            </a:prstGeom>
          </p:spPr>
          <p:txBody>
            <a:bodyPr wrap="none">
              <a:spAutoFit/>
            </a:bodyPr>
            <a:lstStyle/>
            <a:p>
              <a:r>
                <a:rPr lang="zh-CN" altLang="en-US" sz="2400" dirty="0">
                  <a:solidFill>
                    <a:srgbClr val="0070C0"/>
                  </a:solidFill>
                  <a:cs typeface="+mn-ea"/>
                  <a:sym typeface="+mn-lt"/>
                </a:rPr>
                <a:t>研究结果与结论</a:t>
              </a:r>
            </a:p>
          </p:txBody>
        </p:sp>
      </p:grpSp>
      <p:grpSp>
        <p:nvGrpSpPr>
          <p:cNvPr id="14" name="组合 13"/>
          <p:cNvGrpSpPr/>
          <p:nvPr/>
        </p:nvGrpSpPr>
        <p:grpSpPr>
          <a:xfrm>
            <a:off x="4400207" y="4941787"/>
            <a:ext cx="3918293" cy="726415"/>
            <a:chOff x="4400206" y="4941787"/>
            <a:chExt cx="3918293" cy="726414"/>
          </a:xfrm>
        </p:grpSpPr>
        <p:sp>
          <p:nvSpPr>
            <p:cNvPr id="15" name="Freeform 19"/>
            <p:cNvSpPr/>
            <p:nvPr/>
          </p:nvSpPr>
          <p:spPr bwMode="auto">
            <a:xfrm flipH="1">
              <a:off x="4400206" y="4941787"/>
              <a:ext cx="3918293" cy="726414"/>
            </a:xfrm>
            <a:custGeom>
              <a:avLst/>
              <a:gdLst>
                <a:gd name="T0" fmla="*/ 3200 w 3200"/>
                <a:gd name="T1" fmla="*/ 320 h 640"/>
                <a:gd name="T2" fmla="*/ 2880 w 3200"/>
                <a:gd name="T3" fmla="*/ 640 h 640"/>
                <a:gd name="T4" fmla="*/ 320 w 3200"/>
                <a:gd name="T5" fmla="*/ 640 h 640"/>
                <a:gd name="T6" fmla="*/ 0 w 3200"/>
                <a:gd name="T7" fmla="*/ 320 h 640"/>
                <a:gd name="T8" fmla="*/ 320 w 3200"/>
                <a:gd name="T9" fmla="*/ 0 h 640"/>
                <a:gd name="T10" fmla="*/ 2880 w 3200"/>
                <a:gd name="T11" fmla="*/ 0 h 640"/>
                <a:gd name="T12" fmla="*/ 3200 w 3200"/>
                <a:gd name="T13" fmla="*/ 320 h 640"/>
              </a:gdLst>
              <a:ahLst/>
              <a:cxnLst>
                <a:cxn ang="0">
                  <a:pos x="T0" y="T1"/>
                </a:cxn>
                <a:cxn ang="0">
                  <a:pos x="T2" y="T3"/>
                </a:cxn>
                <a:cxn ang="0">
                  <a:pos x="T4" y="T5"/>
                </a:cxn>
                <a:cxn ang="0">
                  <a:pos x="T6" y="T7"/>
                </a:cxn>
                <a:cxn ang="0">
                  <a:pos x="T8" y="T9"/>
                </a:cxn>
                <a:cxn ang="0">
                  <a:pos x="T10" y="T11"/>
                </a:cxn>
                <a:cxn ang="0">
                  <a:pos x="T12" y="T13"/>
                </a:cxn>
              </a:cxnLst>
              <a:rect l="0" t="0" r="r" b="b"/>
              <a:pathLst>
                <a:path w="3200" h="640">
                  <a:moveTo>
                    <a:pt x="3200" y="320"/>
                  </a:moveTo>
                  <a:cubicBezTo>
                    <a:pt x="3200" y="496"/>
                    <a:pt x="3056" y="640"/>
                    <a:pt x="2880" y="640"/>
                  </a:cubicBezTo>
                  <a:cubicBezTo>
                    <a:pt x="320" y="640"/>
                    <a:pt x="320" y="640"/>
                    <a:pt x="320" y="640"/>
                  </a:cubicBezTo>
                  <a:cubicBezTo>
                    <a:pt x="144" y="640"/>
                    <a:pt x="0" y="496"/>
                    <a:pt x="0" y="320"/>
                  </a:cubicBezTo>
                  <a:cubicBezTo>
                    <a:pt x="0" y="144"/>
                    <a:pt x="144" y="0"/>
                    <a:pt x="320" y="0"/>
                  </a:cubicBezTo>
                  <a:cubicBezTo>
                    <a:pt x="2880" y="0"/>
                    <a:pt x="2880" y="0"/>
                    <a:pt x="2880" y="0"/>
                  </a:cubicBezTo>
                  <a:cubicBezTo>
                    <a:pt x="3056" y="0"/>
                    <a:pt x="3200" y="144"/>
                    <a:pt x="3200" y="320"/>
                  </a:cubicBezTo>
                  <a:close/>
                </a:path>
              </a:pathLst>
            </a:cu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lstStyle/>
            <a:p>
              <a:endParaRPr lang="zh-CN" altLang="en-US" sz="1350">
                <a:solidFill>
                  <a:srgbClr val="00B0F0"/>
                </a:solidFill>
                <a:cs typeface="+mn-ea"/>
                <a:sym typeface="+mn-lt"/>
              </a:endParaRPr>
            </a:p>
          </p:txBody>
        </p:sp>
        <p:sp>
          <p:nvSpPr>
            <p:cNvPr id="16" name="矩形 15"/>
            <p:cNvSpPr/>
            <p:nvPr/>
          </p:nvSpPr>
          <p:spPr>
            <a:xfrm>
              <a:off x="4960805" y="5103380"/>
              <a:ext cx="1415772" cy="461664"/>
            </a:xfrm>
            <a:prstGeom prst="rect">
              <a:avLst/>
            </a:prstGeom>
          </p:spPr>
          <p:txBody>
            <a:bodyPr wrap="none">
              <a:spAutoFit/>
            </a:bodyPr>
            <a:lstStyle/>
            <a:p>
              <a:r>
                <a:rPr lang="zh-CN" altLang="en-US" sz="2400" dirty="0">
                  <a:solidFill>
                    <a:srgbClr val="00B0F0"/>
                  </a:solidFill>
                  <a:cs typeface="+mn-ea"/>
                  <a:sym typeface="+mn-lt"/>
                </a:rPr>
                <a:t>参考文献</a:t>
              </a:r>
            </a:p>
          </p:txBody>
        </p:sp>
      </p:grpSp>
      <p:sp>
        <p:nvSpPr>
          <p:cNvPr id="18" name="圆角矩形 17"/>
          <p:cNvSpPr/>
          <p:nvPr/>
        </p:nvSpPr>
        <p:spPr>
          <a:xfrm>
            <a:off x="2165343" y="1608790"/>
            <a:ext cx="2234864" cy="985476"/>
          </a:xfrm>
          <a:prstGeom prst="roundRect">
            <a:avLst>
              <a:gd name="adj" fmla="val 50000"/>
            </a:avLst>
          </a:prstGeom>
          <a:gradFill>
            <a:gsLst>
              <a:gs pos="100000">
                <a:srgbClr val="0070C0"/>
              </a:gs>
              <a:gs pos="0">
                <a:srgbClr val="002060"/>
              </a:gs>
            </a:gsLst>
            <a:lin ang="5400000" scaled="1"/>
          </a:gradFill>
          <a:ln w="28575" cap="flat">
            <a:gradFill>
              <a:gsLst>
                <a:gs pos="0">
                  <a:srgbClr val="0070C0"/>
                </a:gs>
                <a:gs pos="100000">
                  <a:srgbClr val="002060"/>
                </a:gs>
              </a:gsLst>
              <a:lin ang="5400000" scaled="1"/>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sp>
        <p:nvSpPr>
          <p:cNvPr id="19" name="Freeform 5"/>
          <p:cNvSpPr/>
          <p:nvPr/>
        </p:nvSpPr>
        <p:spPr bwMode="auto">
          <a:xfrm>
            <a:off x="2272446" y="1709103"/>
            <a:ext cx="1008373" cy="766040"/>
          </a:xfrm>
          <a:custGeom>
            <a:avLst/>
            <a:gdLst>
              <a:gd name="T0" fmla="*/ 206 w 524"/>
              <a:gd name="T1" fmla="*/ 0 h 398"/>
              <a:gd name="T2" fmla="*/ 199 w 524"/>
              <a:gd name="T3" fmla="*/ 0 h 398"/>
              <a:gd name="T4" fmla="*/ 195 w 524"/>
              <a:gd name="T5" fmla="*/ 0 h 398"/>
              <a:gd name="T6" fmla="*/ 190 w 524"/>
              <a:gd name="T7" fmla="*/ 0 h 398"/>
              <a:gd name="T8" fmla="*/ 0 w 524"/>
              <a:gd name="T9" fmla="*/ 199 h 398"/>
              <a:gd name="T10" fmla="*/ 190 w 524"/>
              <a:gd name="T11" fmla="*/ 398 h 398"/>
              <a:gd name="T12" fmla="*/ 195 w 524"/>
              <a:gd name="T13" fmla="*/ 398 h 398"/>
              <a:gd name="T14" fmla="*/ 199 w 524"/>
              <a:gd name="T15" fmla="*/ 398 h 398"/>
              <a:gd name="T16" fmla="*/ 206 w 524"/>
              <a:gd name="T17" fmla="*/ 398 h 398"/>
              <a:gd name="T18" fmla="*/ 524 w 524"/>
              <a:gd name="T19" fmla="*/ 199 h 398"/>
              <a:gd name="T20" fmla="*/ 206 w 524"/>
              <a:gd name="T21" fmla="*/ 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4" h="398">
                <a:moveTo>
                  <a:pt x="206" y="0"/>
                </a:moveTo>
                <a:cubicBezTo>
                  <a:pt x="204" y="0"/>
                  <a:pt x="201" y="0"/>
                  <a:pt x="199" y="0"/>
                </a:cubicBezTo>
                <a:cubicBezTo>
                  <a:pt x="198" y="0"/>
                  <a:pt x="196" y="0"/>
                  <a:pt x="195" y="0"/>
                </a:cubicBezTo>
                <a:cubicBezTo>
                  <a:pt x="193" y="0"/>
                  <a:pt x="192" y="0"/>
                  <a:pt x="190" y="0"/>
                </a:cubicBezTo>
                <a:cubicBezTo>
                  <a:pt x="84" y="5"/>
                  <a:pt x="0" y="92"/>
                  <a:pt x="0" y="199"/>
                </a:cubicBezTo>
                <a:cubicBezTo>
                  <a:pt x="0" y="306"/>
                  <a:pt x="84" y="393"/>
                  <a:pt x="190" y="398"/>
                </a:cubicBezTo>
                <a:cubicBezTo>
                  <a:pt x="192" y="398"/>
                  <a:pt x="193" y="398"/>
                  <a:pt x="195" y="398"/>
                </a:cubicBezTo>
                <a:cubicBezTo>
                  <a:pt x="196" y="398"/>
                  <a:pt x="198" y="398"/>
                  <a:pt x="199" y="398"/>
                </a:cubicBezTo>
                <a:cubicBezTo>
                  <a:pt x="201" y="398"/>
                  <a:pt x="204" y="398"/>
                  <a:pt x="206" y="398"/>
                </a:cubicBezTo>
                <a:cubicBezTo>
                  <a:pt x="401" y="394"/>
                  <a:pt x="524" y="199"/>
                  <a:pt x="524" y="199"/>
                </a:cubicBezTo>
                <a:cubicBezTo>
                  <a:pt x="524" y="199"/>
                  <a:pt x="401" y="4"/>
                  <a:pt x="206" y="0"/>
                </a:cubicBezTo>
                <a:close/>
              </a:path>
            </a:pathLst>
          </a:custGeom>
          <a:gradFill>
            <a:gsLst>
              <a:gs pos="0">
                <a:srgbClr val="DDDDDD"/>
              </a:gs>
              <a:gs pos="100000">
                <a:schemeClr val="bg1"/>
              </a:gs>
            </a:gsLst>
            <a:lin ang="5400000" scaled="1"/>
          </a:gradFill>
          <a:ln w="28575" cap="flat">
            <a:gradFill>
              <a:gsLst>
                <a:gs pos="0">
                  <a:schemeClr val="bg1"/>
                </a:gs>
                <a:gs pos="100000">
                  <a:srgbClr val="DDDDDD"/>
                </a:gs>
              </a:gsLst>
              <a:lin ang="5400000" scaled="1"/>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sp>
        <p:nvSpPr>
          <p:cNvPr id="20" name="椭圆 19"/>
          <p:cNvSpPr/>
          <p:nvPr/>
        </p:nvSpPr>
        <p:spPr>
          <a:xfrm>
            <a:off x="2368263" y="1797614"/>
            <a:ext cx="589017" cy="589018"/>
          </a:xfrm>
          <a:prstGeom prst="ellipse">
            <a:avLst/>
          </a:prstGeom>
          <a:solidFill>
            <a:srgbClr val="0070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21" name="文本框 20"/>
          <p:cNvSpPr txBox="1"/>
          <p:nvPr/>
        </p:nvSpPr>
        <p:spPr>
          <a:xfrm>
            <a:off x="2397308" y="1839918"/>
            <a:ext cx="513282" cy="523220"/>
          </a:xfrm>
          <a:prstGeom prst="rect">
            <a:avLst/>
          </a:prstGeom>
          <a:noFill/>
        </p:spPr>
        <p:txBody>
          <a:bodyPr wrap="none" rtlCol="0">
            <a:spAutoFit/>
          </a:bodyPr>
          <a:lstStyle/>
          <a:p>
            <a:r>
              <a:rPr lang="en-US" altLang="zh-CN" sz="2800" dirty="0">
                <a:solidFill>
                  <a:schemeClr val="bg1"/>
                </a:solidFill>
                <a:cs typeface="+mn-ea"/>
                <a:sym typeface="+mn-lt"/>
              </a:rPr>
              <a:t>01</a:t>
            </a:r>
            <a:endParaRPr lang="zh-CN" altLang="en-US" sz="2800" dirty="0">
              <a:solidFill>
                <a:schemeClr val="bg1"/>
              </a:solidFill>
              <a:cs typeface="+mn-ea"/>
              <a:sym typeface="+mn-lt"/>
            </a:endParaRPr>
          </a:p>
        </p:txBody>
      </p:sp>
      <p:sp>
        <p:nvSpPr>
          <p:cNvPr id="22" name="KSO_Shape"/>
          <p:cNvSpPr/>
          <p:nvPr/>
        </p:nvSpPr>
        <p:spPr bwMode="auto">
          <a:xfrm>
            <a:off x="3516663" y="1840143"/>
            <a:ext cx="267848" cy="535695"/>
          </a:xfrm>
          <a:custGeom>
            <a:avLst/>
            <a:gdLst/>
            <a:ahLst/>
            <a:cxnLst/>
            <a:rect l="0" t="0" r="r" b="b"/>
            <a:pathLst>
              <a:path w="725488" h="1450976">
                <a:moveTo>
                  <a:pt x="180975" y="543686"/>
                </a:moveTo>
                <a:lnTo>
                  <a:pt x="544513" y="543686"/>
                </a:lnTo>
                <a:lnTo>
                  <a:pt x="544513" y="785648"/>
                </a:lnTo>
                <a:lnTo>
                  <a:pt x="544248" y="794903"/>
                </a:lnTo>
                <a:lnTo>
                  <a:pt x="543187" y="804158"/>
                </a:lnTo>
                <a:lnTo>
                  <a:pt x="542392" y="813149"/>
                </a:lnTo>
                <a:lnTo>
                  <a:pt x="540536" y="822140"/>
                </a:lnTo>
                <a:lnTo>
                  <a:pt x="538679" y="830867"/>
                </a:lnTo>
                <a:lnTo>
                  <a:pt x="536293" y="839329"/>
                </a:lnTo>
                <a:lnTo>
                  <a:pt x="533111" y="847791"/>
                </a:lnTo>
                <a:lnTo>
                  <a:pt x="530194" y="856253"/>
                </a:lnTo>
                <a:lnTo>
                  <a:pt x="526482" y="864186"/>
                </a:lnTo>
                <a:lnTo>
                  <a:pt x="522504" y="871855"/>
                </a:lnTo>
                <a:lnTo>
                  <a:pt x="517997" y="879523"/>
                </a:lnTo>
                <a:lnTo>
                  <a:pt x="513224" y="886928"/>
                </a:lnTo>
                <a:lnTo>
                  <a:pt x="508186" y="893803"/>
                </a:lnTo>
                <a:lnTo>
                  <a:pt x="502882" y="900943"/>
                </a:lnTo>
                <a:lnTo>
                  <a:pt x="497049" y="907290"/>
                </a:lnTo>
                <a:lnTo>
                  <a:pt x="490950" y="913636"/>
                </a:lnTo>
                <a:lnTo>
                  <a:pt x="484851" y="919718"/>
                </a:lnTo>
                <a:lnTo>
                  <a:pt x="478222" y="925271"/>
                </a:lnTo>
                <a:lnTo>
                  <a:pt x="471328" y="930825"/>
                </a:lnTo>
                <a:lnTo>
                  <a:pt x="464169" y="935849"/>
                </a:lnTo>
                <a:lnTo>
                  <a:pt x="456744" y="940609"/>
                </a:lnTo>
                <a:lnTo>
                  <a:pt x="449054" y="944840"/>
                </a:lnTo>
                <a:lnTo>
                  <a:pt x="441630" y="949071"/>
                </a:lnTo>
                <a:lnTo>
                  <a:pt x="433145" y="952773"/>
                </a:lnTo>
                <a:lnTo>
                  <a:pt x="424925" y="955682"/>
                </a:lnTo>
                <a:lnTo>
                  <a:pt x="416705" y="958855"/>
                </a:lnTo>
                <a:lnTo>
                  <a:pt x="407954" y="961235"/>
                </a:lnTo>
                <a:lnTo>
                  <a:pt x="399204" y="963086"/>
                </a:lnTo>
                <a:lnTo>
                  <a:pt x="390188" y="964673"/>
                </a:lnTo>
                <a:lnTo>
                  <a:pt x="380908" y="965730"/>
                </a:lnTo>
                <a:lnTo>
                  <a:pt x="371892" y="966788"/>
                </a:lnTo>
                <a:lnTo>
                  <a:pt x="362612" y="966788"/>
                </a:lnTo>
                <a:lnTo>
                  <a:pt x="353331" y="966788"/>
                </a:lnTo>
                <a:lnTo>
                  <a:pt x="344050" y="965730"/>
                </a:lnTo>
                <a:lnTo>
                  <a:pt x="334770" y="964673"/>
                </a:lnTo>
                <a:lnTo>
                  <a:pt x="326019" y="963086"/>
                </a:lnTo>
                <a:lnTo>
                  <a:pt x="317269" y="961235"/>
                </a:lnTo>
                <a:lnTo>
                  <a:pt x="308518" y="958855"/>
                </a:lnTo>
                <a:lnTo>
                  <a:pt x="300033" y="955682"/>
                </a:lnTo>
                <a:lnTo>
                  <a:pt x="291813" y="952773"/>
                </a:lnTo>
                <a:lnTo>
                  <a:pt x="283858" y="949071"/>
                </a:lnTo>
                <a:lnTo>
                  <a:pt x="275903" y="944840"/>
                </a:lnTo>
                <a:lnTo>
                  <a:pt x="268214" y="940609"/>
                </a:lnTo>
                <a:lnTo>
                  <a:pt x="261054" y="935849"/>
                </a:lnTo>
                <a:lnTo>
                  <a:pt x="253895" y="930825"/>
                </a:lnTo>
                <a:lnTo>
                  <a:pt x="247001" y="925271"/>
                </a:lnTo>
                <a:lnTo>
                  <a:pt x="240372" y="919718"/>
                </a:lnTo>
                <a:lnTo>
                  <a:pt x="234008" y="913636"/>
                </a:lnTo>
                <a:lnTo>
                  <a:pt x="228174" y="907290"/>
                </a:lnTo>
                <a:lnTo>
                  <a:pt x="222341" y="900943"/>
                </a:lnTo>
                <a:lnTo>
                  <a:pt x="217037" y="893803"/>
                </a:lnTo>
                <a:lnTo>
                  <a:pt x="211999" y="886928"/>
                </a:lnTo>
                <a:lnTo>
                  <a:pt x="207226" y="879523"/>
                </a:lnTo>
                <a:lnTo>
                  <a:pt x="202984" y="871855"/>
                </a:lnTo>
                <a:lnTo>
                  <a:pt x="199006" y="864186"/>
                </a:lnTo>
                <a:lnTo>
                  <a:pt x="195294" y="856253"/>
                </a:lnTo>
                <a:lnTo>
                  <a:pt x="191847" y="847791"/>
                </a:lnTo>
                <a:lnTo>
                  <a:pt x="189195" y="839329"/>
                </a:lnTo>
                <a:lnTo>
                  <a:pt x="186809" y="830867"/>
                </a:lnTo>
                <a:lnTo>
                  <a:pt x="184422" y="822140"/>
                </a:lnTo>
                <a:lnTo>
                  <a:pt x="183097" y="813149"/>
                </a:lnTo>
                <a:lnTo>
                  <a:pt x="181771" y="804158"/>
                </a:lnTo>
                <a:lnTo>
                  <a:pt x="181240" y="794903"/>
                </a:lnTo>
                <a:lnTo>
                  <a:pt x="180975" y="785648"/>
                </a:lnTo>
                <a:lnTo>
                  <a:pt x="180975" y="543686"/>
                </a:lnTo>
                <a:close/>
                <a:moveTo>
                  <a:pt x="60589" y="484188"/>
                </a:moveTo>
                <a:lnTo>
                  <a:pt x="66675" y="484453"/>
                </a:lnTo>
                <a:lnTo>
                  <a:pt x="72760" y="485510"/>
                </a:lnTo>
                <a:lnTo>
                  <a:pt x="78581" y="487096"/>
                </a:lnTo>
                <a:lnTo>
                  <a:pt x="84137" y="488947"/>
                </a:lnTo>
                <a:lnTo>
                  <a:pt x="89429" y="491591"/>
                </a:lnTo>
                <a:lnTo>
                  <a:pt x="94191" y="494499"/>
                </a:lnTo>
                <a:lnTo>
                  <a:pt x="99219" y="497935"/>
                </a:lnTo>
                <a:lnTo>
                  <a:pt x="103452" y="501901"/>
                </a:lnTo>
                <a:lnTo>
                  <a:pt x="107421" y="506131"/>
                </a:lnTo>
                <a:lnTo>
                  <a:pt x="110596" y="510889"/>
                </a:lnTo>
                <a:lnTo>
                  <a:pt x="113771" y="515912"/>
                </a:lnTo>
                <a:lnTo>
                  <a:pt x="116152" y="521200"/>
                </a:lnTo>
                <a:lnTo>
                  <a:pt x="118269" y="526487"/>
                </a:lnTo>
                <a:lnTo>
                  <a:pt x="119856" y="532303"/>
                </a:lnTo>
                <a:lnTo>
                  <a:pt x="120650" y="538383"/>
                </a:lnTo>
                <a:lnTo>
                  <a:pt x="121179" y="544464"/>
                </a:lnTo>
                <a:lnTo>
                  <a:pt x="121179" y="786095"/>
                </a:lnTo>
                <a:lnTo>
                  <a:pt x="121179" y="793233"/>
                </a:lnTo>
                <a:lnTo>
                  <a:pt x="121973" y="803807"/>
                </a:lnTo>
                <a:lnTo>
                  <a:pt x="123560" y="817554"/>
                </a:lnTo>
                <a:lnTo>
                  <a:pt x="124619" y="825750"/>
                </a:lnTo>
                <a:lnTo>
                  <a:pt x="126206" y="834209"/>
                </a:lnTo>
                <a:lnTo>
                  <a:pt x="128058" y="843462"/>
                </a:lnTo>
                <a:lnTo>
                  <a:pt x="130175" y="853244"/>
                </a:lnTo>
                <a:lnTo>
                  <a:pt x="132821" y="863290"/>
                </a:lnTo>
                <a:lnTo>
                  <a:pt x="136260" y="873600"/>
                </a:lnTo>
                <a:lnTo>
                  <a:pt x="139964" y="883910"/>
                </a:lnTo>
                <a:lnTo>
                  <a:pt x="144198" y="894485"/>
                </a:lnTo>
                <a:lnTo>
                  <a:pt x="149225" y="905588"/>
                </a:lnTo>
                <a:lnTo>
                  <a:pt x="154517" y="916163"/>
                </a:lnTo>
                <a:lnTo>
                  <a:pt x="160867" y="927002"/>
                </a:lnTo>
                <a:lnTo>
                  <a:pt x="164306" y="932289"/>
                </a:lnTo>
                <a:lnTo>
                  <a:pt x="167746" y="937577"/>
                </a:lnTo>
                <a:lnTo>
                  <a:pt x="171714" y="942864"/>
                </a:lnTo>
                <a:lnTo>
                  <a:pt x="175683" y="947887"/>
                </a:lnTo>
                <a:lnTo>
                  <a:pt x="179652" y="953174"/>
                </a:lnTo>
                <a:lnTo>
                  <a:pt x="184150" y="957933"/>
                </a:lnTo>
                <a:lnTo>
                  <a:pt x="188384" y="962956"/>
                </a:lnTo>
                <a:lnTo>
                  <a:pt x="193411" y="967714"/>
                </a:lnTo>
                <a:lnTo>
                  <a:pt x="198438" y="972209"/>
                </a:lnTo>
                <a:lnTo>
                  <a:pt x="203730" y="976967"/>
                </a:lnTo>
                <a:lnTo>
                  <a:pt x="209286" y="981197"/>
                </a:lnTo>
                <a:lnTo>
                  <a:pt x="214577" y="985427"/>
                </a:lnTo>
                <a:lnTo>
                  <a:pt x="220663" y="989657"/>
                </a:lnTo>
                <a:lnTo>
                  <a:pt x="226748" y="993622"/>
                </a:lnTo>
                <a:lnTo>
                  <a:pt x="233363" y="997323"/>
                </a:lnTo>
                <a:lnTo>
                  <a:pt x="239977" y="1001025"/>
                </a:lnTo>
                <a:lnTo>
                  <a:pt x="246857" y="1004461"/>
                </a:lnTo>
                <a:lnTo>
                  <a:pt x="254000" y="1007634"/>
                </a:lnTo>
                <a:lnTo>
                  <a:pt x="261673" y="1010542"/>
                </a:lnTo>
                <a:lnTo>
                  <a:pt x="269346" y="1013714"/>
                </a:lnTo>
                <a:lnTo>
                  <a:pt x="277019" y="1016093"/>
                </a:lnTo>
                <a:lnTo>
                  <a:pt x="285750" y="1018473"/>
                </a:lnTo>
                <a:lnTo>
                  <a:pt x="294217" y="1020852"/>
                </a:lnTo>
                <a:lnTo>
                  <a:pt x="302948" y="1022438"/>
                </a:lnTo>
                <a:lnTo>
                  <a:pt x="312209" y="1024024"/>
                </a:lnTo>
                <a:lnTo>
                  <a:pt x="321734" y="1025611"/>
                </a:lnTo>
                <a:lnTo>
                  <a:pt x="331523" y="1026404"/>
                </a:lnTo>
                <a:lnTo>
                  <a:pt x="341842" y="1027461"/>
                </a:lnTo>
                <a:lnTo>
                  <a:pt x="352161" y="1027726"/>
                </a:lnTo>
                <a:lnTo>
                  <a:pt x="362744" y="1027990"/>
                </a:lnTo>
                <a:lnTo>
                  <a:pt x="373857" y="1027726"/>
                </a:lnTo>
                <a:lnTo>
                  <a:pt x="384440" y="1027197"/>
                </a:lnTo>
                <a:lnTo>
                  <a:pt x="394759" y="1026404"/>
                </a:lnTo>
                <a:lnTo>
                  <a:pt x="404813" y="1025346"/>
                </a:lnTo>
                <a:lnTo>
                  <a:pt x="414602" y="1023760"/>
                </a:lnTo>
                <a:lnTo>
                  <a:pt x="424127" y="1022174"/>
                </a:lnTo>
                <a:lnTo>
                  <a:pt x="432859" y="1020059"/>
                </a:lnTo>
                <a:lnTo>
                  <a:pt x="441854" y="1017944"/>
                </a:lnTo>
                <a:lnTo>
                  <a:pt x="450321" y="1015565"/>
                </a:lnTo>
                <a:lnTo>
                  <a:pt x="458523" y="1012921"/>
                </a:lnTo>
                <a:lnTo>
                  <a:pt x="466196" y="1009749"/>
                </a:lnTo>
                <a:lnTo>
                  <a:pt x="473869" y="1006312"/>
                </a:lnTo>
                <a:lnTo>
                  <a:pt x="481013" y="1003140"/>
                </a:lnTo>
                <a:lnTo>
                  <a:pt x="488157" y="999438"/>
                </a:lnTo>
                <a:lnTo>
                  <a:pt x="494771" y="995473"/>
                </a:lnTo>
                <a:lnTo>
                  <a:pt x="501386" y="991507"/>
                </a:lnTo>
                <a:lnTo>
                  <a:pt x="507736" y="987278"/>
                </a:lnTo>
                <a:lnTo>
                  <a:pt x="513821" y="983048"/>
                </a:lnTo>
                <a:lnTo>
                  <a:pt x="519113" y="978289"/>
                </a:lnTo>
                <a:lnTo>
                  <a:pt x="524669" y="973795"/>
                </a:lnTo>
                <a:lnTo>
                  <a:pt x="530225" y="969036"/>
                </a:lnTo>
                <a:lnTo>
                  <a:pt x="534988" y="964013"/>
                </a:lnTo>
                <a:lnTo>
                  <a:pt x="540015" y="959255"/>
                </a:lnTo>
                <a:lnTo>
                  <a:pt x="544248" y="953967"/>
                </a:lnTo>
                <a:lnTo>
                  <a:pt x="548746" y="948944"/>
                </a:lnTo>
                <a:lnTo>
                  <a:pt x="552715" y="943657"/>
                </a:lnTo>
                <a:lnTo>
                  <a:pt x="556684" y="938105"/>
                </a:lnTo>
                <a:lnTo>
                  <a:pt x="560388" y="932554"/>
                </a:lnTo>
                <a:lnTo>
                  <a:pt x="564092" y="927266"/>
                </a:lnTo>
                <a:lnTo>
                  <a:pt x="567267" y="921715"/>
                </a:lnTo>
                <a:lnTo>
                  <a:pt x="573352" y="910876"/>
                </a:lnTo>
                <a:lnTo>
                  <a:pt x="578644" y="899772"/>
                </a:lnTo>
                <a:lnTo>
                  <a:pt x="583407" y="888404"/>
                </a:lnTo>
                <a:lnTo>
                  <a:pt x="587375" y="877830"/>
                </a:lnTo>
                <a:lnTo>
                  <a:pt x="591080" y="867255"/>
                </a:lnTo>
                <a:lnTo>
                  <a:pt x="594255" y="856416"/>
                </a:lnTo>
                <a:lnTo>
                  <a:pt x="596636" y="846899"/>
                </a:lnTo>
                <a:lnTo>
                  <a:pt x="598752" y="837117"/>
                </a:lnTo>
                <a:lnTo>
                  <a:pt x="600605" y="828129"/>
                </a:lnTo>
                <a:lnTo>
                  <a:pt x="601928" y="819934"/>
                </a:lnTo>
                <a:lnTo>
                  <a:pt x="602721" y="812267"/>
                </a:lnTo>
                <a:lnTo>
                  <a:pt x="604044" y="799577"/>
                </a:lnTo>
                <a:lnTo>
                  <a:pt x="604573" y="790853"/>
                </a:lnTo>
                <a:lnTo>
                  <a:pt x="604573" y="786095"/>
                </a:lnTo>
                <a:lnTo>
                  <a:pt x="604573" y="544464"/>
                </a:lnTo>
                <a:lnTo>
                  <a:pt x="604838" y="538383"/>
                </a:lnTo>
                <a:lnTo>
                  <a:pt x="605896" y="532303"/>
                </a:lnTo>
                <a:lnTo>
                  <a:pt x="607219" y="526487"/>
                </a:lnTo>
                <a:lnTo>
                  <a:pt x="609336" y="521200"/>
                </a:lnTo>
                <a:lnTo>
                  <a:pt x="611982" y="515912"/>
                </a:lnTo>
                <a:lnTo>
                  <a:pt x="614892" y="510889"/>
                </a:lnTo>
                <a:lnTo>
                  <a:pt x="618332" y="506131"/>
                </a:lnTo>
                <a:lnTo>
                  <a:pt x="622300" y="501901"/>
                </a:lnTo>
                <a:lnTo>
                  <a:pt x="626534" y="497935"/>
                </a:lnTo>
                <a:lnTo>
                  <a:pt x="631296" y="494499"/>
                </a:lnTo>
                <a:lnTo>
                  <a:pt x="636323" y="491591"/>
                </a:lnTo>
                <a:lnTo>
                  <a:pt x="641350" y="488947"/>
                </a:lnTo>
                <a:lnTo>
                  <a:pt x="646907" y="487096"/>
                </a:lnTo>
                <a:lnTo>
                  <a:pt x="652992" y="485510"/>
                </a:lnTo>
                <a:lnTo>
                  <a:pt x="658813" y="484453"/>
                </a:lnTo>
                <a:lnTo>
                  <a:pt x="664898" y="484188"/>
                </a:lnTo>
                <a:lnTo>
                  <a:pt x="671248" y="484453"/>
                </a:lnTo>
                <a:lnTo>
                  <a:pt x="677069" y="485510"/>
                </a:lnTo>
                <a:lnTo>
                  <a:pt x="682890" y="487096"/>
                </a:lnTo>
                <a:lnTo>
                  <a:pt x="688711" y="488947"/>
                </a:lnTo>
                <a:lnTo>
                  <a:pt x="694003" y="491591"/>
                </a:lnTo>
                <a:lnTo>
                  <a:pt x="698765" y="494499"/>
                </a:lnTo>
                <a:lnTo>
                  <a:pt x="703528" y="497935"/>
                </a:lnTo>
                <a:lnTo>
                  <a:pt x="708026" y="501901"/>
                </a:lnTo>
                <a:lnTo>
                  <a:pt x="711994" y="506131"/>
                </a:lnTo>
                <a:lnTo>
                  <a:pt x="715169" y="510889"/>
                </a:lnTo>
                <a:lnTo>
                  <a:pt x="718344" y="515912"/>
                </a:lnTo>
                <a:lnTo>
                  <a:pt x="720726" y="521200"/>
                </a:lnTo>
                <a:lnTo>
                  <a:pt x="722842" y="526487"/>
                </a:lnTo>
                <a:lnTo>
                  <a:pt x="724430" y="532303"/>
                </a:lnTo>
                <a:lnTo>
                  <a:pt x="725223" y="538383"/>
                </a:lnTo>
                <a:lnTo>
                  <a:pt x="725488" y="544464"/>
                </a:lnTo>
                <a:lnTo>
                  <a:pt x="725488" y="786095"/>
                </a:lnTo>
                <a:lnTo>
                  <a:pt x="725223" y="797462"/>
                </a:lnTo>
                <a:lnTo>
                  <a:pt x="724694" y="809095"/>
                </a:lnTo>
                <a:lnTo>
                  <a:pt x="723636" y="821255"/>
                </a:lnTo>
                <a:lnTo>
                  <a:pt x="722313" y="833681"/>
                </a:lnTo>
                <a:lnTo>
                  <a:pt x="720461" y="846370"/>
                </a:lnTo>
                <a:lnTo>
                  <a:pt x="718080" y="859853"/>
                </a:lnTo>
                <a:lnTo>
                  <a:pt x="714905" y="873336"/>
                </a:lnTo>
                <a:lnTo>
                  <a:pt x="711465" y="886554"/>
                </a:lnTo>
                <a:lnTo>
                  <a:pt x="707496" y="900830"/>
                </a:lnTo>
                <a:lnTo>
                  <a:pt x="702998" y="914312"/>
                </a:lnTo>
                <a:lnTo>
                  <a:pt x="698236" y="928324"/>
                </a:lnTo>
                <a:lnTo>
                  <a:pt x="692415" y="942335"/>
                </a:lnTo>
                <a:lnTo>
                  <a:pt x="686065" y="956347"/>
                </a:lnTo>
                <a:lnTo>
                  <a:pt x="679186" y="970094"/>
                </a:lnTo>
                <a:lnTo>
                  <a:pt x="671513" y="983841"/>
                </a:lnTo>
                <a:lnTo>
                  <a:pt x="663311" y="997323"/>
                </a:lnTo>
                <a:lnTo>
                  <a:pt x="658813" y="1003933"/>
                </a:lnTo>
                <a:lnTo>
                  <a:pt x="654315" y="1010542"/>
                </a:lnTo>
                <a:lnTo>
                  <a:pt x="649552" y="1017151"/>
                </a:lnTo>
                <a:lnTo>
                  <a:pt x="644525" y="1023496"/>
                </a:lnTo>
                <a:lnTo>
                  <a:pt x="639498" y="1029841"/>
                </a:lnTo>
                <a:lnTo>
                  <a:pt x="634207" y="1035921"/>
                </a:lnTo>
                <a:lnTo>
                  <a:pt x="628650" y="1042001"/>
                </a:lnTo>
                <a:lnTo>
                  <a:pt x="623094" y="1048082"/>
                </a:lnTo>
                <a:lnTo>
                  <a:pt x="617009" y="1054162"/>
                </a:lnTo>
                <a:lnTo>
                  <a:pt x="610923" y="1059978"/>
                </a:lnTo>
                <a:lnTo>
                  <a:pt x="604838" y="1065530"/>
                </a:lnTo>
                <a:lnTo>
                  <a:pt x="598488" y="1071082"/>
                </a:lnTo>
                <a:lnTo>
                  <a:pt x="591873" y="1076369"/>
                </a:lnTo>
                <a:lnTo>
                  <a:pt x="584730" y="1081656"/>
                </a:lnTo>
                <a:lnTo>
                  <a:pt x="577850" y="1086944"/>
                </a:lnTo>
                <a:lnTo>
                  <a:pt x="570442" y="1091702"/>
                </a:lnTo>
                <a:lnTo>
                  <a:pt x="563034" y="1096461"/>
                </a:lnTo>
                <a:lnTo>
                  <a:pt x="555096" y="1101219"/>
                </a:lnTo>
                <a:lnTo>
                  <a:pt x="547159" y="1105714"/>
                </a:lnTo>
                <a:lnTo>
                  <a:pt x="538957" y="1109944"/>
                </a:lnTo>
                <a:lnTo>
                  <a:pt x="530755" y="1113909"/>
                </a:lnTo>
                <a:lnTo>
                  <a:pt x="522288" y="1117875"/>
                </a:lnTo>
                <a:lnTo>
                  <a:pt x="513292" y="1121576"/>
                </a:lnTo>
                <a:lnTo>
                  <a:pt x="504296" y="1125277"/>
                </a:lnTo>
                <a:lnTo>
                  <a:pt x="495036" y="1128185"/>
                </a:lnTo>
                <a:lnTo>
                  <a:pt x="485246" y="1131357"/>
                </a:lnTo>
                <a:lnTo>
                  <a:pt x="475721" y="1134001"/>
                </a:lnTo>
                <a:lnTo>
                  <a:pt x="465932" y="1136909"/>
                </a:lnTo>
                <a:lnTo>
                  <a:pt x="455613" y="1139288"/>
                </a:lnTo>
                <a:lnTo>
                  <a:pt x="445029" y="1141139"/>
                </a:lnTo>
                <a:lnTo>
                  <a:pt x="434182" y="1142989"/>
                </a:lnTo>
                <a:lnTo>
                  <a:pt x="423069" y="1144840"/>
                </a:lnTo>
                <a:lnTo>
                  <a:pt x="423069" y="1329896"/>
                </a:lnTo>
                <a:lnTo>
                  <a:pt x="664898" y="1329896"/>
                </a:lnTo>
                <a:lnTo>
                  <a:pt x="671248" y="1330161"/>
                </a:lnTo>
                <a:lnTo>
                  <a:pt x="677069" y="1331218"/>
                </a:lnTo>
                <a:lnTo>
                  <a:pt x="682890" y="1332540"/>
                </a:lnTo>
                <a:lnTo>
                  <a:pt x="688711" y="1334919"/>
                </a:lnTo>
                <a:lnTo>
                  <a:pt x="694003" y="1337299"/>
                </a:lnTo>
                <a:lnTo>
                  <a:pt x="698765" y="1340207"/>
                </a:lnTo>
                <a:lnTo>
                  <a:pt x="703528" y="1343643"/>
                </a:lnTo>
                <a:lnTo>
                  <a:pt x="708026" y="1347609"/>
                </a:lnTo>
                <a:lnTo>
                  <a:pt x="711994" y="1351839"/>
                </a:lnTo>
                <a:lnTo>
                  <a:pt x="715169" y="1356862"/>
                </a:lnTo>
                <a:lnTo>
                  <a:pt x="718344" y="1361620"/>
                </a:lnTo>
                <a:lnTo>
                  <a:pt x="720726" y="1366908"/>
                </a:lnTo>
                <a:lnTo>
                  <a:pt x="722842" y="1372195"/>
                </a:lnTo>
                <a:lnTo>
                  <a:pt x="724430" y="1378011"/>
                </a:lnTo>
                <a:lnTo>
                  <a:pt x="725223" y="1384092"/>
                </a:lnTo>
                <a:lnTo>
                  <a:pt x="725488" y="1390172"/>
                </a:lnTo>
                <a:lnTo>
                  <a:pt x="725223" y="1396517"/>
                </a:lnTo>
                <a:lnTo>
                  <a:pt x="724430" y="1402333"/>
                </a:lnTo>
                <a:lnTo>
                  <a:pt x="722842" y="1408149"/>
                </a:lnTo>
                <a:lnTo>
                  <a:pt x="720726" y="1413965"/>
                </a:lnTo>
                <a:lnTo>
                  <a:pt x="718344" y="1419252"/>
                </a:lnTo>
                <a:lnTo>
                  <a:pt x="715169" y="1424011"/>
                </a:lnTo>
                <a:lnTo>
                  <a:pt x="711994" y="1429034"/>
                </a:lnTo>
                <a:lnTo>
                  <a:pt x="708026" y="1433264"/>
                </a:lnTo>
                <a:lnTo>
                  <a:pt x="703528" y="1436965"/>
                </a:lnTo>
                <a:lnTo>
                  <a:pt x="698765" y="1440402"/>
                </a:lnTo>
                <a:lnTo>
                  <a:pt x="694003" y="1443574"/>
                </a:lnTo>
                <a:lnTo>
                  <a:pt x="688711" y="1445953"/>
                </a:lnTo>
                <a:lnTo>
                  <a:pt x="682890" y="1448068"/>
                </a:lnTo>
                <a:lnTo>
                  <a:pt x="677069" y="1449654"/>
                </a:lnTo>
                <a:lnTo>
                  <a:pt x="671248" y="1450447"/>
                </a:lnTo>
                <a:lnTo>
                  <a:pt x="664898" y="1450976"/>
                </a:lnTo>
                <a:lnTo>
                  <a:pt x="60589" y="1450976"/>
                </a:lnTo>
                <a:lnTo>
                  <a:pt x="54239" y="1450447"/>
                </a:lnTo>
                <a:lnTo>
                  <a:pt x="48419" y="1449654"/>
                </a:lnTo>
                <a:lnTo>
                  <a:pt x="42598" y="1448068"/>
                </a:lnTo>
                <a:lnTo>
                  <a:pt x="37041" y="1445953"/>
                </a:lnTo>
                <a:lnTo>
                  <a:pt x="31750" y="1443574"/>
                </a:lnTo>
                <a:lnTo>
                  <a:pt x="26723" y="1440402"/>
                </a:lnTo>
                <a:lnTo>
                  <a:pt x="21960" y="1436965"/>
                </a:lnTo>
                <a:lnTo>
                  <a:pt x="17727" y="1433264"/>
                </a:lnTo>
                <a:lnTo>
                  <a:pt x="13758" y="1429034"/>
                </a:lnTo>
                <a:lnTo>
                  <a:pt x="10319" y="1424011"/>
                </a:lnTo>
                <a:lnTo>
                  <a:pt x="7408" y="1419252"/>
                </a:lnTo>
                <a:lnTo>
                  <a:pt x="5027" y="1413965"/>
                </a:lnTo>
                <a:lnTo>
                  <a:pt x="2646" y="1408149"/>
                </a:lnTo>
                <a:lnTo>
                  <a:pt x="1323" y="1402333"/>
                </a:lnTo>
                <a:lnTo>
                  <a:pt x="264" y="1396517"/>
                </a:lnTo>
                <a:lnTo>
                  <a:pt x="0" y="1390172"/>
                </a:lnTo>
                <a:lnTo>
                  <a:pt x="264" y="1384092"/>
                </a:lnTo>
                <a:lnTo>
                  <a:pt x="1323" y="1378011"/>
                </a:lnTo>
                <a:lnTo>
                  <a:pt x="2646" y="1372195"/>
                </a:lnTo>
                <a:lnTo>
                  <a:pt x="5027" y="1366908"/>
                </a:lnTo>
                <a:lnTo>
                  <a:pt x="7408" y="1361620"/>
                </a:lnTo>
                <a:lnTo>
                  <a:pt x="10319" y="1356862"/>
                </a:lnTo>
                <a:lnTo>
                  <a:pt x="13758" y="1351839"/>
                </a:lnTo>
                <a:lnTo>
                  <a:pt x="17727" y="1347609"/>
                </a:lnTo>
                <a:lnTo>
                  <a:pt x="21960" y="1343643"/>
                </a:lnTo>
                <a:lnTo>
                  <a:pt x="26723" y="1340207"/>
                </a:lnTo>
                <a:lnTo>
                  <a:pt x="31750" y="1337299"/>
                </a:lnTo>
                <a:lnTo>
                  <a:pt x="37041" y="1334919"/>
                </a:lnTo>
                <a:lnTo>
                  <a:pt x="42598" y="1332540"/>
                </a:lnTo>
                <a:lnTo>
                  <a:pt x="48419" y="1331218"/>
                </a:lnTo>
                <a:lnTo>
                  <a:pt x="54239" y="1330161"/>
                </a:lnTo>
                <a:lnTo>
                  <a:pt x="60589" y="1329896"/>
                </a:lnTo>
                <a:lnTo>
                  <a:pt x="302419" y="1329896"/>
                </a:lnTo>
                <a:lnTo>
                  <a:pt x="302419" y="1144840"/>
                </a:lnTo>
                <a:lnTo>
                  <a:pt x="291571" y="1142989"/>
                </a:lnTo>
                <a:lnTo>
                  <a:pt x="280459" y="1141139"/>
                </a:lnTo>
                <a:lnTo>
                  <a:pt x="270140" y="1139288"/>
                </a:lnTo>
                <a:lnTo>
                  <a:pt x="259821" y="1136909"/>
                </a:lnTo>
                <a:lnTo>
                  <a:pt x="250032" y="1134001"/>
                </a:lnTo>
                <a:lnTo>
                  <a:pt x="240242" y="1131357"/>
                </a:lnTo>
                <a:lnTo>
                  <a:pt x="230452" y="1128185"/>
                </a:lnTo>
                <a:lnTo>
                  <a:pt x="221457" y="1125277"/>
                </a:lnTo>
                <a:lnTo>
                  <a:pt x="212196" y="1121576"/>
                </a:lnTo>
                <a:lnTo>
                  <a:pt x="203465" y="1117875"/>
                </a:lnTo>
                <a:lnTo>
                  <a:pt x="194734" y="1113909"/>
                </a:lnTo>
                <a:lnTo>
                  <a:pt x="186532" y="1109944"/>
                </a:lnTo>
                <a:lnTo>
                  <a:pt x="178329" y="1105714"/>
                </a:lnTo>
                <a:lnTo>
                  <a:pt x="170392" y="1101219"/>
                </a:lnTo>
                <a:lnTo>
                  <a:pt x="162454" y="1096461"/>
                </a:lnTo>
                <a:lnTo>
                  <a:pt x="155310" y="1091702"/>
                </a:lnTo>
                <a:lnTo>
                  <a:pt x="147902" y="1086944"/>
                </a:lnTo>
                <a:lnTo>
                  <a:pt x="140758" y="1081656"/>
                </a:lnTo>
                <a:lnTo>
                  <a:pt x="133879" y="1076369"/>
                </a:lnTo>
                <a:lnTo>
                  <a:pt x="127264" y="1071082"/>
                </a:lnTo>
                <a:lnTo>
                  <a:pt x="120650" y="1065530"/>
                </a:lnTo>
                <a:lnTo>
                  <a:pt x="114564" y="1059978"/>
                </a:lnTo>
                <a:lnTo>
                  <a:pt x="108479" y="1054162"/>
                </a:lnTo>
                <a:lnTo>
                  <a:pt x="102394" y="1048082"/>
                </a:lnTo>
                <a:lnTo>
                  <a:pt x="97102" y="1042001"/>
                </a:lnTo>
                <a:lnTo>
                  <a:pt x="91546" y="1035921"/>
                </a:lnTo>
                <a:lnTo>
                  <a:pt x="85989" y="1029841"/>
                </a:lnTo>
                <a:lnTo>
                  <a:pt x="81227" y="1023496"/>
                </a:lnTo>
                <a:lnTo>
                  <a:pt x="75935" y="1017151"/>
                </a:lnTo>
                <a:lnTo>
                  <a:pt x="71437" y="1010542"/>
                </a:lnTo>
                <a:lnTo>
                  <a:pt x="66675" y="1003933"/>
                </a:lnTo>
                <a:lnTo>
                  <a:pt x="62177" y="997323"/>
                </a:lnTo>
                <a:lnTo>
                  <a:pt x="53975" y="983841"/>
                </a:lnTo>
                <a:lnTo>
                  <a:pt x="46302" y="970094"/>
                </a:lnTo>
                <a:lnTo>
                  <a:pt x="39687" y="956347"/>
                </a:lnTo>
                <a:lnTo>
                  <a:pt x="33337" y="942335"/>
                </a:lnTo>
                <a:lnTo>
                  <a:pt x="27516" y="928324"/>
                </a:lnTo>
                <a:lnTo>
                  <a:pt x="22489" y="914312"/>
                </a:lnTo>
                <a:lnTo>
                  <a:pt x="17991" y="900830"/>
                </a:lnTo>
                <a:lnTo>
                  <a:pt x="14023" y="886554"/>
                </a:lnTo>
                <a:lnTo>
                  <a:pt x="10583" y="873336"/>
                </a:lnTo>
                <a:lnTo>
                  <a:pt x="7673" y="859853"/>
                </a:lnTo>
                <a:lnTo>
                  <a:pt x="5291" y="846370"/>
                </a:lnTo>
                <a:lnTo>
                  <a:pt x="3439" y="833681"/>
                </a:lnTo>
                <a:lnTo>
                  <a:pt x="1852" y="821255"/>
                </a:lnTo>
                <a:lnTo>
                  <a:pt x="1058" y="809095"/>
                </a:lnTo>
                <a:lnTo>
                  <a:pt x="264" y="797462"/>
                </a:lnTo>
                <a:lnTo>
                  <a:pt x="0" y="786095"/>
                </a:lnTo>
                <a:lnTo>
                  <a:pt x="0" y="544464"/>
                </a:lnTo>
                <a:lnTo>
                  <a:pt x="264" y="538383"/>
                </a:lnTo>
                <a:lnTo>
                  <a:pt x="1323" y="532303"/>
                </a:lnTo>
                <a:lnTo>
                  <a:pt x="2646" y="526487"/>
                </a:lnTo>
                <a:lnTo>
                  <a:pt x="5027" y="521200"/>
                </a:lnTo>
                <a:lnTo>
                  <a:pt x="7408" y="515912"/>
                </a:lnTo>
                <a:lnTo>
                  <a:pt x="10319" y="510889"/>
                </a:lnTo>
                <a:lnTo>
                  <a:pt x="13758" y="506131"/>
                </a:lnTo>
                <a:lnTo>
                  <a:pt x="17727" y="501901"/>
                </a:lnTo>
                <a:lnTo>
                  <a:pt x="21960" y="497935"/>
                </a:lnTo>
                <a:lnTo>
                  <a:pt x="26723" y="494499"/>
                </a:lnTo>
                <a:lnTo>
                  <a:pt x="31750" y="491591"/>
                </a:lnTo>
                <a:lnTo>
                  <a:pt x="37041" y="488947"/>
                </a:lnTo>
                <a:lnTo>
                  <a:pt x="42598" y="487096"/>
                </a:lnTo>
                <a:lnTo>
                  <a:pt x="48419" y="485510"/>
                </a:lnTo>
                <a:lnTo>
                  <a:pt x="54239" y="484453"/>
                </a:lnTo>
                <a:lnTo>
                  <a:pt x="60589" y="484188"/>
                </a:lnTo>
                <a:close/>
                <a:moveTo>
                  <a:pt x="362612" y="0"/>
                </a:moveTo>
                <a:lnTo>
                  <a:pt x="372158" y="265"/>
                </a:lnTo>
                <a:lnTo>
                  <a:pt x="381438" y="1058"/>
                </a:lnTo>
                <a:lnTo>
                  <a:pt x="390454" y="2116"/>
                </a:lnTo>
                <a:lnTo>
                  <a:pt x="399204" y="3967"/>
                </a:lnTo>
                <a:lnTo>
                  <a:pt x="408219" y="5553"/>
                </a:lnTo>
                <a:lnTo>
                  <a:pt x="416705" y="8198"/>
                </a:lnTo>
                <a:lnTo>
                  <a:pt x="424925" y="11107"/>
                </a:lnTo>
                <a:lnTo>
                  <a:pt x="433145" y="14280"/>
                </a:lnTo>
                <a:lnTo>
                  <a:pt x="441630" y="17982"/>
                </a:lnTo>
                <a:lnTo>
                  <a:pt x="449054" y="21949"/>
                </a:lnTo>
                <a:lnTo>
                  <a:pt x="456744" y="26444"/>
                </a:lnTo>
                <a:lnTo>
                  <a:pt x="464169" y="30939"/>
                </a:lnTo>
                <a:lnTo>
                  <a:pt x="471328" y="36228"/>
                </a:lnTo>
                <a:lnTo>
                  <a:pt x="478222" y="41253"/>
                </a:lnTo>
                <a:lnTo>
                  <a:pt x="484851" y="47070"/>
                </a:lnTo>
                <a:lnTo>
                  <a:pt x="490950" y="53152"/>
                </a:lnTo>
                <a:lnTo>
                  <a:pt x="497049" y="59234"/>
                </a:lnTo>
                <a:lnTo>
                  <a:pt x="502882" y="66110"/>
                </a:lnTo>
                <a:lnTo>
                  <a:pt x="508186" y="72721"/>
                </a:lnTo>
                <a:lnTo>
                  <a:pt x="513224" y="80125"/>
                </a:lnTo>
                <a:lnTo>
                  <a:pt x="517997" y="87265"/>
                </a:lnTo>
                <a:lnTo>
                  <a:pt x="522504" y="94934"/>
                </a:lnTo>
                <a:lnTo>
                  <a:pt x="526482" y="102602"/>
                </a:lnTo>
                <a:lnTo>
                  <a:pt x="530194" y="110800"/>
                </a:lnTo>
                <a:lnTo>
                  <a:pt x="533111" y="118998"/>
                </a:lnTo>
                <a:lnTo>
                  <a:pt x="536293" y="127195"/>
                </a:lnTo>
                <a:lnTo>
                  <a:pt x="538679" y="136186"/>
                </a:lnTo>
                <a:lnTo>
                  <a:pt x="540536" y="144648"/>
                </a:lnTo>
                <a:lnTo>
                  <a:pt x="542392" y="153903"/>
                </a:lnTo>
                <a:lnTo>
                  <a:pt x="543187" y="162630"/>
                </a:lnTo>
                <a:lnTo>
                  <a:pt x="544248" y="172150"/>
                </a:lnTo>
                <a:lnTo>
                  <a:pt x="544513" y="181141"/>
                </a:lnTo>
                <a:lnTo>
                  <a:pt x="544513" y="483394"/>
                </a:lnTo>
                <a:lnTo>
                  <a:pt x="180975" y="483394"/>
                </a:lnTo>
                <a:lnTo>
                  <a:pt x="180975" y="181141"/>
                </a:lnTo>
                <a:lnTo>
                  <a:pt x="181240" y="172150"/>
                </a:lnTo>
                <a:lnTo>
                  <a:pt x="181771" y="162630"/>
                </a:lnTo>
                <a:lnTo>
                  <a:pt x="183097" y="153903"/>
                </a:lnTo>
                <a:lnTo>
                  <a:pt x="184422" y="144648"/>
                </a:lnTo>
                <a:lnTo>
                  <a:pt x="186809" y="136186"/>
                </a:lnTo>
                <a:lnTo>
                  <a:pt x="189195" y="127195"/>
                </a:lnTo>
                <a:lnTo>
                  <a:pt x="191847" y="118998"/>
                </a:lnTo>
                <a:lnTo>
                  <a:pt x="195294" y="110800"/>
                </a:lnTo>
                <a:lnTo>
                  <a:pt x="199006" y="102602"/>
                </a:lnTo>
                <a:lnTo>
                  <a:pt x="202984" y="94934"/>
                </a:lnTo>
                <a:lnTo>
                  <a:pt x="207226" y="87265"/>
                </a:lnTo>
                <a:lnTo>
                  <a:pt x="211999" y="80125"/>
                </a:lnTo>
                <a:lnTo>
                  <a:pt x="217037" y="72721"/>
                </a:lnTo>
                <a:lnTo>
                  <a:pt x="222341" y="66110"/>
                </a:lnTo>
                <a:lnTo>
                  <a:pt x="228174" y="59234"/>
                </a:lnTo>
                <a:lnTo>
                  <a:pt x="234008" y="53152"/>
                </a:lnTo>
                <a:lnTo>
                  <a:pt x="240372" y="47070"/>
                </a:lnTo>
                <a:lnTo>
                  <a:pt x="247266" y="41253"/>
                </a:lnTo>
                <a:lnTo>
                  <a:pt x="253895" y="36228"/>
                </a:lnTo>
                <a:lnTo>
                  <a:pt x="261054" y="30939"/>
                </a:lnTo>
                <a:lnTo>
                  <a:pt x="268479" y="26444"/>
                </a:lnTo>
                <a:lnTo>
                  <a:pt x="275903" y="21949"/>
                </a:lnTo>
                <a:lnTo>
                  <a:pt x="283858" y="17982"/>
                </a:lnTo>
                <a:lnTo>
                  <a:pt x="291813" y="14280"/>
                </a:lnTo>
                <a:lnTo>
                  <a:pt x="300033" y="11107"/>
                </a:lnTo>
                <a:lnTo>
                  <a:pt x="308518" y="8198"/>
                </a:lnTo>
                <a:lnTo>
                  <a:pt x="317269" y="5553"/>
                </a:lnTo>
                <a:lnTo>
                  <a:pt x="326019" y="3967"/>
                </a:lnTo>
                <a:lnTo>
                  <a:pt x="334770" y="2116"/>
                </a:lnTo>
                <a:lnTo>
                  <a:pt x="344050" y="1058"/>
                </a:lnTo>
                <a:lnTo>
                  <a:pt x="353331" y="265"/>
                </a:lnTo>
                <a:lnTo>
                  <a:pt x="362612"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sz="1350">
              <a:solidFill>
                <a:srgbClr val="FFFFFF"/>
              </a:solidFill>
              <a:latin typeface="+mn-lt"/>
              <a:ea typeface="+mn-ea"/>
              <a:cs typeface="+mn-ea"/>
              <a:sym typeface="+mn-lt"/>
            </a:endParaRPr>
          </a:p>
        </p:txBody>
      </p:sp>
      <p:sp>
        <p:nvSpPr>
          <p:cNvPr id="24" name="圆角矩形 23"/>
          <p:cNvSpPr/>
          <p:nvPr/>
        </p:nvSpPr>
        <p:spPr>
          <a:xfrm flipH="1">
            <a:off x="7770505" y="4841475"/>
            <a:ext cx="2234864" cy="985476"/>
          </a:xfrm>
          <a:prstGeom prst="roundRect">
            <a:avLst>
              <a:gd name="adj" fmla="val 50000"/>
            </a:avLst>
          </a:prstGeom>
          <a:gradFill>
            <a:gsLst>
              <a:gs pos="0">
                <a:srgbClr val="0070C0"/>
              </a:gs>
              <a:gs pos="100000">
                <a:srgbClr val="00B0F0"/>
              </a:gs>
            </a:gsLst>
            <a:lin ang="5400000" scaled="1"/>
          </a:gradFill>
          <a:ln w="28575" cap="flat">
            <a:gradFill>
              <a:gsLst>
                <a:gs pos="100000">
                  <a:srgbClr val="0070C0"/>
                </a:gs>
                <a:gs pos="0">
                  <a:srgbClr val="00B0F0"/>
                </a:gs>
              </a:gsLst>
              <a:lin ang="5400000" scaled="1"/>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grpSp>
        <p:nvGrpSpPr>
          <p:cNvPr id="25" name="组合 24"/>
          <p:cNvGrpSpPr/>
          <p:nvPr/>
        </p:nvGrpSpPr>
        <p:grpSpPr>
          <a:xfrm flipH="1">
            <a:off x="8889893" y="4941788"/>
            <a:ext cx="1008373" cy="766040"/>
            <a:chOff x="8489270" y="3429000"/>
            <a:chExt cx="1968500" cy="1495425"/>
          </a:xfrm>
        </p:grpSpPr>
        <p:sp>
          <p:nvSpPr>
            <p:cNvPr id="28" name="Freeform 5"/>
            <p:cNvSpPr/>
            <p:nvPr/>
          </p:nvSpPr>
          <p:spPr bwMode="auto">
            <a:xfrm>
              <a:off x="8489270" y="3429000"/>
              <a:ext cx="1968500" cy="1495425"/>
            </a:xfrm>
            <a:custGeom>
              <a:avLst/>
              <a:gdLst>
                <a:gd name="T0" fmla="*/ 206 w 524"/>
                <a:gd name="T1" fmla="*/ 0 h 398"/>
                <a:gd name="T2" fmla="*/ 199 w 524"/>
                <a:gd name="T3" fmla="*/ 0 h 398"/>
                <a:gd name="T4" fmla="*/ 195 w 524"/>
                <a:gd name="T5" fmla="*/ 0 h 398"/>
                <a:gd name="T6" fmla="*/ 190 w 524"/>
                <a:gd name="T7" fmla="*/ 0 h 398"/>
                <a:gd name="T8" fmla="*/ 0 w 524"/>
                <a:gd name="T9" fmla="*/ 199 h 398"/>
                <a:gd name="T10" fmla="*/ 190 w 524"/>
                <a:gd name="T11" fmla="*/ 398 h 398"/>
                <a:gd name="T12" fmla="*/ 195 w 524"/>
                <a:gd name="T13" fmla="*/ 398 h 398"/>
                <a:gd name="T14" fmla="*/ 199 w 524"/>
                <a:gd name="T15" fmla="*/ 398 h 398"/>
                <a:gd name="T16" fmla="*/ 206 w 524"/>
                <a:gd name="T17" fmla="*/ 398 h 398"/>
                <a:gd name="T18" fmla="*/ 524 w 524"/>
                <a:gd name="T19" fmla="*/ 199 h 398"/>
                <a:gd name="T20" fmla="*/ 206 w 524"/>
                <a:gd name="T21" fmla="*/ 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4" h="398">
                  <a:moveTo>
                    <a:pt x="206" y="0"/>
                  </a:moveTo>
                  <a:cubicBezTo>
                    <a:pt x="204" y="0"/>
                    <a:pt x="201" y="0"/>
                    <a:pt x="199" y="0"/>
                  </a:cubicBezTo>
                  <a:cubicBezTo>
                    <a:pt x="198" y="0"/>
                    <a:pt x="196" y="0"/>
                    <a:pt x="195" y="0"/>
                  </a:cubicBezTo>
                  <a:cubicBezTo>
                    <a:pt x="193" y="0"/>
                    <a:pt x="192" y="0"/>
                    <a:pt x="190" y="0"/>
                  </a:cubicBezTo>
                  <a:cubicBezTo>
                    <a:pt x="84" y="5"/>
                    <a:pt x="0" y="92"/>
                    <a:pt x="0" y="199"/>
                  </a:cubicBezTo>
                  <a:cubicBezTo>
                    <a:pt x="0" y="306"/>
                    <a:pt x="84" y="393"/>
                    <a:pt x="190" y="398"/>
                  </a:cubicBezTo>
                  <a:cubicBezTo>
                    <a:pt x="192" y="398"/>
                    <a:pt x="193" y="398"/>
                    <a:pt x="195" y="398"/>
                  </a:cubicBezTo>
                  <a:cubicBezTo>
                    <a:pt x="196" y="398"/>
                    <a:pt x="198" y="398"/>
                    <a:pt x="199" y="398"/>
                  </a:cubicBezTo>
                  <a:cubicBezTo>
                    <a:pt x="201" y="398"/>
                    <a:pt x="204" y="398"/>
                    <a:pt x="206" y="398"/>
                  </a:cubicBezTo>
                  <a:cubicBezTo>
                    <a:pt x="401" y="394"/>
                    <a:pt x="524" y="199"/>
                    <a:pt x="524" y="199"/>
                  </a:cubicBezTo>
                  <a:cubicBezTo>
                    <a:pt x="524" y="199"/>
                    <a:pt x="401" y="4"/>
                    <a:pt x="206" y="0"/>
                  </a:cubicBezTo>
                  <a:close/>
                </a:path>
              </a:pathLst>
            </a:custGeom>
            <a:gradFill>
              <a:gsLst>
                <a:gs pos="0">
                  <a:srgbClr val="DDDDDD"/>
                </a:gs>
                <a:gs pos="100000">
                  <a:schemeClr val="bg1"/>
                </a:gs>
              </a:gsLst>
              <a:lin ang="5400000" scaled="1"/>
            </a:gradFill>
            <a:ln w="28575" cap="flat">
              <a:gradFill>
                <a:gsLst>
                  <a:gs pos="0">
                    <a:schemeClr val="bg1"/>
                  </a:gs>
                  <a:gs pos="100000">
                    <a:srgbClr val="DDDDDD"/>
                  </a:gs>
                </a:gsLst>
                <a:lin ang="5400000" scaled="1"/>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sp>
          <p:nvSpPr>
            <p:cNvPr id="29" name="椭圆 28"/>
            <p:cNvSpPr/>
            <p:nvPr/>
          </p:nvSpPr>
          <p:spPr>
            <a:xfrm>
              <a:off x="8676319" y="3601786"/>
              <a:ext cx="1149852" cy="1149852"/>
            </a:xfrm>
            <a:prstGeom prst="ellipse">
              <a:avLst/>
            </a:prstGeom>
            <a:solidFill>
              <a:srgbClr val="00B0F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sp>
        <p:nvSpPr>
          <p:cNvPr id="26" name="文本框 25"/>
          <p:cNvSpPr txBox="1"/>
          <p:nvPr/>
        </p:nvSpPr>
        <p:spPr>
          <a:xfrm flipH="1">
            <a:off x="9242478" y="5072603"/>
            <a:ext cx="556563" cy="523220"/>
          </a:xfrm>
          <a:prstGeom prst="rect">
            <a:avLst/>
          </a:prstGeom>
          <a:noFill/>
        </p:spPr>
        <p:txBody>
          <a:bodyPr wrap="none" rtlCol="0">
            <a:spAutoFit/>
          </a:bodyPr>
          <a:lstStyle/>
          <a:p>
            <a:r>
              <a:rPr lang="en-US" altLang="zh-CN" sz="2800" dirty="0">
                <a:solidFill>
                  <a:schemeClr val="bg1"/>
                </a:solidFill>
                <a:cs typeface="+mn-ea"/>
                <a:sym typeface="+mn-lt"/>
              </a:rPr>
              <a:t>04</a:t>
            </a:r>
            <a:endParaRPr lang="zh-CN" altLang="en-US" sz="2800" dirty="0">
              <a:solidFill>
                <a:schemeClr val="bg1"/>
              </a:solidFill>
              <a:cs typeface="+mn-ea"/>
              <a:sym typeface="+mn-lt"/>
            </a:endParaRPr>
          </a:p>
        </p:txBody>
      </p:sp>
      <p:sp>
        <p:nvSpPr>
          <p:cNvPr id="27" name="KSO_Shape"/>
          <p:cNvSpPr/>
          <p:nvPr/>
        </p:nvSpPr>
        <p:spPr bwMode="auto">
          <a:xfrm>
            <a:off x="8194170" y="5085543"/>
            <a:ext cx="478528" cy="478528"/>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sz="1350">
              <a:solidFill>
                <a:srgbClr val="FFFFFF"/>
              </a:solidFill>
              <a:latin typeface="+mn-lt"/>
              <a:ea typeface="+mn-ea"/>
              <a:cs typeface="+mn-ea"/>
              <a:sym typeface="+mn-lt"/>
            </a:endParaRPr>
          </a:p>
        </p:txBody>
      </p:sp>
      <p:sp>
        <p:nvSpPr>
          <p:cNvPr id="31" name="圆角矩形 30"/>
          <p:cNvSpPr/>
          <p:nvPr/>
        </p:nvSpPr>
        <p:spPr>
          <a:xfrm>
            <a:off x="2165343" y="3763914"/>
            <a:ext cx="2234864" cy="985476"/>
          </a:xfrm>
          <a:prstGeom prst="roundRect">
            <a:avLst>
              <a:gd name="adj" fmla="val 50000"/>
            </a:avLst>
          </a:prstGeom>
          <a:gradFill>
            <a:gsLst>
              <a:gs pos="0">
                <a:srgbClr val="002060"/>
              </a:gs>
              <a:gs pos="100000">
                <a:srgbClr val="0070C0"/>
              </a:gs>
            </a:gsLst>
            <a:lin ang="5400000" scaled="1"/>
          </a:gradFill>
          <a:ln w="28575" cap="flat">
            <a:gradFill>
              <a:gsLst>
                <a:gs pos="100000">
                  <a:srgbClr val="002060"/>
                </a:gs>
                <a:gs pos="0">
                  <a:srgbClr val="0070C0"/>
                </a:gs>
              </a:gsLst>
              <a:lin ang="5400000" scaled="1"/>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grpSp>
        <p:nvGrpSpPr>
          <p:cNvPr id="32" name="组合 31"/>
          <p:cNvGrpSpPr/>
          <p:nvPr/>
        </p:nvGrpSpPr>
        <p:grpSpPr>
          <a:xfrm>
            <a:off x="2272446" y="3864227"/>
            <a:ext cx="1008373" cy="766040"/>
            <a:chOff x="8489270" y="3429000"/>
            <a:chExt cx="1968500" cy="1495425"/>
          </a:xfrm>
        </p:grpSpPr>
        <p:sp>
          <p:nvSpPr>
            <p:cNvPr id="35" name="Freeform 5"/>
            <p:cNvSpPr/>
            <p:nvPr/>
          </p:nvSpPr>
          <p:spPr bwMode="auto">
            <a:xfrm>
              <a:off x="8489270" y="3429000"/>
              <a:ext cx="1968500" cy="1495425"/>
            </a:xfrm>
            <a:custGeom>
              <a:avLst/>
              <a:gdLst>
                <a:gd name="T0" fmla="*/ 206 w 524"/>
                <a:gd name="T1" fmla="*/ 0 h 398"/>
                <a:gd name="T2" fmla="*/ 199 w 524"/>
                <a:gd name="T3" fmla="*/ 0 h 398"/>
                <a:gd name="T4" fmla="*/ 195 w 524"/>
                <a:gd name="T5" fmla="*/ 0 h 398"/>
                <a:gd name="T6" fmla="*/ 190 w 524"/>
                <a:gd name="T7" fmla="*/ 0 h 398"/>
                <a:gd name="T8" fmla="*/ 0 w 524"/>
                <a:gd name="T9" fmla="*/ 199 h 398"/>
                <a:gd name="T10" fmla="*/ 190 w 524"/>
                <a:gd name="T11" fmla="*/ 398 h 398"/>
                <a:gd name="T12" fmla="*/ 195 w 524"/>
                <a:gd name="T13" fmla="*/ 398 h 398"/>
                <a:gd name="T14" fmla="*/ 199 w 524"/>
                <a:gd name="T15" fmla="*/ 398 h 398"/>
                <a:gd name="T16" fmla="*/ 206 w 524"/>
                <a:gd name="T17" fmla="*/ 398 h 398"/>
                <a:gd name="T18" fmla="*/ 524 w 524"/>
                <a:gd name="T19" fmla="*/ 199 h 398"/>
                <a:gd name="T20" fmla="*/ 206 w 524"/>
                <a:gd name="T21" fmla="*/ 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4" h="398">
                  <a:moveTo>
                    <a:pt x="206" y="0"/>
                  </a:moveTo>
                  <a:cubicBezTo>
                    <a:pt x="204" y="0"/>
                    <a:pt x="201" y="0"/>
                    <a:pt x="199" y="0"/>
                  </a:cubicBezTo>
                  <a:cubicBezTo>
                    <a:pt x="198" y="0"/>
                    <a:pt x="196" y="0"/>
                    <a:pt x="195" y="0"/>
                  </a:cubicBezTo>
                  <a:cubicBezTo>
                    <a:pt x="193" y="0"/>
                    <a:pt x="192" y="0"/>
                    <a:pt x="190" y="0"/>
                  </a:cubicBezTo>
                  <a:cubicBezTo>
                    <a:pt x="84" y="5"/>
                    <a:pt x="0" y="92"/>
                    <a:pt x="0" y="199"/>
                  </a:cubicBezTo>
                  <a:cubicBezTo>
                    <a:pt x="0" y="306"/>
                    <a:pt x="84" y="393"/>
                    <a:pt x="190" y="398"/>
                  </a:cubicBezTo>
                  <a:cubicBezTo>
                    <a:pt x="192" y="398"/>
                    <a:pt x="193" y="398"/>
                    <a:pt x="195" y="398"/>
                  </a:cubicBezTo>
                  <a:cubicBezTo>
                    <a:pt x="196" y="398"/>
                    <a:pt x="198" y="398"/>
                    <a:pt x="199" y="398"/>
                  </a:cubicBezTo>
                  <a:cubicBezTo>
                    <a:pt x="201" y="398"/>
                    <a:pt x="204" y="398"/>
                    <a:pt x="206" y="398"/>
                  </a:cubicBezTo>
                  <a:cubicBezTo>
                    <a:pt x="401" y="394"/>
                    <a:pt x="524" y="199"/>
                    <a:pt x="524" y="199"/>
                  </a:cubicBezTo>
                  <a:cubicBezTo>
                    <a:pt x="524" y="199"/>
                    <a:pt x="401" y="4"/>
                    <a:pt x="206" y="0"/>
                  </a:cubicBezTo>
                  <a:close/>
                </a:path>
              </a:pathLst>
            </a:custGeom>
            <a:gradFill>
              <a:gsLst>
                <a:gs pos="0">
                  <a:srgbClr val="DDDDDD"/>
                </a:gs>
                <a:gs pos="100000">
                  <a:schemeClr val="bg1"/>
                </a:gs>
              </a:gsLst>
              <a:lin ang="5400000" scaled="1"/>
            </a:gradFill>
            <a:ln w="28575" cap="flat">
              <a:gradFill>
                <a:gsLst>
                  <a:gs pos="0">
                    <a:schemeClr val="bg1"/>
                  </a:gs>
                  <a:gs pos="100000">
                    <a:srgbClr val="DDDDDD"/>
                  </a:gs>
                </a:gsLst>
                <a:lin ang="5400000" scaled="1"/>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sp>
          <p:nvSpPr>
            <p:cNvPr id="36" name="椭圆 35"/>
            <p:cNvSpPr/>
            <p:nvPr/>
          </p:nvSpPr>
          <p:spPr>
            <a:xfrm>
              <a:off x="8676319" y="3601786"/>
              <a:ext cx="1149852" cy="1149852"/>
            </a:xfrm>
            <a:prstGeom prst="ellipse">
              <a:avLst/>
            </a:prstGeom>
            <a:solidFill>
              <a:srgbClr val="0070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sp>
        <p:nvSpPr>
          <p:cNvPr id="33" name="文本框 32"/>
          <p:cNvSpPr txBox="1"/>
          <p:nvPr/>
        </p:nvSpPr>
        <p:spPr>
          <a:xfrm>
            <a:off x="2397308" y="3995042"/>
            <a:ext cx="567784" cy="523220"/>
          </a:xfrm>
          <a:prstGeom prst="rect">
            <a:avLst/>
          </a:prstGeom>
          <a:noFill/>
        </p:spPr>
        <p:txBody>
          <a:bodyPr wrap="none" rtlCol="0">
            <a:spAutoFit/>
          </a:bodyPr>
          <a:lstStyle/>
          <a:p>
            <a:r>
              <a:rPr lang="en-US" altLang="zh-CN" sz="2800" dirty="0">
                <a:solidFill>
                  <a:schemeClr val="bg1"/>
                </a:solidFill>
                <a:cs typeface="+mn-ea"/>
                <a:sym typeface="+mn-lt"/>
              </a:rPr>
              <a:t>03</a:t>
            </a:r>
            <a:endParaRPr lang="zh-CN" altLang="en-US" sz="2800" dirty="0">
              <a:solidFill>
                <a:schemeClr val="bg1"/>
              </a:solidFill>
              <a:cs typeface="+mn-ea"/>
              <a:sym typeface="+mn-lt"/>
            </a:endParaRPr>
          </a:p>
        </p:txBody>
      </p:sp>
      <p:sp>
        <p:nvSpPr>
          <p:cNvPr id="34" name="KSO_Shape"/>
          <p:cNvSpPr>
            <a:spLocks noChangeArrowheads="1"/>
          </p:cNvSpPr>
          <p:nvPr/>
        </p:nvSpPr>
        <p:spPr bwMode="auto">
          <a:xfrm>
            <a:off x="3443618" y="4105215"/>
            <a:ext cx="451840" cy="376534"/>
          </a:xfrm>
          <a:custGeom>
            <a:avLst/>
            <a:gdLst/>
            <a:ahLst/>
            <a:cxnLst/>
            <a:rect l="0" t="0" r="r" b="b"/>
            <a:pathLst>
              <a:path w="1450975" h="1209675">
                <a:moveTo>
                  <a:pt x="180975" y="182562"/>
                </a:moveTo>
                <a:lnTo>
                  <a:pt x="1270000" y="182562"/>
                </a:lnTo>
                <a:lnTo>
                  <a:pt x="1270000" y="725487"/>
                </a:lnTo>
                <a:lnTo>
                  <a:pt x="180975" y="725487"/>
                </a:lnTo>
                <a:lnTo>
                  <a:pt x="180975" y="182562"/>
                </a:lnTo>
                <a:close/>
                <a:moveTo>
                  <a:pt x="120672" y="120703"/>
                </a:moveTo>
                <a:lnTo>
                  <a:pt x="120672" y="785892"/>
                </a:lnTo>
                <a:lnTo>
                  <a:pt x="1330039" y="785892"/>
                </a:lnTo>
                <a:lnTo>
                  <a:pt x="1330039" y="120703"/>
                </a:lnTo>
                <a:lnTo>
                  <a:pt x="120672" y="120703"/>
                </a:lnTo>
                <a:close/>
                <a:moveTo>
                  <a:pt x="114585" y="0"/>
                </a:moveTo>
                <a:lnTo>
                  <a:pt x="120672" y="0"/>
                </a:lnTo>
                <a:lnTo>
                  <a:pt x="1330039" y="0"/>
                </a:lnTo>
                <a:lnTo>
                  <a:pt x="1336390" y="0"/>
                </a:lnTo>
                <a:lnTo>
                  <a:pt x="1342476" y="529"/>
                </a:lnTo>
                <a:lnTo>
                  <a:pt x="1348298" y="1059"/>
                </a:lnTo>
                <a:lnTo>
                  <a:pt x="1354385" y="2382"/>
                </a:lnTo>
                <a:lnTo>
                  <a:pt x="1360207" y="3441"/>
                </a:lnTo>
                <a:lnTo>
                  <a:pt x="1366028" y="5294"/>
                </a:lnTo>
                <a:lnTo>
                  <a:pt x="1371586" y="7147"/>
                </a:lnTo>
                <a:lnTo>
                  <a:pt x="1376878" y="9264"/>
                </a:lnTo>
                <a:lnTo>
                  <a:pt x="1382436" y="11911"/>
                </a:lnTo>
                <a:lnTo>
                  <a:pt x="1387728" y="14558"/>
                </a:lnTo>
                <a:lnTo>
                  <a:pt x="1392492" y="17205"/>
                </a:lnTo>
                <a:lnTo>
                  <a:pt x="1397784" y="20646"/>
                </a:lnTo>
                <a:lnTo>
                  <a:pt x="1402283" y="24087"/>
                </a:lnTo>
                <a:lnTo>
                  <a:pt x="1406782" y="27529"/>
                </a:lnTo>
                <a:lnTo>
                  <a:pt x="1411545" y="31234"/>
                </a:lnTo>
                <a:lnTo>
                  <a:pt x="1415515" y="35205"/>
                </a:lnTo>
                <a:lnTo>
                  <a:pt x="1419749" y="39440"/>
                </a:lnTo>
                <a:lnTo>
                  <a:pt x="1423454" y="44205"/>
                </a:lnTo>
                <a:lnTo>
                  <a:pt x="1426894" y="48705"/>
                </a:lnTo>
                <a:lnTo>
                  <a:pt x="1430334" y="53204"/>
                </a:lnTo>
                <a:lnTo>
                  <a:pt x="1433510" y="58234"/>
                </a:lnTo>
                <a:lnTo>
                  <a:pt x="1436420" y="63263"/>
                </a:lnTo>
                <a:lnTo>
                  <a:pt x="1439067" y="68557"/>
                </a:lnTo>
                <a:lnTo>
                  <a:pt x="1441713" y="73586"/>
                </a:lnTo>
                <a:lnTo>
                  <a:pt x="1443830" y="79145"/>
                </a:lnTo>
                <a:lnTo>
                  <a:pt x="1445683" y="84968"/>
                </a:lnTo>
                <a:lnTo>
                  <a:pt x="1447006" y="90792"/>
                </a:lnTo>
                <a:lnTo>
                  <a:pt x="1448594" y="96615"/>
                </a:lnTo>
                <a:lnTo>
                  <a:pt x="1449652" y="102438"/>
                </a:lnTo>
                <a:lnTo>
                  <a:pt x="1450446" y="108527"/>
                </a:lnTo>
                <a:lnTo>
                  <a:pt x="1450711" y="114615"/>
                </a:lnTo>
                <a:lnTo>
                  <a:pt x="1450975" y="120703"/>
                </a:lnTo>
                <a:lnTo>
                  <a:pt x="1450975" y="785892"/>
                </a:lnTo>
                <a:lnTo>
                  <a:pt x="1450711" y="792245"/>
                </a:lnTo>
                <a:lnTo>
                  <a:pt x="1450446" y="798333"/>
                </a:lnTo>
                <a:lnTo>
                  <a:pt x="1449652" y="804421"/>
                </a:lnTo>
                <a:lnTo>
                  <a:pt x="1448594" y="810244"/>
                </a:lnTo>
                <a:lnTo>
                  <a:pt x="1447006" y="816068"/>
                </a:lnTo>
                <a:lnTo>
                  <a:pt x="1445683" y="821891"/>
                </a:lnTo>
                <a:lnTo>
                  <a:pt x="1443830" y="827714"/>
                </a:lnTo>
                <a:lnTo>
                  <a:pt x="1441713" y="833008"/>
                </a:lnTo>
                <a:lnTo>
                  <a:pt x="1439067" y="838302"/>
                </a:lnTo>
                <a:lnTo>
                  <a:pt x="1436420" y="843596"/>
                </a:lnTo>
                <a:lnTo>
                  <a:pt x="1433510" y="848626"/>
                </a:lnTo>
                <a:lnTo>
                  <a:pt x="1430334" y="853655"/>
                </a:lnTo>
                <a:lnTo>
                  <a:pt x="1426894" y="858155"/>
                </a:lnTo>
                <a:lnTo>
                  <a:pt x="1423454" y="862655"/>
                </a:lnTo>
                <a:lnTo>
                  <a:pt x="1419749" y="867419"/>
                </a:lnTo>
                <a:lnTo>
                  <a:pt x="1415515" y="871654"/>
                </a:lnTo>
                <a:lnTo>
                  <a:pt x="1411545" y="875625"/>
                </a:lnTo>
                <a:lnTo>
                  <a:pt x="1406782" y="879331"/>
                </a:lnTo>
                <a:lnTo>
                  <a:pt x="1402283" y="883036"/>
                </a:lnTo>
                <a:lnTo>
                  <a:pt x="1397784" y="886213"/>
                </a:lnTo>
                <a:lnTo>
                  <a:pt x="1392492" y="889389"/>
                </a:lnTo>
                <a:lnTo>
                  <a:pt x="1387728" y="892301"/>
                </a:lnTo>
                <a:lnTo>
                  <a:pt x="1382436" y="895213"/>
                </a:lnTo>
                <a:lnTo>
                  <a:pt x="1376878" y="897595"/>
                </a:lnTo>
                <a:lnTo>
                  <a:pt x="1371586" y="899713"/>
                </a:lnTo>
                <a:lnTo>
                  <a:pt x="1366028" y="901565"/>
                </a:lnTo>
                <a:lnTo>
                  <a:pt x="1360207" y="903418"/>
                </a:lnTo>
                <a:lnTo>
                  <a:pt x="1354385" y="904477"/>
                </a:lnTo>
                <a:lnTo>
                  <a:pt x="1348298" y="905536"/>
                </a:lnTo>
                <a:lnTo>
                  <a:pt x="1342476" y="906330"/>
                </a:lnTo>
                <a:lnTo>
                  <a:pt x="1336390" y="907124"/>
                </a:lnTo>
                <a:lnTo>
                  <a:pt x="1330039" y="907124"/>
                </a:lnTo>
                <a:lnTo>
                  <a:pt x="846557" y="907124"/>
                </a:lnTo>
                <a:lnTo>
                  <a:pt x="846557" y="1149059"/>
                </a:lnTo>
                <a:lnTo>
                  <a:pt x="906893" y="1149059"/>
                </a:lnTo>
                <a:lnTo>
                  <a:pt x="909539" y="1149059"/>
                </a:lnTo>
                <a:lnTo>
                  <a:pt x="912715" y="1149588"/>
                </a:lnTo>
                <a:lnTo>
                  <a:pt x="916155" y="1150118"/>
                </a:lnTo>
                <a:lnTo>
                  <a:pt x="920918" y="1150912"/>
                </a:lnTo>
                <a:lnTo>
                  <a:pt x="925946" y="1152235"/>
                </a:lnTo>
                <a:lnTo>
                  <a:pt x="931503" y="1154088"/>
                </a:lnTo>
                <a:lnTo>
                  <a:pt x="937061" y="1156471"/>
                </a:lnTo>
                <a:lnTo>
                  <a:pt x="942883" y="1159912"/>
                </a:lnTo>
                <a:lnTo>
                  <a:pt x="945529" y="1161765"/>
                </a:lnTo>
                <a:lnTo>
                  <a:pt x="948175" y="1163882"/>
                </a:lnTo>
                <a:lnTo>
                  <a:pt x="950821" y="1166265"/>
                </a:lnTo>
                <a:lnTo>
                  <a:pt x="953468" y="1168647"/>
                </a:lnTo>
                <a:lnTo>
                  <a:pt x="955585" y="1171559"/>
                </a:lnTo>
                <a:lnTo>
                  <a:pt x="957967" y="1174470"/>
                </a:lnTo>
                <a:lnTo>
                  <a:pt x="959819" y="1177911"/>
                </a:lnTo>
                <a:lnTo>
                  <a:pt x="961671" y="1181617"/>
                </a:lnTo>
                <a:lnTo>
                  <a:pt x="963524" y="1185588"/>
                </a:lnTo>
                <a:lnTo>
                  <a:pt x="964847" y="1189558"/>
                </a:lnTo>
                <a:lnTo>
                  <a:pt x="965905" y="1194058"/>
                </a:lnTo>
                <a:lnTo>
                  <a:pt x="966699" y="1198823"/>
                </a:lnTo>
                <a:lnTo>
                  <a:pt x="967229" y="1204117"/>
                </a:lnTo>
                <a:lnTo>
                  <a:pt x="967493" y="1209675"/>
                </a:lnTo>
                <a:lnTo>
                  <a:pt x="483482" y="1209675"/>
                </a:lnTo>
                <a:lnTo>
                  <a:pt x="484011" y="1206763"/>
                </a:lnTo>
                <a:lnTo>
                  <a:pt x="484011" y="1204117"/>
                </a:lnTo>
                <a:lnTo>
                  <a:pt x="484541" y="1200146"/>
                </a:lnTo>
                <a:lnTo>
                  <a:pt x="485334" y="1195646"/>
                </a:lnTo>
                <a:lnTo>
                  <a:pt x="486922" y="1190352"/>
                </a:lnTo>
                <a:lnTo>
                  <a:pt x="488775" y="1184793"/>
                </a:lnTo>
                <a:lnTo>
                  <a:pt x="491156" y="1179499"/>
                </a:lnTo>
                <a:lnTo>
                  <a:pt x="494332" y="1173676"/>
                </a:lnTo>
                <a:lnTo>
                  <a:pt x="496449" y="1170764"/>
                </a:lnTo>
                <a:lnTo>
                  <a:pt x="498566" y="1168117"/>
                </a:lnTo>
                <a:lnTo>
                  <a:pt x="500683" y="1165735"/>
                </a:lnTo>
                <a:lnTo>
                  <a:pt x="503329" y="1163353"/>
                </a:lnTo>
                <a:lnTo>
                  <a:pt x="506240" y="1160706"/>
                </a:lnTo>
                <a:lnTo>
                  <a:pt x="509151" y="1158588"/>
                </a:lnTo>
                <a:lnTo>
                  <a:pt x="512592" y="1156471"/>
                </a:lnTo>
                <a:lnTo>
                  <a:pt x="516296" y="1154618"/>
                </a:lnTo>
                <a:lnTo>
                  <a:pt x="520001" y="1153030"/>
                </a:lnTo>
                <a:lnTo>
                  <a:pt x="524235" y="1151706"/>
                </a:lnTo>
                <a:lnTo>
                  <a:pt x="528734" y="1150383"/>
                </a:lnTo>
                <a:lnTo>
                  <a:pt x="533497" y="1149853"/>
                </a:lnTo>
                <a:lnTo>
                  <a:pt x="538525" y="1149059"/>
                </a:lnTo>
                <a:lnTo>
                  <a:pt x="544083" y="1149059"/>
                </a:lnTo>
                <a:lnTo>
                  <a:pt x="604683" y="1149059"/>
                </a:lnTo>
                <a:lnTo>
                  <a:pt x="604683" y="907124"/>
                </a:lnTo>
                <a:lnTo>
                  <a:pt x="120672" y="907124"/>
                </a:lnTo>
                <a:lnTo>
                  <a:pt x="114585" y="907124"/>
                </a:lnTo>
                <a:lnTo>
                  <a:pt x="108499" y="906330"/>
                </a:lnTo>
                <a:lnTo>
                  <a:pt x="102412" y="905536"/>
                </a:lnTo>
                <a:lnTo>
                  <a:pt x="96590" y="904477"/>
                </a:lnTo>
                <a:lnTo>
                  <a:pt x="90769" y="903418"/>
                </a:lnTo>
                <a:lnTo>
                  <a:pt x="84947" y="901565"/>
                </a:lnTo>
                <a:lnTo>
                  <a:pt x="79389" y="899713"/>
                </a:lnTo>
                <a:lnTo>
                  <a:pt x="73832" y="897595"/>
                </a:lnTo>
                <a:lnTo>
                  <a:pt x="68539" y="895213"/>
                </a:lnTo>
                <a:lnTo>
                  <a:pt x="63511" y="892301"/>
                </a:lnTo>
                <a:lnTo>
                  <a:pt x="58219" y="889389"/>
                </a:lnTo>
                <a:lnTo>
                  <a:pt x="53455" y="886213"/>
                </a:lnTo>
                <a:lnTo>
                  <a:pt x="48427" y="883036"/>
                </a:lnTo>
                <a:lnTo>
                  <a:pt x="43929" y="879331"/>
                </a:lnTo>
                <a:lnTo>
                  <a:pt x="39695" y="875625"/>
                </a:lnTo>
                <a:lnTo>
                  <a:pt x="35461" y="871654"/>
                </a:lnTo>
                <a:lnTo>
                  <a:pt x="31491" y="867419"/>
                </a:lnTo>
                <a:lnTo>
                  <a:pt x="27786" y="862655"/>
                </a:lnTo>
                <a:lnTo>
                  <a:pt x="24081" y="858155"/>
                </a:lnTo>
                <a:lnTo>
                  <a:pt x="20641" y="853655"/>
                </a:lnTo>
                <a:lnTo>
                  <a:pt x="17466" y="848626"/>
                </a:lnTo>
                <a:lnTo>
                  <a:pt x="14555" y="843596"/>
                </a:lnTo>
                <a:lnTo>
                  <a:pt x="11908" y="838302"/>
                </a:lnTo>
                <a:lnTo>
                  <a:pt x="9527" y="833008"/>
                </a:lnTo>
                <a:lnTo>
                  <a:pt x="7410" y="827714"/>
                </a:lnTo>
                <a:lnTo>
                  <a:pt x="5557" y="821891"/>
                </a:lnTo>
                <a:lnTo>
                  <a:pt x="3705" y="816068"/>
                </a:lnTo>
                <a:lnTo>
                  <a:pt x="2382" y="810244"/>
                </a:lnTo>
                <a:lnTo>
                  <a:pt x="1323" y="804421"/>
                </a:lnTo>
                <a:lnTo>
                  <a:pt x="529" y="798333"/>
                </a:lnTo>
                <a:lnTo>
                  <a:pt x="0" y="792245"/>
                </a:lnTo>
                <a:lnTo>
                  <a:pt x="0" y="785892"/>
                </a:lnTo>
                <a:lnTo>
                  <a:pt x="0" y="120703"/>
                </a:lnTo>
                <a:lnTo>
                  <a:pt x="0" y="114615"/>
                </a:lnTo>
                <a:lnTo>
                  <a:pt x="529" y="108527"/>
                </a:lnTo>
                <a:lnTo>
                  <a:pt x="1323" y="102438"/>
                </a:lnTo>
                <a:lnTo>
                  <a:pt x="2382" y="96615"/>
                </a:lnTo>
                <a:lnTo>
                  <a:pt x="3705" y="90792"/>
                </a:lnTo>
                <a:lnTo>
                  <a:pt x="5557" y="84968"/>
                </a:lnTo>
                <a:lnTo>
                  <a:pt x="7410" y="79145"/>
                </a:lnTo>
                <a:lnTo>
                  <a:pt x="9527" y="73586"/>
                </a:lnTo>
                <a:lnTo>
                  <a:pt x="11908" y="68557"/>
                </a:lnTo>
                <a:lnTo>
                  <a:pt x="14555" y="63263"/>
                </a:lnTo>
                <a:lnTo>
                  <a:pt x="17466" y="58234"/>
                </a:lnTo>
                <a:lnTo>
                  <a:pt x="20641" y="53204"/>
                </a:lnTo>
                <a:lnTo>
                  <a:pt x="24081" y="48705"/>
                </a:lnTo>
                <a:lnTo>
                  <a:pt x="27786" y="44205"/>
                </a:lnTo>
                <a:lnTo>
                  <a:pt x="31491" y="39440"/>
                </a:lnTo>
                <a:lnTo>
                  <a:pt x="35461" y="35205"/>
                </a:lnTo>
                <a:lnTo>
                  <a:pt x="39695" y="31234"/>
                </a:lnTo>
                <a:lnTo>
                  <a:pt x="43929" y="27529"/>
                </a:lnTo>
                <a:lnTo>
                  <a:pt x="48427" y="24087"/>
                </a:lnTo>
                <a:lnTo>
                  <a:pt x="53455" y="20646"/>
                </a:lnTo>
                <a:lnTo>
                  <a:pt x="58219" y="17205"/>
                </a:lnTo>
                <a:lnTo>
                  <a:pt x="63511" y="14558"/>
                </a:lnTo>
                <a:lnTo>
                  <a:pt x="68539" y="11911"/>
                </a:lnTo>
                <a:lnTo>
                  <a:pt x="73832" y="9264"/>
                </a:lnTo>
                <a:lnTo>
                  <a:pt x="79389" y="7147"/>
                </a:lnTo>
                <a:lnTo>
                  <a:pt x="84947" y="5294"/>
                </a:lnTo>
                <a:lnTo>
                  <a:pt x="90769" y="3441"/>
                </a:lnTo>
                <a:lnTo>
                  <a:pt x="96590" y="2382"/>
                </a:lnTo>
                <a:lnTo>
                  <a:pt x="102412" y="1059"/>
                </a:lnTo>
                <a:lnTo>
                  <a:pt x="108499" y="529"/>
                </a:lnTo>
                <a:lnTo>
                  <a:pt x="114585" y="0"/>
                </a:lnTo>
                <a:close/>
              </a:path>
            </a:pathLst>
          </a:custGeom>
          <a:solidFill>
            <a:schemeClr val="bg1"/>
          </a:solidFill>
          <a:ln>
            <a:noFill/>
          </a:ln>
        </p:spPr>
        <p:txBody>
          <a:bodyPr bIns="432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sz="1350" dirty="0">
              <a:solidFill>
                <a:srgbClr val="FFFFFF"/>
              </a:solidFill>
              <a:latin typeface="+mn-lt"/>
              <a:ea typeface="+mn-ea"/>
              <a:cs typeface="+mn-ea"/>
              <a:sym typeface="+mn-lt"/>
            </a:endParaRPr>
          </a:p>
        </p:txBody>
      </p:sp>
      <p:sp>
        <p:nvSpPr>
          <p:cNvPr id="38" name="圆角矩形 37"/>
          <p:cNvSpPr/>
          <p:nvPr/>
        </p:nvSpPr>
        <p:spPr>
          <a:xfrm flipH="1">
            <a:off x="7770505" y="2686351"/>
            <a:ext cx="2234864" cy="985476"/>
          </a:xfrm>
          <a:prstGeom prst="roundRect">
            <a:avLst>
              <a:gd name="adj" fmla="val 50000"/>
            </a:avLst>
          </a:prstGeom>
          <a:gradFill>
            <a:gsLst>
              <a:gs pos="0">
                <a:srgbClr val="0070C0"/>
              </a:gs>
              <a:gs pos="100000">
                <a:srgbClr val="00B0F0"/>
              </a:gs>
            </a:gsLst>
            <a:lin ang="5400000" scaled="1"/>
          </a:gradFill>
          <a:ln w="28575" cap="flat">
            <a:gradFill>
              <a:gsLst>
                <a:gs pos="0">
                  <a:srgbClr val="00B0F0"/>
                </a:gs>
                <a:gs pos="100000">
                  <a:srgbClr val="0070C0"/>
                </a:gs>
              </a:gsLst>
              <a:lin ang="5400000" scaled="1"/>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grpSp>
        <p:nvGrpSpPr>
          <p:cNvPr id="39" name="组合 38"/>
          <p:cNvGrpSpPr/>
          <p:nvPr/>
        </p:nvGrpSpPr>
        <p:grpSpPr>
          <a:xfrm flipH="1">
            <a:off x="8889893" y="2786664"/>
            <a:ext cx="1008373" cy="766040"/>
            <a:chOff x="8489270" y="3429000"/>
            <a:chExt cx="1968500" cy="1495425"/>
          </a:xfrm>
        </p:grpSpPr>
        <p:sp>
          <p:nvSpPr>
            <p:cNvPr id="44" name="Freeform 5"/>
            <p:cNvSpPr/>
            <p:nvPr/>
          </p:nvSpPr>
          <p:spPr bwMode="auto">
            <a:xfrm>
              <a:off x="8489270" y="3429000"/>
              <a:ext cx="1968500" cy="1495425"/>
            </a:xfrm>
            <a:custGeom>
              <a:avLst/>
              <a:gdLst>
                <a:gd name="T0" fmla="*/ 206 w 524"/>
                <a:gd name="T1" fmla="*/ 0 h 398"/>
                <a:gd name="T2" fmla="*/ 199 w 524"/>
                <a:gd name="T3" fmla="*/ 0 h 398"/>
                <a:gd name="T4" fmla="*/ 195 w 524"/>
                <a:gd name="T5" fmla="*/ 0 h 398"/>
                <a:gd name="T6" fmla="*/ 190 w 524"/>
                <a:gd name="T7" fmla="*/ 0 h 398"/>
                <a:gd name="T8" fmla="*/ 0 w 524"/>
                <a:gd name="T9" fmla="*/ 199 h 398"/>
                <a:gd name="T10" fmla="*/ 190 w 524"/>
                <a:gd name="T11" fmla="*/ 398 h 398"/>
                <a:gd name="T12" fmla="*/ 195 w 524"/>
                <a:gd name="T13" fmla="*/ 398 h 398"/>
                <a:gd name="T14" fmla="*/ 199 w 524"/>
                <a:gd name="T15" fmla="*/ 398 h 398"/>
                <a:gd name="T16" fmla="*/ 206 w 524"/>
                <a:gd name="T17" fmla="*/ 398 h 398"/>
                <a:gd name="T18" fmla="*/ 524 w 524"/>
                <a:gd name="T19" fmla="*/ 199 h 398"/>
                <a:gd name="T20" fmla="*/ 206 w 524"/>
                <a:gd name="T21" fmla="*/ 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4" h="398">
                  <a:moveTo>
                    <a:pt x="206" y="0"/>
                  </a:moveTo>
                  <a:cubicBezTo>
                    <a:pt x="204" y="0"/>
                    <a:pt x="201" y="0"/>
                    <a:pt x="199" y="0"/>
                  </a:cubicBezTo>
                  <a:cubicBezTo>
                    <a:pt x="198" y="0"/>
                    <a:pt x="196" y="0"/>
                    <a:pt x="195" y="0"/>
                  </a:cubicBezTo>
                  <a:cubicBezTo>
                    <a:pt x="193" y="0"/>
                    <a:pt x="192" y="0"/>
                    <a:pt x="190" y="0"/>
                  </a:cubicBezTo>
                  <a:cubicBezTo>
                    <a:pt x="84" y="5"/>
                    <a:pt x="0" y="92"/>
                    <a:pt x="0" y="199"/>
                  </a:cubicBezTo>
                  <a:cubicBezTo>
                    <a:pt x="0" y="306"/>
                    <a:pt x="84" y="393"/>
                    <a:pt x="190" y="398"/>
                  </a:cubicBezTo>
                  <a:cubicBezTo>
                    <a:pt x="192" y="398"/>
                    <a:pt x="193" y="398"/>
                    <a:pt x="195" y="398"/>
                  </a:cubicBezTo>
                  <a:cubicBezTo>
                    <a:pt x="196" y="398"/>
                    <a:pt x="198" y="398"/>
                    <a:pt x="199" y="398"/>
                  </a:cubicBezTo>
                  <a:cubicBezTo>
                    <a:pt x="201" y="398"/>
                    <a:pt x="204" y="398"/>
                    <a:pt x="206" y="398"/>
                  </a:cubicBezTo>
                  <a:cubicBezTo>
                    <a:pt x="401" y="394"/>
                    <a:pt x="524" y="199"/>
                    <a:pt x="524" y="199"/>
                  </a:cubicBezTo>
                  <a:cubicBezTo>
                    <a:pt x="524" y="199"/>
                    <a:pt x="401" y="4"/>
                    <a:pt x="206" y="0"/>
                  </a:cubicBezTo>
                  <a:close/>
                </a:path>
              </a:pathLst>
            </a:custGeom>
            <a:gradFill>
              <a:gsLst>
                <a:gs pos="0">
                  <a:srgbClr val="DDDDDD"/>
                </a:gs>
                <a:gs pos="100000">
                  <a:schemeClr val="bg1"/>
                </a:gs>
              </a:gsLst>
              <a:lin ang="5400000" scaled="1"/>
            </a:gradFill>
            <a:ln w="28575" cap="flat">
              <a:gradFill>
                <a:gsLst>
                  <a:gs pos="0">
                    <a:schemeClr val="bg1"/>
                  </a:gs>
                  <a:gs pos="100000">
                    <a:srgbClr val="DDDDDD"/>
                  </a:gs>
                </a:gsLst>
                <a:lin ang="5400000" scaled="1"/>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sp>
          <p:nvSpPr>
            <p:cNvPr id="45" name="椭圆 44"/>
            <p:cNvSpPr/>
            <p:nvPr/>
          </p:nvSpPr>
          <p:spPr>
            <a:xfrm>
              <a:off x="8676319" y="3601786"/>
              <a:ext cx="1149852" cy="1149852"/>
            </a:xfrm>
            <a:prstGeom prst="ellipse">
              <a:avLst/>
            </a:prstGeom>
            <a:solidFill>
              <a:srgbClr val="00B0F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sp>
        <p:nvSpPr>
          <p:cNvPr id="40" name="文本框 39"/>
          <p:cNvSpPr txBox="1"/>
          <p:nvPr/>
        </p:nvSpPr>
        <p:spPr>
          <a:xfrm flipH="1">
            <a:off x="9242478" y="2917479"/>
            <a:ext cx="558166" cy="523220"/>
          </a:xfrm>
          <a:prstGeom prst="rect">
            <a:avLst/>
          </a:prstGeom>
          <a:noFill/>
        </p:spPr>
        <p:txBody>
          <a:bodyPr wrap="none" rtlCol="0">
            <a:spAutoFit/>
          </a:bodyPr>
          <a:lstStyle/>
          <a:p>
            <a:r>
              <a:rPr lang="en-US" altLang="zh-CN" sz="2800" dirty="0">
                <a:solidFill>
                  <a:schemeClr val="bg1"/>
                </a:solidFill>
                <a:cs typeface="+mn-ea"/>
                <a:sym typeface="+mn-lt"/>
              </a:rPr>
              <a:t>02</a:t>
            </a:r>
            <a:endParaRPr lang="zh-CN" altLang="en-US" sz="2800" dirty="0">
              <a:solidFill>
                <a:schemeClr val="bg1"/>
              </a:solidFill>
              <a:cs typeface="+mn-ea"/>
              <a:sym typeface="+mn-lt"/>
            </a:endParaRPr>
          </a:p>
        </p:txBody>
      </p:sp>
      <p:grpSp>
        <p:nvGrpSpPr>
          <p:cNvPr id="41" name="组合 40"/>
          <p:cNvGrpSpPr/>
          <p:nvPr/>
        </p:nvGrpSpPr>
        <p:grpSpPr>
          <a:xfrm>
            <a:off x="8116745" y="2906737"/>
            <a:ext cx="517612" cy="525894"/>
            <a:chOff x="3619500" y="2434166"/>
            <a:chExt cx="590102" cy="599547"/>
          </a:xfrm>
          <a:solidFill>
            <a:schemeClr val="bg1"/>
          </a:solidFill>
        </p:grpSpPr>
        <p:sp>
          <p:nvSpPr>
            <p:cNvPr id="42" name="KSO_Shape"/>
            <p:cNvSpPr/>
            <p:nvPr/>
          </p:nvSpPr>
          <p:spPr>
            <a:xfrm>
              <a:off x="3619500" y="2476500"/>
              <a:ext cx="557213" cy="557213"/>
            </a:xfrm>
            <a:prstGeom prst="pi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350">
                <a:solidFill>
                  <a:srgbClr val="FFFFFF"/>
                </a:solidFill>
                <a:cs typeface="+mn-ea"/>
                <a:sym typeface="+mn-lt"/>
              </a:endParaRPr>
            </a:p>
          </p:txBody>
        </p:sp>
        <p:sp>
          <p:nvSpPr>
            <p:cNvPr id="43" name="KSO_Shape"/>
            <p:cNvSpPr/>
            <p:nvPr/>
          </p:nvSpPr>
          <p:spPr>
            <a:xfrm rot="17344659">
              <a:off x="3652389" y="2434166"/>
              <a:ext cx="557213" cy="557213"/>
            </a:xfrm>
            <a:prstGeom prst="pie">
              <a:avLst>
                <a:gd name="adj1" fmla="val 20720386"/>
                <a:gd name="adj2" fmla="val 40651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350">
                <a:solidFill>
                  <a:srgbClr val="FFFFFF"/>
                </a:solidFill>
                <a:cs typeface="+mn-ea"/>
                <a:sym typeface="+mn-lt"/>
              </a:endParaRPr>
            </a:p>
          </p:txBody>
        </p:sp>
      </p:grpSp>
      <p:sp>
        <p:nvSpPr>
          <p:cNvPr id="46" name="TextBox 4">
            <a:extLst>
              <a:ext uri="{FF2B5EF4-FFF2-40B4-BE49-F238E27FC236}">
                <a16:creationId xmlns:a16="http://schemas.microsoft.com/office/drawing/2014/main" id="{EB684C7E-20A7-9694-F2D4-694B922B40F4}"/>
              </a:ext>
            </a:extLst>
          </p:cNvPr>
          <p:cNvSpPr txBox="1"/>
          <p:nvPr/>
        </p:nvSpPr>
        <p:spPr>
          <a:xfrm>
            <a:off x="0" y="0"/>
            <a:ext cx="45365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900"/>
                            </p:stCondLst>
                            <p:childTnLst>
                              <p:par>
                                <p:cTn id="9" presetID="1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ppt_x</p:attrName>
                                        </p:attrNameLst>
                                      </p:cBhvr>
                                      <p:tavLst>
                                        <p:tav tm="0">
                                          <p:val>
                                            <p:strVal val="#ppt_x-#ppt_w*1.125000"/>
                                          </p:val>
                                        </p:tav>
                                        <p:tav tm="100000">
                                          <p:val>
                                            <p:strVal val="#ppt_x"/>
                                          </p:val>
                                        </p:tav>
                                      </p:tavLst>
                                    </p:anim>
                                    <p:animEffect transition="in" filter="wipe(right)">
                                      <p:cBhvr>
                                        <p:cTn id="12" dur="500"/>
                                        <p:tgtEl>
                                          <p:spTgt spid="5"/>
                                        </p:tgtEl>
                                      </p:cBhvr>
                                    </p:animEffect>
                                  </p:childTnLst>
                                </p:cTn>
                              </p:par>
                            </p:childTnLst>
                          </p:cTn>
                        </p:par>
                        <p:par>
                          <p:cTn id="13" fill="hold">
                            <p:stCondLst>
                              <p:cond delay="1400"/>
                            </p:stCondLst>
                            <p:childTnLst>
                              <p:par>
                                <p:cTn id="14" presetID="12" presetClass="entr" presetSubtype="2"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p:tgtEl>
                                          <p:spTgt spid="8"/>
                                        </p:tgtEl>
                                        <p:attrNameLst>
                                          <p:attrName>ppt_x</p:attrName>
                                        </p:attrNameLst>
                                      </p:cBhvr>
                                      <p:tavLst>
                                        <p:tav tm="0">
                                          <p:val>
                                            <p:strVal val="#ppt_x+#ppt_w*1.125000"/>
                                          </p:val>
                                        </p:tav>
                                        <p:tav tm="100000">
                                          <p:val>
                                            <p:strVal val="#ppt_x"/>
                                          </p:val>
                                        </p:tav>
                                      </p:tavLst>
                                    </p:anim>
                                    <p:animEffect transition="in" filter="wipe(left)">
                                      <p:cBhvr>
                                        <p:cTn id="17" dur="500"/>
                                        <p:tgtEl>
                                          <p:spTgt spid="8"/>
                                        </p:tgtEl>
                                      </p:cBhvr>
                                    </p:animEffect>
                                  </p:childTnLst>
                                </p:cTn>
                              </p:par>
                            </p:childTnLst>
                          </p:cTn>
                        </p:par>
                        <p:par>
                          <p:cTn id="18" fill="hold">
                            <p:stCondLst>
                              <p:cond delay="1900"/>
                            </p:stCondLst>
                            <p:childTnLst>
                              <p:par>
                                <p:cTn id="19" presetID="12" presetClass="entr" presetSubtype="8"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p:tgtEl>
                                          <p:spTgt spid="11"/>
                                        </p:tgtEl>
                                        <p:attrNameLst>
                                          <p:attrName>ppt_x</p:attrName>
                                        </p:attrNameLst>
                                      </p:cBhvr>
                                      <p:tavLst>
                                        <p:tav tm="0">
                                          <p:val>
                                            <p:strVal val="#ppt_x-#ppt_w*1.125000"/>
                                          </p:val>
                                        </p:tav>
                                        <p:tav tm="100000">
                                          <p:val>
                                            <p:strVal val="#ppt_x"/>
                                          </p:val>
                                        </p:tav>
                                      </p:tavLst>
                                    </p:anim>
                                    <p:animEffect transition="in" filter="wipe(right)">
                                      <p:cBhvr>
                                        <p:cTn id="22" dur="500"/>
                                        <p:tgtEl>
                                          <p:spTgt spid="11"/>
                                        </p:tgtEl>
                                      </p:cBhvr>
                                    </p:animEffect>
                                  </p:childTnLst>
                                </p:cTn>
                              </p:par>
                            </p:childTnLst>
                          </p:cTn>
                        </p:par>
                        <p:par>
                          <p:cTn id="23" fill="hold">
                            <p:stCondLst>
                              <p:cond delay="2400"/>
                            </p:stCondLst>
                            <p:childTnLst>
                              <p:par>
                                <p:cTn id="24" presetID="12" presetClass="entr" presetSubtype="2"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p:tgtEl>
                                          <p:spTgt spid="14"/>
                                        </p:tgtEl>
                                        <p:attrNameLst>
                                          <p:attrName>ppt_x</p:attrName>
                                        </p:attrNameLst>
                                      </p:cBhvr>
                                      <p:tavLst>
                                        <p:tav tm="0">
                                          <p:val>
                                            <p:strVal val="#ppt_x+#ppt_w*1.125000"/>
                                          </p:val>
                                        </p:tav>
                                        <p:tav tm="100000">
                                          <p:val>
                                            <p:strVal val="#ppt_x"/>
                                          </p:val>
                                        </p:tav>
                                      </p:tavLst>
                                    </p:anim>
                                    <p:animEffect transition="in" filter="wipe(left)">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lnSpcReduction="10000"/>
          </a:bodyPr>
          <a:lstStyle/>
          <a:p>
            <a:r>
              <a:rPr lang="en-US" altLang="zh-CN" dirty="0"/>
              <a:t>abstract</a:t>
            </a:r>
            <a:endParaRPr lang="zh-CN" altLang="en-US" dirty="0"/>
          </a:p>
        </p:txBody>
      </p:sp>
      <p:sp>
        <p:nvSpPr>
          <p:cNvPr id="8" name="文本框 7">
            <a:extLst>
              <a:ext uri="{FF2B5EF4-FFF2-40B4-BE49-F238E27FC236}">
                <a16:creationId xmlns:a16="http://schemas.microsoft.com/office/drawing/2014/main" id="{B26200E1-69D0-09BE-DB91-BCC56BEB2A9D}"/>
              </a:ext>
            </a:extLst>
          </p:cNvPr>
          <p:cNvSpPr txBox="1"/>
          <p:nvPr/>
        </p:nvSpPr>
        <p:spPr>
          <a:xfrm>
            <a:off x="916445" y="1443841"/>
            <a:ext cx="10359109" cy="3693319"/>
          </a:xfrm>
          <a:prstGeom prst="rect">
            <a:avLst/>
          </a:prstGeom>
          <a:noFill/>
        </p:spPr>
        <p:txBody>
          <a:bodyPr wrap="square">
            <a:spAutoFit/>
          </a:bodyPr>
          <a:lstStyle/>
          <a:p>
            <a:r>
              <a:rPr lang="en-US" altLang="zh-CN" sz="1800" dirty="0">
                <a:solidFill>
                  <a:srgbClr val="000000"/>
                </a:solidFill>
                <a:effectLst/>
                <a:latin typeface="Times New Roman" panose="02020603050405020304" pitchFamily="18" charset="0"/>
              </a:rPr>
              <a:t>	</a:t>
            </a:r>
            <a:r>
              <a:rPr lang="en-US" altLang="zh-CN" sz="1800" b="1" dirty="0">
                <a:solidFill>
                  <a:srgbClr val="000000"/>
                </a:solidFill>
                <a:effectLst/>
                <a:latin typeface="Times New Roman" panose="02020603050405020304" pitchFamily="18" charset="0"/>
              </a:rPr>
              <a:t>This paper presents a study of </a:t>
            </a:r>
            <a:r>
              <a:rPr lang="en-US" altLang="zh-CN" sz="1800" b="1" dirty="0">
                <a:solidFill>
                  <a:srgbClr val="FF0000"/>
                </a:solidFill>
                <a:effectLst/>
                <a:latin typeface="Times New Roman" panose="02020603050405020304" pitchFamily="18" charset="0"/>
              </a:rPr>
              <a:t>DDR4 DRAM faults </a:t>
            </a:r>
            <a:r>
              <a:rPr lang="en-US" altLang="zh-CN" sz="1800" b="1" dirty="0">
                <a:solidFill>
                  <a:srgbClr val="000000"/>
                </a:solidFill>
                <a:effectLst/>
                <a:latin typeface="Times New Roman" panose="02020603050405020304" pitchFamily="18" charset="0"/>
              </a:rPr>
              <a:t>in a large fleet of commodity servers, covering several billion memory device-hours of data. The </a:t>
            </a:r>
            <a:r>
              <a:rPr lang="en-US" altLang="zh-CN" sz="1800" b="1" dirty="0">
                <a:solidFill>
                  <a:srgbClr val="00B050"/>
                </a:solidFill>
                <a:effectLst/>
                <a:latin typeface="Times New Roman" panose="02020603050405020304" pitchFamily="18" charset="0"/>
              </a:rPr>
              <a:t>goal</a:t>
            </a:r>
            <a:r>
              <a:rPr lang="en-US" altLang="zh-CN" sz="1800" b="1" dirty="0">
                <a:solidFill>
                  <a:srgbClr val="000000"/>
                </a:solidFill>
                <a:effectLst/>
                <a:latin typeface="Times New Roman" panose="02020603050405020304" pitchFamily="18" charset="0"/>
              </a:rPr>
              <a:t> of this study is </a:t>
            </a:r>
            <a:r>
              <a:rPr lang="en-US" altLang="zh-CN" sz="1800" b="1" u="sng" dirty="0">
                <a:solidFill>
                  <a:srgbClr val="CA0000"/>
                </a:solidFill>
                <a:effectLst/>
                <a:latin typeface="Times New Roman" panose="02020603050405020304" pitchFamily="18" charset="0"/>
              </a:rPr>
              <a:t>to understand faults in DDR4 DRAM devices to measure the efficacy of existing hardware resilience techniques and aid in designing more resilient systems for future large-scale systems.</a:t>
            </a:r>
            <a:r>
              <a:rPr lang="en-US" altLang="zh-CN" sz="1800" b="1" dirty="0">
                <a:solidFill>
                  <a:srgbClr val="00B0F0"/>
                </a:solidFill>
                <a:effectLst/>
                <a:latin typeface="Times New Roman" panose="02020603050405020304" pitchFamily="18" charset="0"/>
              </a:rPr>
              <a:t> </a:t>
            </a:r>
            <a:endParaRPr lang="en-US" altLang="zh-CN" b="1" dirty="0">
              <a:solidFill>
                <a:srgbClr val="00B0F0"/>
              </a:solidFill>
              <a:latin typeface="Times New Roman" panose="02020603050405020304" pitchFamily="18" charset="0"/>
            </a:endParaRPr>
          </a:p>
          <a:p>
            <a:r>
              <a:rPr lang="en-US" altLang="zh-CN" sz="1800" b="1" dirty="0">
                <a:solidFill>
                  <a:srgbClr val="000000"/>
                </a:solidFill>
                <a:effectLst/>
                <a:latin typeface="Times New Roman" panose="02020603050405020304" pitchFamily="18" charset="0"/>
              </a:rPr>
              <a:t>	The study has several key findings about the fault characteristics of DDR4 DRAMs and adds several novel insights about system reliability to the existing literature. Specifically, the data show </a:t>
            </a:r>
            <a:r>
              <a:rPr lang="en-US" altLang="zh-CN" sz="1800" b="1" dirty="0">
                <a:solidFill>
                  <a:srgbClr val="FF0000"/>
                </a:solidFill>
                <a:effectLst/>
                <a:latin typeface="Times New Roman" panose="02020603050405020304" pitchFamily="18" charset="0"/>
              </a:rPr>
              <a:t>sixteen unique fault modes</a:t>
            </a:r>
            <a:r>
              <a:rPr lang="en-US" altLang="zh-CN" sz="1800" b="1" dirty="0">
                <a:solidFill>
                  <a:srgbClr val="000000"/>
                </a:solidFill>
                <a:effectLst/>
                <a:latin typeface="Times New Roman" panose="02020603050405020304" pitchFamily="18" charset="0"/>
              </a:rPr>
              <a:t> in the DDR4 DRAM under study, including several that have not been previously reported. Over 45% of the faults that occurred affected multiple DRAM bits. The time-to-failure characteristics of faults internal to the DRAM die differ from those external to the DRAM die. We also examine faults from multiple DRAM vendors, finding that fault rates vary by more than 1.34x among vendors. Finally, we use the data to compare </a:t>
            </a:r>
            <a:r>
              <a:rPr lang="en-US" altLang="zh-CN" sz="1800" b="1" dirty="0" err="1">
                <a:solidFill>
                  <a:srgbClr val="000000"/>
                </a:solidFill>
                <a:effectLst/>
                <a:latin typeface="Times New Roman" panose="02020603050405020304" pitchFamily="18" charset="0"/>
              </a:rPr>
              <a:t>chipkill</a:t>
            </a:r>
            <a:r>
              <a:rPr lang="en-US" altLang="zh-CN" sz="1800" b="1" dirty="0">
                <a:solidFill>
                  <a:srgbClr val="000000"/>
                </a:solidFill>
                <a:effectLst/>
                <a:latin typeface="Times New Roman" panose="02020603050405020304" pitchFamily="18" charset="0"/>
              </a:rPr>
              <a:t> </a:t>
            </a:r>
            <a:r>
              <a:rPr lang="en-US" altLang="zh-CN" sz="1800" b="1" dirty="0">
                <a:solidFill>
                  <a:srgbClr val="00B0F0"/>
                </a:solidFill>
                <a:effectLst/>
                <a:latin typeface="Times New Roman" panose="02020603050405020304" pitchFamily="18" charset="0"/>
              </a:rPr>
              <a:t>ECC</a:t>
            </a:r>
            <a:r>
              <a:rPr lang="en-US" altLang="zh-CN" sz="1800" b="1" dirty="0">
                <a:solidFill>
                  <a:srgbClr val="000000"/>
                </a:solidFill>
                <a:effectLst/>
                <a:latin typeface="Times New Roman" panose="02020603050405020304" pitchFamily="18" charset="0"/>
              </a:rPr>
              <a:t> and an ECC that covers a DDR5 “bounded fault.” Given the fault rates in this data, a bounded fault ECC increases the rate of faults that cause uncorrectable errors by up to 5.71 </a:t>
            </a:r>
            <a:r>
              <a:rPr lang="en-US" altLang="zh-CN" sz="1800" b="1" dirty="0">
                <a:solidFill>
                  <a:srgbClr val="1A1A1A"/>
                </a:solidFill>
                <a:effectLst/>
                <a:latin typeface="Times New Roman" panose="02020603050405020304" pitchFamily="18" charset="0"/>
              </a:rPr>
              <a:t>FIT per DRAM device compared to </a:t>
            </a:r>
            <a:r>
              <a:rPr lang="en-US" altLang="zh-CN" sz="1800" b="1" dirty="0" err="1">
                <a:solidFill>
                  <a:srgbClr val="000000"/>
                </a:solidFill>
                <a:effectLst/>
                <a:latin typeface="Times New Roman" panose="02020603050405020304" pitchFamily="18" charset="0"/>
              </a:rPr>
              <a:t>chipkill</a:t>
            </a:r>
            <a:r>
              <a:rPr lang="en-US" altLang="zh-CN" sz="1800" b="1" dirty="0">
                <a:solidFill>
                  <a:srgbClr val="000000"/>
                </a:solidFill>
                <a:effectLst/>
                <a:latin typeface="Times New Roman" panose="02020603050405020304" pitchFamily="18" charset="0"/>
              </a:rPr>
              <a:t> ECC.</a:t>
            </a:r>
            <a:endParaRPr lang="zh-CN" altLang="en-US" b="1" dirty="0"/>
          </a:p>
        </p:txBody>
      </p:sp>
    </p:spTree>
  </p:cSld>
  <p:clrMapOvr>
    <a:masterClrMapping/>
  </p:clrMapOvr>
  <p:transition spd="slow" advClick="0" advTm="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63549" y="2006333"/>
            <a:ext cx="2763947" cy="3446339"/>
            <a:chOff x="3295850" y="1908877"/>
            <a:chExt cx="3738030" cy="4660916"/>
          </a:xfrm>
        </p:grpSpPr>
        <p:sp>
          <p:nvSpPr>
            <p:cNvPr id="5" name="圆角矩形 4"/>
            <p:cNvSpPr/>
            <p:nvPr/>
          </p:nvSpPr>
          <p:spPr>
            <a:xfrm rot="2760000">
              <a:off x="3098889" y="2634801"/>
              <a:ext cx="4660916" cy="3209067"/>
            </a:xfrm>
            <a:prstGeom prst="roundRect">
              <a:avLst>
                <a:gd name="adj" fmla="val 50000"/>
              </a:avLst>
            </a:prstGeom>
            <a:gradFill>
              <a:gsLst>
                <a:gs pos="33000">
                  <a:srgbClr val="6C6C6C">
                    <a:alpha val="42000"/>
                  </a:srgbClr>
                </a:gs>
                <a:gs pos="0">
                  <a:schemeClr val="tx1">
                    <a:alpha val="54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6" name="Freeform 5"/>
            <p:cNvSpPr/>
            <p:nvPr/>
          </p:nvSpPr>
          <p:spPr bwMode="auto">
            <a:xfrm rot="10800000">
              <a:off x="3295850" y="2263222"/>
              <a:ext cx="2643765" cy="234315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gs>
                <a:gs pos="73000">
                  <a:srgbClr val="ECECEC"/>
                </a:gs>
                <a:gs pos="100000">
                  <a:srgbClr val="D9D9D9"/>
                </a:gs>
              </a:gsLst>
              <a:lin ang="2700000" scaled="1"/>
              <a:tileRect/>
            </a:gradFill>
            <a:ln w="25400">
              <a:gradFill flip="none" rotWithShape="1">
                <a:gsLst>
                  <a:gs pos="29000">
                    <a:srgbClr val="E0E0E0"/>
                  </a:gs>
                  <a:gs pos="0">
                    <a:srgbClr val="999999"/>
                  </a:gs>
                  <a:gs pos="83000">
                    <a:schemeClr val="bg1"/>
                  </a:gs>
                </a:gsLst>
                <a:lin ang="2700000" scaled="1"/>
                <a:tileRect/>
              </a:grad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sp>
          <p:nvSpPr>
            <p:cNvPr id="7" name="圆角矩形 6"/>
            <p:cNvSpPr/>
            <p:nvPr/>
          </p:nvSpPr>
          <p:spPr>
            <a:xfrm rot="2760000">
              <a:off x="3358628" y="2852802"/>
              <a:ext cx="3953506" cy="2592561"/>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8" name="Freeform 5"/>
            <p:cNvSpPr/>
            <p:nvPr/>
          </p:nvSpPr>
          <p:spPr bwMode="auto">
            <a:xfrm rot="10800000">
              <a:off x="3589408" y="2523401"/>
              <a:ext cx="2056648" cy="1822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rgbClr val="0070C0"/>
                </a:gs>
                <a:gs pos="0">
                  <a:srgbClr val="00B0F0"/>
                </a:gs>
              </a:gsLst>
              <a:lin ang="2700000" scaled="1"/>
              <a:tileRect/>
            </a:gradFill>
            <a:ln w="25400">
              <a:gradFill flip="none" rotWithShape="1">
                <a:gsLst>
                  <a:gs pos="100000">
                    <a:srgbClr val="00B0F0"/>
                  </a:gs>
                  <a:gs pos="0">
                    <a:srgbClr val="0070C0"/>
                  </a:gs>
                </a:gsLst>
                <a:lin ang="2700000" scaled="1"/>
                <a:tileRect/>
              </a:gradFill>
            </a:ln>
            <a:effectLst>
              <a:outerShdw blurRad="254000" dist="114300" dir="2700000" algn="tl" rotWithShape="0">
                <a:prstClr val="black">
                  <a:alpha val="25000"/>
                </a:prst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grpSp>
      <p:sp>
        <p:nvSpPr>
          <p:cNvPr id="9" name="圆角矩形 8"/>
          <p:cNvSpPr/>
          <p:nvPr/>
        </p:nvSpPr>
        <p:spPr>
          <a:xfrm>
            <a:off x="4535183" y="2625703"/>
            <a:ext cx="5193268" cy="1001440"/>
          </a:xfrm>
          <a:prstGeom prst="roundRect">
            <a:avLst>
              <a:gd name="adj" fmla="val 9976"/>
            </a:avLst>
          </a:prstGeom>
          <a:solidFill>
            <a:srgbClr val="00B0F0"/>
          </a:solidFill>
          <a:ln w="2540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grpSp>
        <p:nvGrpSpPr>
          <p:cNvPr id="10" name="组合 9"/>
          <p:cNvGrpSpPr/>
          <p:nvPr/>
        </p:nvGrpSpPr>
        <p:grpSpPr>
          <a:xfrm>
            <a:off x="4628901" y="3044179"/>
            <a:ext cx="158011" cy="158012"/>
            <a:chOff x="4486616" y="3001075"/>
            <a:chExt cx="274695" cy="274699"/>
          </a:xfrm>
        </p:grpSpPr>
        <p:sp>
          <p:nvSpPr>
            <p:cNvPr id="11" name="椭圆 10"/>
            <p:cNvSpPr/>
            <p:nvPr/>
          </p:nvSpPr>
          <p:spPr>
            <a:xfrm rot="16200000">
              <a:off x="4486614" y="3001077"/>
              <a:ext cx="274699" cy="274695"/>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2" name="椭圆 11"/>
            <p:cNvSpPr/>
            <p:nvPr/>
          </p:nvSpPr>
          <p:spPr>
            <a:xfrm rot="16200000">
              <a:off x="4511585" y="3026055"/>
              <a:ext cx="224753" cy="22475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grpSp>
        <p:nvGrpSpPr>
          <p:cNvPr id="13" name="组合 12"/>
          <p:cNvGrpSpPr/>
          <p:nvPr/>
        </p:nvGrpSpPr>
        <p:grpSpPr>
          <a:xfrm>
            <a:off x="4229561" y="3044179"/>
            <a:ext cx="158011" cy="158012"/>
            <a:chOff x="4486616" y="3001075"/>
            <a:chExt cx="274695" cy="274699"/>
          </a:xfrm>
        </p:grpSpPr>
        <p:sp>
          <p:nvSpPr>
            <p:cNvPr id="14" name="椭圆 13"/>
            <p:cNvSpPr/>
            <p:nvPr/>
          </p:nvSpPr>
          <p:spPr>
            <a:xfrm rot="16200000">
              <a:off x="4486614" y="3001077"/>
              <a:ext cx="274699" cy="274695"/>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5" name="椭圆 14"/>
            <p:cNvSpPr/>
            <p:nvPr/>
          </p:nvSpPr>
          <p:spPr>
            <a:xfrm rot="16200000">
              <a:off x="4511585" y="3026055"/>
              <a:ext cx="224753" cy="22475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grpSp>
        <p:nvGrpSpPr>
          <p:cNvPr id="16" name="组合 15"/>
          <p:cNvGrpSpPr/>
          <p:nvPr/>
        </p:nvGrpSpPr>
        <p:grpSpPr>
          <a:xfrm>
            <a:off x="4318304" y="3089062"/>
            <a:ext cx="384317" cy="61431"/>
            <a:chOff x="4318304" y="3089060"/>
            <a:chExt cx="384317" cy="61430"/>
          </a:xfrm>
        </p:grpSpPr>
        <p:sp>
          <p:nvSpPr>
            <p:cNvPr id="17" name="圆角矩形 16"/>
            <p:cNvSpPr/>
            <p:nvPr/>
          </p:nvSpPr>
          <p:spPr>
            <a:xfrm rot="16200000">
              <a:off x="4499257" y="2947128"/>
              <a:ext cx="22409" cy="384316"/>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9525">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8" name="圆角矩形 17"/>
            <p:cNvSpPr/>
            <p:nvPr/>
          </p:nvSpPr>
          <p:spPr>
            <a:xfrm rot="16200000">
              <a:off x="4499258" y="2908107"/>
              <a:ext cx="22409" cy="384316"/>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9525">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sp>
        <p:nvSpPr>
          <p:cNvPr id="19" name="文本框 18"/>
          <p:cNvSpPr txBox="1"/>
          <p:nvPr/>
        </p:nvSpPr>
        <p:spPr>
          <a:xfrm>
            <a:off x="5618100" y="2792253"/>
            <a:ext cx="3506545" cy="646331"/>
          </a:xfrm>
          <a:prstGeom prst="rect">
            <a:avLst/>
          </a:prstGeom>
          <a:noFill/>
        </p:spPr>
        <p:txBody>
          <a:bodyPr wrap="square" rtlCol="0">
            <a:spAutoFit/>
          </a:bodyPr>
          <a:lstStyle/>
          <a:p>
            <a:pPr algn="ctr"/>
            <a:r>
              <a:rPr lang="zh-CN" altLang="en-US" sz="3600" dirty="0">
                <a:solidFill>
                  <a:schemeClr val="bg1"/>
                </a:solidFill>
                <a:cs typeface="+mn-ea"/>
                <a:sym typeface="+mn-lt"/>
              </a:rPr>
              <a:t>背景与目的</a:t>
            </a:r>
          </a:p>
        </p:txBody>
      </p:sp>
      <p:grpSp>
        <p:nvGrpSpPr>
          <p:cNvPr id="20" name="组合 19"/>
          <p:cNvGrpSpPr/>
          <p:nvPr/>
        </p:nvGrpSpPr>
        <p:grpSpPr>
          <a:xfrm>
            <a:off x="3057211" y="2763793"/>
            <a:ext cx="786564" cy="737835"/>
            <a:chOff x="3108756" y="2110160"/>
            <a:chExt cx="745081" cy="698920"/>
          </a:xfrm>
          <a:solidFill>
            <a:schemeClr val="bg1"/>
          </a:solidFill>
        </p:grpSpPr>
        <p:sp>
          <p:nvSpPr>
            <p:cNvPr id="21" name="Freeform 489"/>
            <p:cNvSpPr/>
            <p:nvPr/>
          </p:nvSpPr>
          <p:spPr bwMode="auto">
            <a:xfrm>
              <a:off x="3608602" y="2110160"/>
              <a:ext cx="245235" cy="303659"/>
            </a:xfrm>
            <a:custGeom>
              <a:avLst/>
              <a:gdLst>
                <a:gd name="T0" fmla="*/ 248 w 340"/>
                <a:gd name="T1" fmla="*/ 0 h 421"/>
                <a:gd name="T2" fmla="*/ 0 w 340"/>
                <a:gd name="T3" fmla="*/ 357 h 421"/>
                <a:gd name="T4" fmla="*/ 94 w 340"/>
                <a:gd name="T5" fmla="*/ 421 h 421"/>
                <a:gd name="T6" fmla="*/ 340 w 340"/>
                <a:gd name="T7" fmla="*/ 66 h 421"/>
                <a:gd name="T8" fmla="*/ 248 w 340"/>
                <a:gd name="T9" fmla="*/ 0 h 421"/>
              </a:gdLst>
              <a:ahLst/>
              <a:cxnLst>
                <a:cxn ang="0">
                  <a:pos x="T0" y="T1"/>
                </a:cxn>
                <a:cxn ang="0">
                  <a:pos x="T2" y="T3"/>
                </a:cxn>
                <a:cxn ang="0">
                  <a:pos x="T4" y="T5"/>
                </a:cxn>
                <a:cxn ang="0">
                  <a:pos x="T6" y="T7"/>
                </a:cxn>
                <a:cxn ang="0">
                  <a:pos x="T8" y="T9"/>
                </a:cxn>
              </a:cxnLst>
              <a:rect l="0" t="0" r="r" b="b"/>
              <a:pathLst>
                <a:path w="340" h="421">
                  <a:moveTo>
                    <a:pt x="248" y="0"/>
                  </a:moveTo>
                  <a:lnTo>
                    <a:pt x="0" y="357"/>
                  </a:lnTo>
                  <a:lnTo>
                    <a:pt x="94" y="421"/>
                  </a:lnTo>
                  <a:lnTo>
                    <a:pt x="340" y="66"/>
                  </a:lnTo>
                  <a:lnTo>
                    <a:pt x="24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2" name="Freeform 490"/>
            <p:cNvSpPr/>
            <p:nvPr/>
          </p:nvSpPr>
          <p:spPr bwMode="auto">
            <a:xfrm>
              <a:off x="3584800" y="2379197"/>
              <a:ext cx="81505" cy="68522"/>
            </a:xfrm>
            <a:custGeom>
              <a:avLst/>
              <a:gdLst>
                <a:gd name="T0" fmla="*/ 14 w 113"/>
                <a:gd name="T1" fmla="*/ 12 h 95"/>
                <a:gd name="T2" fmla="*/ 0 w 113"/>
                <a:gd name="T3" fmla="*/ 33 h 95"/>
                <a:gd name="T4" fmla="*/ 14 w 113"/>
                <a:gd name="T5" fmla="*/ 43 h 95"/>
                <a:gd name="T6" fmla="*/ 26 w 113"/>
                <a:gd name="T7" fmla="*/ 52 h 95"/>
                <a:gd name="T8" fmla="*/ 90 w 113"/>
                <a:gd name="T9" fmla="*/ 95 h 95"/>
                <a:gd name="T10" fmla="*/ 113 w 113"/>
                <a:gd name="T11" fmla="*/ 62 h 95"/>
                <a:gd name="T12" fmla="*/ 23 w 113"/>
                <a:gd name="T13" fmla="*/ 0 h 95"/>
                <a:gd name="T14" fmla="*/ 14 w 113"/>
                <a:gd name="T15" fmla="*/ 12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3" h="95">
                  <a:moveTo>
                    <a:pt x="14" y="12"/>
                  </a:moveTo>
                  <a:lnTo>
                    <a:pt x="0" y="33"/>
                  </a:lnTo>
                  <a:lnTo>
                    <a:pt x="14" y="43"/>
                  </a:lnTo>
                  <a:lnTo>
                    <a:pt x="26" y="52"/>
                  </a:lnTo>
                  <a:lnTo>
                    <a:pt x="90" y="95"/>
                  </a:lnTo>
                  <a:lnTo>
                    <a:pt x="113" y="62"/>
                  </a:lnTo>
                  <a:lnTo>
                    <a:pt x="23" y="0"/>
                  </a:lnTo>
                  <a:lnTo>
                    <a:pt x="14"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3" name="Freeform 491"/>
            <p:cNvSpPr/>
            <p:nvPr/>
          </p:nvSpPr>
          <p:spPr bwMode="auto">
            <a:xfrm>
              <a:off x="3463625" y="2415261"/>
              <a:ext cx="177435" cy="226482"/>
            </a:xfrm>
            <a:custGeom>
              <a:avLst/>
              <a:gdLst>
                <a:gd name="T0" fmla="*/ 66 w 104"/>
                <a:gd name="T1" fmla="*/ 0 h 133"/>
                <a:gd name="T2" fmla="*/ 60 w 104"/>
                <a:gd name="T3" fmla="*/ 8 h 133"/>
                <a:gd name="T4" fmla="*/ 59 w 104"/>
                <a:gd name="T5" fmla="*/ 10 h 133"/>
                <a:gd name="T6" fmla="*/ 11 w 104"/>
                <a:gd name="T7" fmla="*/ 29 h 133"/>
                <a:gd name="T8" fmla="*/ 0 w 104"/>
                <a:gd name="T9" fmla="*/ 129 h 133"/>
                <a:gd name="T10" fmla="*/ 37 w 104"/>
                <a:gd name="T11" fmla="*/ 76 h 133"/>
                <a:gd name="T12" fmla="*/ 37 w 104"/>
                <a:gd name="T13" fmla="*/ 51 h 133"/>
                <a:gd name="T14" fmla="*/ 60 w 104"/>
                <a:gd name="T15" fmla="*/ 43 h 133"/>
                <a:gd name="T16" fmla="*/ 63 w 104"/>
                <a:gd name="T17" fmla="*/ 44 h 133"/>
                <a:gd name="T18" fmla="*/ 66 w 104"/>
                <a:gd name="T19" fmla="*/ 71 h 133"/>
                <a:gd name="T20" fmla="*/ 60 w 104"/>
                <a:gd name="T21" fmla="*/ 77 h 133"/>
                <a:gd name="T22" fmla="*/ 42 w 104"/>
                <a:gd name="T23" fmla="*/ 80 h 133"/>
                <a:gd name="T24" fmla="*/ 6 w 104"/>
                <a:gd name="T25" fmla="*/ 133 h 133"/>
                <a:gd name="T26" fmla="*/ 54 w 104"/>
                <a:gd name="T27" fmla="*/ 109 h 133"/>
                <a:gd name="T28" fmla="*/ 60 w 104"/>
                <a:gd name="T29" fmla="*/ 106 h 133"/>
                <a:gd name="T30" fmla="*/ 77 w 104"/>
                <a:gd name="T31" fmla="*/ 98 h 133"/>
                <a:gd name="T32" fmla="*/ 96 w 104"/>
                <a:gd name="T33" fmla="*/ 88 h 133"/>
                <a:gd name="T34" fmla="*/ 97 w 104"/>
                <a:gd name="T35" fmla="*/ 37 h 133"/>
                <a:gd name="T36" fmla="*/ 104 w 104"/>
                <a:gd name="T37" fmla="*/ 26 h 133"/>
                <a:gd name="T38" fmla="*/ 77 w 104"/>
                <a:gd name="T39" fmla="*/ 7 h 133"/>
                <a:gd name="T40" fmla="*/ 66 w 104"/>
                <a:gd name="T4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4" h="133">
                  <a:moveTo>
                    <a:pt x="66" y="0"/>
                  </a:moveTo>
                  <a:cubicBezTo>
                    <a:pt x="60" y="8"/>
                    <a:pt x="60" y="8"/>
                    <a:pt x="60" y="8"/>
                  </a:cubicBezTo>
                  <a:cubicBezTo>
                    <a:pt x="59" y="10"/>
                    <a:pt x="59" y="10"/>
                    <a:pt x="59" y="10"/>
                  </a:cubicBezTo>
                  <a:cubicBezTo>
                    <a:pt x="11" y="29"/>
                    <a:pt x="11" y="29"/>
                    <a:pt x="11" y="29"/>
                  </a:cubicBezTo>
                  <a:cubicBezTo>
                    <a:pt x="0" y="129"/>
                    <a:pt x="0" y="129"/>
                    <a:pt x="0" y="129"/>
                  </a:cubicBezTo>
                  <a:cubicBezTo>
                    <a:pt x="37" y="76"/>
                    <a:pt x="37" y="76"/>
                    <a:pt x="37" y="76"/>
                  </a:cubicBezTo>
                  <a:cubicBezTo>
                    <a:pt x="32" y="70"/>
                    <a:pt x="31" y="60"/>
                    <a:pt x="37" y="51"/>
                  </a:cubicBezTo>
                  <a:cubicBezTo>
                    <a:pt x="43" y="43"/>
                    <a:pt x="52" y="40"/>
                    <a:pt x="60" y="43"/>
                  </a:cubicBezTo>
                  <a:cubicBezTo>
                    <a:pt x="61" y="43"/>
                    <a:pt x="62" y="44"/>
                    <a:pt x="63" y="44"/>
                  </a:cubicBezTo>
                  <a:cubicBezTo>
                    <a:pt x="71" y="50"/>
                    <a:pt x="72" y="62"/>
                    <a:pt x="66" y="71"/>
                  </a:cubicBezTo>
                  <a:cubicBezTo>
                    <a:pt x="64" y="74"/>
                    <a:pt x="62" y="76"/>
                    <a:pt x="60" y="77"/>
                  </a:cubicBezTo>
                  <a:cubicBezTo>
                    <a:pt x="55" y="81"/>
                    <a:pt x="48" y="82"/>
                    <a:pt x="42" y="80"/>
                  </a:cubicBezTo>
                  <a:cubicBezTo>
                    <a:pt x="6" y="133"/>
                    <a:pt x="6" y="133"/>
                    <a:pt x="6" y="133"/>
                  </a:cubicBezTo>
                  <a:cubicBezTo>
                    <a:pt x="54" y="109"/>
                    <a:pt x="54" y="109"/>
                    <a:pt x="54" y="109"/>
                  </a:cubicBezTo>
                  <a:cubicBezTo>
                    <a:pt x="60" y="106"/>
                    <a:pt x="60" y="106"/>
                    <a:pt x="60" y="106"/>
                  </a:cubicBezTo>
                  <a:cubicBezTo>
                    <a:pt x="77" y="98"/>
                    <a:pt x="77" y="98"/>
                    <a:pt x="77" y="98"/>
                  </a:cubicBezTo>
                  <a:cubicBezTo>
                    <a:pt x="96" y="88"/>
                    <a:pt x="96" y="88"/>
                    <a:pt x="96" y="88"/>
                  </a:cubicBezTo>
                  <a:cubicBezTo>
                    <a:pt x="97" y="37"/>
                    <a:pt x="97" y="37"/>
                    <a:pt x="97" y="37"/>
                  </a:cubicBezTo>
                  <a:cubicBezTo>
                    <a:pt x="104" y="26"/>
                    <a:pt x="104" y="26"/>
                    <a:pt x="104" y="26"/>
                  </a:cubicBezTo>
                  <a:cubicBezTo>
                    <a:pt x="77" y="7"/>
                    <a:pt x="77" y="7"/>
                    <a:pt x="77" y="7"/>
                  </a:cubicBezTo>
                  <a:lnTo>
                    <a:pt x="6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4" name="Rectangle 492"/>
            <p:cNvSpPr>
              <a:spLocks noChangeArrowheads="1"/>
            </p:cNvSpPr>
            <p:nvPr/>
          </p:nvSpPr>
          <p:spPr bwMode="auto">
            <a:xfrm>
              <a:off x="3237144" y="2495323"/>
              <a:ext cx="168779" cy="1514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5" name="Rectangle 493"/>
            <p:cNvSpPr>
              <a:spLocks noChangeArrowheads="1"/>
            </p:cNvSpPr>
            <p:nvPr/>
          </p:nvSpPr>
          <p:spPr bwMode="auto">
            <a:xfrm>
              <a:off x="3237144" y="2449161"/>
              <a:ext cx="168779" cy="173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6" name="Rectangle 494"/>
            <p:cNvSpPr>
              <a:spLocks noChangeArrowheads="1"/>
            </p:cNvSpPr>
            <p:nvPr/>
          </p:nvSpPr>
          <p:spPr bwMode="auto">
            <a:xfrm>
              <a:off x="3237144" y="2403000"/>
              <a:ext cx="168779" cy="1586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7" name="Rectangle 495"/>
            <p:cNvSpPr>
              <a:spLocks noChangeArrowheads="1"/>
            </p:cNvSpPr>
            <p:nvPr/>
          </p:nvSpPr>
          <p:spPr bwMode="auto">
            <a:xfrm>
              <a:off x="3237144" y="2357559"/>
              <a:ext cx="168779" cy="1514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8" name="Freeform 496"/>
            <p:cNvSpPr/>
            <p:nvPr/>
          </p:nvSpPr>
          <p:spPr bwMode="auto">
            <a:xfrm>
              <a:off x="3108756" y="2215467"/>
              <a:ext cx="489749" cy="593613"/>
            </a:xfrm>
            <a:custGeom>
              <a:avLst/>
              <a:gdLst>
                <a:gd name="T0" fmla="*/ 268 w 287"/>
                <a:gd name="T1" fmla="*/ 303 h 348"/>
                <a:gd name="T2" fmla="*/ 245 w 287"/>
                <a:gd name="T3" fmla="*/ 331 h 348"/>
                <a:gd name="T4" fmla="*/ 90 w 287"/>
                <a:gd name="T5" fmla="*/ 331 h 348"/>
                <a:gd name="T6" fmla="*/ 90 w 287"/>
                <a:gd name="T7" fmla="*/ 281 h 348"/>
                <a:gd name="T8" fmla="*/ 76 w 287"/>
                <a:gd name="T9" fmla="*/ 263 h 348"/>
                <a:gd name="T10" fmla="*/ 17 w 287"/>
                <a:gd name="T11" fmla="*/ 263 h 348"/>
                <a:gd name="T12" fmla="*/ 17 w 287"/>
                <a:gd name="T13" fmla="*/ 59 h 348"/>
                <a:gd name="T14" fmla="*/ 40 w 287"/>
                <a:gd name="T15" fmla="*/ 27 h 348"/>
                <a:gd name="T16" fmla="*/ 251 w 287"/>
                <a:gd name="T17" fmla="*/ 27 h 348"/>
                <a:gd name="T18" fmla="*/ 268 w 287"/>
                <a:gd name="T19" fmla="*/ 52 h 348"/>
                <a:gd name="T20" fmla="*/ 268 w 287"/>
                <a:gd name="T21" fmla="*/ 104 h 348"/>
                <a:gd name="T22" fmla="*/ 268 w 287"/>
                <a:gd name="T23" fmla="*/ 104 h 348"/>
                <a:gd name="T24" fmla="*/ 285 w 287"/>
                <a:gd name="T25" fmla="*/ 83 h 348"/>
                <a:gd name="T26" fmla="*/ 285 w 287"/>
                <a:gd name="T27" fmla="*/ 45 h 348"/>
                <a:gd name="T28" fmla="*/ 252 w 287"/>
                <a:gd name="T29" fmla="*/ 8 h 348"/>
                <a:gd name="T30" fmla="*/ 70 w 287"/>
                <a:gd name="T31" fmla="*/ 8 h 348"/>
                <a:gd name="T32" fmla="*/ 40 w 287"/>
                <a:gd name="T33" fmla="*/ 8 h 348"/>
                <a:gd name="T34" fmla="*/ 0 w 287"/>
                <a:gd name="T35" fmla="*/ 44 h 348"/>
                <a:gd name="T36" fmla="*/ 0 w 287"/>
                <a:gd name="T37" fmla="*/ 294 h 348"/>
                <a:gd name="T38" fmla="*/ 82 w 287"/>
                <a:gd name="T39" fmla="*/ 346 h 348"/>
                <a:gd name="T40" fmla="*/ 252 w 287"/>
                <a:gd name="T41" fmla="*/ 346 h 348"/>
                <a:gd name="T42" fmla="*/ 285 w 287"/>
                <a:gd name="T43" fmla="*/ 321 h 348"/>
                <a:gd name="T44" fmla="*/ 285 w 287"/>
                <a:gd name="T45" fmla="*/ 228 h 348"/>
                <a:gd name="T46" fmla="*/ 268 w 287"/>
                <a:gd name="T47" fmla="*/ 238 h 348"/>
                <a:gd name="T48" fmla="*/ 268 w 287"/>
                <a:gd name="T49" fmla="*/ 303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7" h="348">
                  <a:moveTo>
                    <a:pt x="268" y="303"/>
                  </a:moveTo>
                  <a:cubicBezTo>
                    <a:pt x="268" y="303"/>
                    <a:pt x="272" y="331"/>
                    <a:pt x="245" y="331"/>
                  </a:cubicBezTo>
                  <a:cubicBezTo>
                    <a:pt x="217" y="331"/>
                    <a:pt x="90" y="331"/>
                    <a:pt x="90" y="331"/>
                  </a:cubicBezTo>
                  <a:cubicBezTo>
                    <a:pt x="90" y="281"/>
                    <a:pt x="90" y="281"/>
                    <a:pt x="90" y="281"/>
                  </a:cubicBezTo>
                  <a:cubicBezTo>
                    <a:pt x="90" y="281"/>
                    <a:pt x="91" y="263"/>
                    <a:pt x="76" y="263"/>
                  </a:cubicBezTo>
                  <a:cubicBezTo>
                    <a:pt x="60" y="263"/>
                    <a:pt x="17" y="263"/>
                    <a:pt x="17" y="263"/>
                  </a:cubicBezTo>
                  <a:cubicBezTo>
                    <a:pt x="17" y="59"/>
                    <a:pt x="17" y="59"/>
                    <a:pt x="17" y="59"/>
                  </a:cubicBezTo>
                  <a:cubicBezTo>
                    <a:pt x="17" y="59"/>
                    <a:pt x="13" y="27"/>
                    <a:pt x="40" y="27"/>
                  </a:cubicBezTo>
                  <a:cubicBezTo>
                    <a:pt x="251" y="27"/>
                    <a:pt x="251" y="27"/>
                    <a:pt x="251" y="27"/>
                  </a:cubicBezTo>
                  <a:cubicBezTo>
                    <a:pt x="251" y="27"/>
                    <a:pt x="268" y="30"/>
                    <a:pt x="268" y="52"/>
                  </a:cubicBezTo>
                  <a:cubicBezTo>
                    <a:pt x="268" y="57"/>
                    <a:pt x="268" y="77"/>
                    <a:pt x="268" y="104"/>
                  </a:cubicBezTo>
                  <a:cubicBezTo>
                    <a:pt x="268" y="104"/>
                    <a:pt x="268" y="104"/>
                    <a:pt x="268" y="104"/>
                  </a:cubicBezTo>
                  <a:cubicBezTo>
                    <a:pt x="285" y="83"/>
                    <a:pt x="285" y="83"/>
                    <a:pt x="285" y="83"/>
                  </a:cubicBezTo>
                  <a:cubicBezTo>
                    <a:pt x="285" y="60"/>
                    <a:pt x="285" y="45"/>
                    <a:pt x="285" y="45"/>
                  </a:cubicBezTo>
                  <a:cubicBezTo>
                    <a:pt x="285" y="45"/>
                    <a:pt x="287" y="8"/>
                    <a:pt x="252" y="8"/>
                  </a:cubicBezTo>
                  <a:cubicBezTo>
                    <a:pt x="70" y="8"/>
                    <a:pt x="70" y="8"/>
                    <a:pt x="70" y="8"/>
                  </a:cubicBezTo>
                  <a:cubicBezTo>
                    <a:pt x="40" y="8"/>
                    <a:pt x="40" y="8"/>
                    <a:pt x="40" y="8"/>
                  </a:cubicBezTo>
                  <a:cubicBezTo>
                    <a:pt x="40" y="8"/>
                    <a:pt x="0" y="0"/>
                    <a:pt x="0" y="44"/>
                  </a:cubicBezTo>
                  <a:cubicBezTo>
                    <a:pt x="0" y="87"/>
                    <a:pt x="0" y="294"/>
                    <a:pt x="0" y="294"/>
                  </a:cubicBezTo>
                  <a:cubicBezTo>
                    <a:pt x="82" y="346"/>
                    <a:pt x="82" y="346"/>
                    <a:pt x="82" y="346"/>
                  </a:cubicBezTo>
                  <a:cubicBezTo>
                    <a:pt x="252" y="346"/>
                    <a:pt x="252" y="346"/>
                    <a:pt x="252" y="346"/>
                  </a:cubicBezTo>
                  <a:cubicBezTo>
                    <a:pt x="252" y="346"/>
                    <a:pt x="285" y="348"/>
                    <a:pt x="285" y="321"/>
                  </a:cubicBezTo>
                  <a:cubicBezTo>
                    <a:pt x="285" y="312"/>
                    <a:pt x="285" y="274"/>
                    <a:pt x="285" y="228"/>
                  </a:cubicBezTo>
                  <a:cubicBezTo>
                    <a:pt x="268" y="238"/>
                    <a:pt x="268" y="238"/>
                    <a:pt x="268" y="238"/>
                  </a:cubicBezTo>
                  <a:cubicBezTo>
                    <a:pt x="268" y="275"/>
                    <a:pt x="268" y="303"/>
                    <a:pt x="268" y="3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grpSp>
      <p:grpSp>
        <p:nvGrpSpPr>
          <p:cNvPr id="29" name="组合 28"/>
          <p:cNvGrpSpPr/>
          <p:nvPr/>
        </p:nvGrpSpPr>
        <p:grpSpPr>
          <a:xfrm>
            <a:off x="5030934" y="2884112"/>
            <a:ext cx="601529" cy="562743"/>
            <a:chOff x="5030931" y="2884106"/>
            <a:chExt cx="601529" cy="562742"/>
          </a:xfrm>
        </p:grpSpPr>
        <p:sp>
          <p:nvSpPr>
            <p:cNvPr id="30" name="椭圆 29"/>
            <p:cNvSpPr/>
            <p:nvPr/>
          </p:nvSpPr>
          <p:spPr>
            <a:xfrm>
              <a:off x="5055353" y="2884106"/>
              <a:ext cx="562742" cy="5627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sp>
          <p:nvSpPr>
            <p:cNvPr id="31" name="文本框 30"/>
            <p:cNvSpPr txBox="1"/>
            <p:nvPr/>
          </p:nvSpPr>
          <p:spPr>
            <a:xfrm>
              <a:off x="5030931" y="2902999"/>
              <a:ext cx="601529" cy="523219"/>
            </a:xfrm>
            <a:prstGeom prst="rect">
              <a:avLst/>
            </a:prstGeom>
            <a:noFill/>
          </p:spPr>
          <p:txBody>
            <a:bodyPr wrap="square" rtlCol="0">
              <a:spAutoFit/>
            </a:bodyPr>
            <a:lstStyle/>
            <a:p>
              <a:pPr algn="ctr"/>
              <a:r>
                <a:rPr lang="en-US" altLang="zh-CN" sz="2800" dirty="0">
                  <a:solidFill>
                    <a:srgbClr val="00B0F0"/>
                  </a:solidFill>
                  <a:cs typeface="+mn-ea"/>
                  <a:sym typeface="+mn-lt"/>
                </a:rPr>
                <a:t>01</a:t>
              </a:r>
              <a:endParaRPr lang="zh-CN" altLang="en-US" sz="2800" dirty="0">
                <a:solidFill>
                  <a:srgbClr val="00B0F0"/>
                </a:solidFill>
                <a:cs typeface="+mn-ea"/>
                <a:sym typeface="+mn-lt"/>
              </a:endParaRPr>
            </a:p>
          </p:txBody>
        </p:sp>
      </p:grpSp>
    </p:spTree>
  </p:cSld>
  <p:clrMapOvr>
    <a:masterClrMapping/>
  </p:clrMapOvr>
  <p:transition spd="slow" advClick="0" advTm="0">
    <p:fad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 fill="hold"/>
                                            <p:tgtEl>
                                              <p:spTgt spid="4"/>
                                            </p:tgtEl>
                                            <p:attrNameLst>
                                              <p:attrName>ppt_w</p:attrName>
                                            </p:attrNameLst>
                                          </p:cBhvr>
                                          <p:tavLst>
                                            <p:tav tm="0">
                                              <p:val>
                                                <p:fltVal val="0"/>
                                              </p:val>
                                            </p:tav>
                                            <p:tav tm="100000">
                                              <p:val>
                                                <p:strVal val="#ppt_w"/>
                                              </p:val>
                                            </p:tav>
                                          </p:tavLst>
                                        </p:anim>
                                        <p:anim calcmode="lin" valueType="num">
                                          <p:cBhvr>
                                            <p:cTn id="8" dur="200" fill="hold"/>
                                            <p:tgtEl>
                                              <p:spTgt spid="4"/>
                                            </p:tgtEl>
                                            <p:attrNameLst>
                                              <p:attrName>ppt_h</p:attrName>
                                            </p:attrNameLst>
                                          </p:cBhvr>
                                          <p:tavLst>
                                            <p:tav tm="0">
                                              <p:val>
                                                <p:fltVal val="0"/>
                                              </p:val>
                                            </p:tav>
                                            <p:tav tm="100000">
                                              <p:val>
                                                <p:strVal val="#ppt_h"/>
                                              </p:val>
                                            </p:tav>
                                          </p:tavLst>
                                        </p:anim>
                                        <p:animEffect transition="in" filter="fade">
                                          <p:cBhvr>
                                            <p:cTn id="9" dur="200"/>
                                            <p:tgtEl>
                                              <p:spTgt spid="4"/>
                                            </p:tgtEl>
                                          </p:cBhvr>
                                        </p:animEffect>
                                      </p:childTnLst>
                                    </p:cTn>
                                  </p:par>
                                </p:childTnLst>
                              </p:cTn>
                            </p:par>
                            <p:par>
                              <p:cTn id="10" fill="hold">
                                <p:stCondLst>
                                  <p:cond delay="500"/>
                                </p:stCondLst>
                                <p:childTnLst>
                                  <p:par>
                                    <p:cTn id="11" presetID="32" presetClass="emph" presetSubtype="0" fill="hold" nodeType="afterEffect">
                                      <p:stCondLst>
                                        <p:cond delay="0"/>
                                      </p:stCondLst>
                                      <p:childTnLst>
                                        <p:animRot by="120000">
                                          <p:cBhvr>
                                            <p:cTn id="12" dur="50" fill="hold">
                                              <p:stCondLst>
                                                <p:cond delay="0"/>
                                              </p:stCondLst>
                                            </p:cTn>
                                            <p:tgtEl>
                                              <p:spTgt spid="4"/>
                                            </p:tgtEl>
                                            <p:attrNameLst>
                                              <p:attrName>r</p:attrName>
                                            </p:attrNameLst>
                                          </p:cBhvr>
                                        </p:animRot>
                                        <p:animRot by="-240000">
                                          <p:cBhvr>
                                            <p:cTn id="13" dur="100" fill="hold">
                                              <p:stCondLst>
                                                <p:cond delay="100"/>
                                              </p:stCondLst>
                                            </p:cTn>
                                            <p:tgtEl>
                                              <p:spTgt spid="4"/>
                                            </p:tgtEl>
                                            <p:attrNameLst>
                                              <p:attrName>r</p:attrName>
                                            </p:attrNameLst>
                                          </p:cBhvr>
                                        </p:animRot>
                                        <p:animRot by="240000">
                                          <p:cBhvr>
                                            <p:cTn id="14" dur="100" fill="hold">
                                              <p:stCondLst>
                                                <p:cond delay="200"/>
                                              </p:stCondLst>
                                            </p:cTn>
                                            <p:tgtEl>
                                              <p:spTgt spid="4"/>
                                            </p:tgtEl>
                                            <p:attrNameLst>
                                              <p:attrName>r</p:attrName>
                                            </p:attrNameLst>
                                          </p:cBhvr>
                                        </p:animRot>
                                        <p:animRot by="-240000">
                                          <p:cBhvr>
                                            <p:cTn id="15" dur="100" fill="hold">
                                              <p:stCondLst>
                                                <p:cond delay="300"/>
                                              </p:stCondLst>
                                            </p:cTn>
                                            <p:tgtEl>
                                              <p:spTgt spid="4"/>
                                            </p:tgtEl>
                                            <p:attrNameLst>
                                              <p:attrName>r</p:attrName>
                                            </p:attrNameLst>
                                          </p:cBhvr>
                                        </p:animRot>
                                        <p:animRot by="120000">
                                          <p:cBhvr>
                                            <p:cTn id="16" dur="100" fill="hold">
                                              <p:stCondLst>
                                                <p:cond delay="400"/>
                                              </p:stCondLst>
                                            </p:cTn>
                                            <p:tgtEl>
                                              <p:spTgt spid="4"/>
                                            </p:tgtEl>
                                            <p:attrNameLst>
                                              <p:attrName>r</p:attrName>
                                            </p:attrNameLst>
                                          </p:cBhvr>
                                        </p:animRot>
                                      </p:childTnLst>
                                    </p:cTn>
                                  </p:par>
                                </p:childTnLst>
                              </p:cTn>
                            </p:par>
                            <p:par>
                              <p:cTn id="17" fill="hold">
                                <p:stCondLst>
                                  <p:cond delay="1000"/>
                                </p:stCondLst>
                                <p:childTnLst>
                                  <p:par>
                                    <p:cTn id="18" presetID="37" presetClass="entr" presetSubtype="0"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700"/>
                                            <p:tgtEl>
                                              <p:spTgt spid="20"/>
                                            </p:tgtEl>
                                          </p:cBhvr>
                                        </p:animEffect>
                                        <p:anim calcmode="lin" valueType="num">
                                          <p:cBhvr>
                                            <p:cTn id="21" dur="700" fill="hold"/>
                                            <p:tgtEl>
                                              <p:spTgt spid="20"/>
                                            </p:tgtEl>
                                            <p:attrNameLst>
                                              <p:attrName>ppt_x</p:attrName>
                                            </p:attrNameLst>
                                          </p:cBhvr>
                                          <p:tavLst>
                                            <p:tav tm="0">
                                              <p:val>
                                                <p:strVal val="#ppt_x"/>
                                              </p:val>
                                            </p:tav>
                                            <p:tav tm="100000">
                                              <p:val>
                                                <p:strVal val="#ppt_x"/>
                                              </p:val>
                                            </p:tav>
                                          </p:tavLst>
                                        </p:anim>
                                        <p:anim calcmode="lin" valueType="num">
                                          <p:cBhvr>
                                            <p:cTn id="22" dur="630" decel="100000" fill="hold"/>
                                            <p:tgtEl>
                                              <p:spTgt spid="20"/>
                                            </p:tgtEl>
                                            <p:attrNameLst>
                                              <p:attrName>ppt_y</p:attrName>
                                            </p:attrNameLst>
                                          </p:cBhvr>
                                          <p:tavLst>
                                            <p:tav tm="0">
                                              <p:val>
                                                <p:strVal val="#ppt_y+1"/>
                                              </p:val>
                                            </p:tav>
                                            <p:tav tm="100000">
                                              <p:val>
                                                <p:strVal val="#ppt_y-.03"/>
                                              </p:val>
                                            </p:tav>
                                          </p:tavLst>
                                        </p:anim>
                                        <p:anim calcmode="lin" valueType="num">
                                          <p:cBhvr>
                                            <p:cTn id="23" dur="70" accel="100000" fill="hold">
                                              <p:stCondLst>
                                                <p:cond delay="630"/>
                                              </p:stCondLst>
                                            </p:cTn>
                                            <p:tgtEl>
                                              <p:spTgt spid="20"/>
                                            </p:tgtEl>
                                            <p:attrNameLst>
                                              <p:attrName>ppt_y</p:attrName>
                                            </p:attrNameLst>
                                          </p:cBhvr>
                                          <p:tavLst>
                                            <p:tav tm="0">
                                              <p:val>
                                                <p:strVal val="#ppt_y-.03"/>
                                              </p:val>
                                            </p:tav>
                                            <p:tav tm="100000">
                                              <p:val>
                                                <p:strVal val="#ppt_y"/>
                                              </p:val>
                                            </p:tav>
                                          </p:tavLst>
                                        </p:anim>
                                      </p:childTnLst>
                                    </p:cTn>
                                  </p:par>
                                </p:childTnLst>
                              </p:cTn>
                            </p:par>
                            <p:par>
                              <p:cTn id="24" fill="hold">
                                <p:stCondLst>
                                  <p:cond delay="2000"/>
                                </p:stCondLst>
                                <p:childTnLst>
                                  <p:par>
                                    <p:cTn id="25" presetID="1"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par>
                              <p:cTn id="27" fill="hold">
                                <p:stCondLst>
                                  <p:cond delay="20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2500"/>
                                </p:stCondLst>
                                <p:childTnLst>
                                  <p:par>
                                    <p:cTn id="32" presetID="1"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par>
                              <p:cTn id="34" fill="hold">
                                <p:stCondLst>
                                  <p:cond delay="2500"/>
                                </p:stCondLst>
                                <p:childTnLst>
                                  <p:par>
                                    <p:cTn id="35" presetID="2" presetClass="entr" presetSubtype="2" accel="70000" fill="hold" grpId="0" nodeType="afterEffect" p14:presetBounceEnd="50000">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14:bounceEnd="50000">
                                          <p:cBhvr additive="base">
                                            <p:cTn id="37" dur="500" fill="hold"/>
                                            <p:tgtEl>
                                              <p:spTgt spid="9"/>
                                            </p:tgtEl>
                                            <p:attrNameLst>
                                              <p:attrName>ppt_x</p:attrName>
                                            </p:attrNameLst>
                                          </p:cBhvr>
                                          <p:tavLst>
                                            <p:tav tm="0">
                                              <p:val>
                                                <p:strVal val="1+#ppt_w/2"/>
                                              </p:val>
                                            </p:tav>
                                            <p:tav tm="100000">
                                              <p:val>
                                                <p:strVal val="#ppt_x"/>
                                              </p:val>
                                            </p:tav>
                                          </p:tavLst>
                                        </p:anim>
                                        <p:anim calcmode="lin" valueType="num" p14:bounceEnd="50000">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par>
                              <p:cTn id="39" fill="hold">
                                <p:stCondLst>
                                  <p:cond delay="3000"/>
                                </p:stCondLst>
                                <p:childTnLst>
                                  <p:par>
                                    <p:cTn id="40" presetID="53" presetClass="entr" presetSubtype="16" fill="hold" nodeType="after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p:cTn id="42" dur="200" fill="hold"/>
                                            <p:tgtEl>
                                              <p:spTgt spid="29"/>
                                            </p:tgtEl>
                                            <p:attrNameLst>
                                              <p:attrName>ppt_w</p:attrName>
                                            </p:attrNameLst>
                                          </p:cBhvr>
                                          <p:tavLst>
                                            <p:tav tm="0">
                                              <p:val>
                                                <p:fltVal val="0"/>
                                              </p:val>
                                            </p:tav>
                                            <p:tav tm="100000">
                                              <p:val>
                                                <p:strVal val="#ppt_w"/>
                                              </p:val>
                                            </p:tav>
                                          </p:tavLst>
                                        </p:anim>
                                        <p:anim calcmode="lin" valueType="num">
                                          <p:cBhvr>
                                            <p:cTn id="43" dur="200" fill="hold"/>
                                            <p:tgtEl>
                                              <p:spTgt spid="29"/>
                                            </p:tgtEl>
                                            <p:attrNameLst>
                                              <p:attrName>ppt_h</p:attrName>
                                            </p:attrNameLst>
                                          </p:cBhvr>
                                          <p:tavLst>
                                            <p:tav tm="0">
                                              <p:val>
                                                <p:fltVal val="0"/>
                                              </p:val>
                                            </p:tav>
                                            <p:tav tm="100000">
                                              <p:val>
                                                <p:strVal val="#ppt_h"/>
                                              </p:val>
                                            </p:tav>
                                          </p:tavLst>
                                        </p:anim>
                                        <p:animEffect transition="in" filter="fade">
                                          <p:cBhvr>
                                            <p:cTn id="44" dur="200"/>
                                            <p:tgtEl>
                                              <p:spTgt spid="29"/>
                                            </p:tgtEl>
                                          </p:cBhvr>
                                        </p:animEffect>
                                      </p:childTnLst>
                                    </p:cTn>
                                  </p:par>
                                </p:childTnLst>
                              </p:cTn>
                            </p:par>
                            <p:par>
                              <p:cTn id="45" fill="hold">
                                <p:stCondLst>
                                  <p:cond delay="3500"/>
                                </p:stCondLst>
                                <p:childTnLst>
                                  <p:par>
                                    <p:cTn id="46" presetID="26" presetClass="emph" presetSubtype="0" fill="hold" nodeType="afterEffect">
                                      <p:stCondLst>
                                        <p:cond delay="0"/>
                                      </p:stCondLst>
                                      <p:childTnLst>
                                        <p:animEffect transition="out" filter="fade">
                                          <p:cBhvr>
                                            <p:cTn id="47" dur="500" tmFilter="0, 0; .2, .5; .8, .5; 1, 0"/>
                                            <p:tgtEl>
                                              <p:spTgt spid="29"/>
                                            </p:tgtEl>
                                          </p:cBhvr>
                                        </p:animEffect>
                                        <p:animScale>
                                          <p:cBhvr>
                                            <p:cTn id="48" dur="250" autoRev="1" fill="hold"/>
                                            <p:tgtEl>
                                              <p:spTgt spid="29"/>
                                            </p:tgtEl>
                                          </p:cBhvr>
                                          <p:by x="105000" y="105000"/>
                                        </p:animScale>
                                      </p:childTnLst>
                                    </p:cTn>
                                  </p:par>
                                </p:childTnLst>
                              </p:cTn>
                            </p:par>
                            <p:par>
                              <p:cTn id="49" fill="hold">
                                <p:stCondLst>
                                  <p:cond delay="4000"/>
                                </p:stCondLst>
                                <p:childTnLst>
                                  <p:par>
                                    <p:cTn id="50" presetID="16" presetClass="entr" presetSubtype="37" fill="hold" grpId="0" nodeType="afterEffect">
                                      <p:stCondLst>
                                        <p:cond delay="300"/>
                                      </p:stCondLst>
                                      <p:childTnLst>
                                        <p:set>
                                          <p:cBhvr>
                                            <p:cTn id="51" dur="1" fill="hold">
                                              <p:stCondLst>
                                                <p:cond delay="0"/>
                                              </p:stCondLst>
                                            </p:cTn>
                                            <p:tgtEl>
                                              <p:spTgt spid="19"/>
                                            </p:tgtEl>
                                            <p:attrNameLst>
                                              <p:attrName>style.visibility</p:attrName>
                                            </p:attrNameLst>
                                          </p:cBhvr>
                                          <p:to>
                                            <p:strVal val="visible"/>
                                          </p:to>
                                        </p:set>
                                        <p:animEffect transition="in" filter="barn(outVertical)">
                                          <p:cBhvr>
                                            <p:cTn id="52" dur="7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 fill="hold"/>
                                            <p:tgtEl>
                                              <p:spTgt spid="4"/>
                                            </p:tgtEl>
                                            <p:attrNameLst>
                                              <p:attrName>ppt_w</p:attrName>
                                            </p:attrNameLst>
                                          </p:cBhvr>
                                          <p:tavLst>
                                            <p:tav tm="0">
                                              <p:val>
                                                <p:fltVal val="0"/>
                                              </p:val>
                                            </p:tav>
                                            <p:tav tm="100000">
                                              <p:val>
                                                <p:strVal val="#ppt_w"/>
                                              </p:val>
                                            </p:tav>
                                          </p:tavLst>
                                        </p:anim>
                                        <p:anim calcmode="lin" valueType="num">
                                          <p:cBhvr>
                                            <p:cTn id="8" dur="200" fill="hold"/>
                                            <p:tgtEl>
                                              <p:spTgt spid="4"/>
                                            </p:tgtEl>
                                            <p:attrNameLst>
                                              <p:attrName>ppt_h</p:attrName>
                                            </p:attrNameLst>
                                          </p:cBhvr>
                                          <p:tavLst>
                                            <p:tav tm="0">
                                              <p:val>
                                                <p:fltVal val="0"/>
                                              </p:val>
                                            </p:tav>
                                            <p:tav tm="100000">
                                              <p:val>
                                                <p:strVal val="#ppt_h"/>
                                              </p:val>
                                            </p:tav>
                                          </p:tavLst>
                                        </p:anim>
                                        <p:animEffect transition="in" filter="fade">
                                          <p:cBhvr>
                                            <p:cTn id="9" dur="200"/>
                                            <p:tgtEl>
                                              <p:spTgt spid="4"/>
                                            </p:tgtEl>
                                          </p:cBhvr>
                                        </p:animEffect>
                                      </p:childTnLst>
                                    </p:cTn>
                                  </p:par>
                                </p:childTnLst>
                              </p:cTn>
                            </p:par>
                            <p:par>
                              <p:cTn id="10" fill="hold">
                                <p:stCondLst>
                                  <p:cond delay="500"/>
                                </p:stCondLst>
                                <p:childTnLst>
                                  <p:par>
                                    <p:cTn id="11" presetID="32" presetClass="emph" presetSubtype="0" fill="hold" nodeType="afterEffect">
                                      <p:stCondLst>
                                        <p:cond delay="0"/>
                                      </p:stCondLst>
                                      <p:childTnLst>
                                        <p:animRot by="120000">
                                          <p:cBhvr>
                                            <p:cTn id="12" dur="50" fill="hold">
                                              <p:stCondLst>
                                                <p:cond delay="0"/>
                                              </p:stCondLst>
                                            </p:cTn>
                                            <p:tgtEl>
                                              <p:spTgt spid="4"/>
                                            </p:tgtEl>
                                            <p:attrNameLst>
                                              <p:attrName>r</p:attrName>
                                            </p:attrNameLst>
                                          </p:cBhvr>
                                        </p:animRot>
                                        <p:animRot by="-240000">
                                          <p:cBhvr>
                                            <p:cTn id="13" dur="100" fill="hold">
                                              <p:stCondLst>
                                                <p:cond delay="100"/>
                                              </p:stCondLst>
                                            </p:cTn>
                                            <p:tgtEl>
                                              <p:spTgt spid="4"/>
                                            </p:tgtEl>
                                            <p:attrNameLst>
                                              <p:attrName>r</p:attrName>
                                            </p:attrNameLst>
                                          </p:cBhvr>
                                        </p:animRot>
                                        <p:animRot by="240000">
                                          <p:cBhvr>
                                            <p:cTn id="14" dur="100" fill="hold">
                                              <p:stCondLst>
                                                <p:cond delay="200"/>
                                              </p:stCondLst>
                                            </p:cTn>
                                            <p:tgtEl>
                                              <p:spTgt spid="4"/>
                                            </p:tgtEl>
                                            <p:attrNameLst>
                                              <p:attrName>r</p:attrName>
                                            </p:attrNameLst>
                                          </p:cBhvr>
                                        </p:animRot>
                                        <p:animRot by="-240000">
                                          <p:cBhvr>
                                            <p:cTn id="15" dur="100" fill="hold">
                                              <p:stCondLst>
                                                <p:cond delay="300"/>
                                              </p:stCondLst>
                                            </p:cTn>
                                            <p:tgtEl>
                                              <p:spTgt spid="4"/>
                                            </p:tgtEl>
                                            <p:attrNameLst>
                                              <p:attrName>r</p:attrName>
                                            </p:attrNameLst>
                                          </p:cBhvr>
                                        </p:animRot>
                                        <p:animRot by="120000">
                                          <p:cBhvr>
                                            <p:cTn id="16" dur="100" fill="hold">
                                              <p:stCondLst>
                                                <p:cond delay="400"/>
                                              </p:stCondLst>
                                            </p:cTn>
                                            <p:tgtEl>
                                              <p:spTgt spid="4"/>
                                            </p:tgtEl>
                                            <p:attrNameLst>
                                              <p:attrName>r</p:attrName>
                                            </p:attrNameLst>
                                          </p:cBhvr>
                                        </p:animRot>
                                      </p:childTnLst>
                                    </p:cTn>
                                  </p:par>
                                </p:childTnLst>
                              </p:cTn>
                            </p:par>
                            <p:par>
                              <p:cTn id="17" fill="hold">
                                <p:stCondLst>
                                  <p:cond delay="1000"/>
                                </p:stCondLst>
                                <p:childTnLst>
                                  <p:par>
                                    <p:cTn id="18" presetID="37" presetClass="entr" presetSubtype="0"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700"/>
                                            <p:tgtEl>
                                              <p:spTgt spid="20"/>
                                            </p:tgtEl>
                                          </p:cBhvr>
                                        </p:animEffect>
                                        <p:anim calcmode="lin" valueType="num">
                                          <p:cBhvr>
                                            <p:cTn id="21" dur="700" fill="hold"/>
                                            <p:tgtEl>
                                              <p:spTgt spid="20"/>
                                            </p:tgtEl>
                                            <p:attrNameLst>
                                              <p:attrName>ppt_x</p:attrName>
                                            </p:attrNameLst>
                                          </p:cBhvr>
                                          <p:tavLst>
                                            <p:tav tm="0">
                                              <p:val>
                                                <p:strVal val="#ppt_x"/>
                                              </p:val>
                                            </p:tav>
                                            <p:tav tm="100000">
                                              <p:val>
                                                <p:strVal val="#ppt_x"/>
                                              </p:val>
                                            </p:tav>
                                          </p:tavLst>
                                        </p:anim>
                                        <p:anim calcmode="lin" valueType="num">
                                          <p:cBhvr>
                                            <p:cTn id="22" dur="630" decel="100000" fill="hold"/>
                                            <p:tgtEl>
                                              <p:spTgt spid="20"/>
                                            </p:tgtEl>
                                            <p:attrNameLst>
                                              <p:attrName>ppt_y</p:attrName>
                                            </p:attrNameLst>
                                          </p:cBhvr>
                                          <p:tavLst>
                                            <p:tav tm="0">
                                              <p:val>
                                                <p:strVal val="#ppt_y+1"/>
                                              </p:val>
                                            </p:tav>
                                            <p:tav tm="100000">
                                              <p:val>
                                                <p:strVal val="#ppt_y-.03"/>
                                              </p:val>
                                            </p:tav>
                                          </p:tavLst>
                                        </p:anim>
                                        <p:anim calcmode="lin" valueType="num">
                                          <p:cBhvr>
                                            <p:cTn id="23" dur="70" accel="100000" fill="hold">
                                              <p:stCondLst>
                                                <p:cond delay="630"/>
                                              </p:stCondLst>
                                            </p:cTn>
                                            <p:tgtEl>
                                              <p:spTgt spid="20"/>
                                            </p:tgtEl>
                                            <p:attrNameLst>
                                              <p:attrName>ppt_y</p:attrName>
                                            </p:attrNameLst>
                                          </p:cBhvr>
                                          <p:tavLst>
                                            <p:tav tm="0">
                                              <p:val>
                                                <p:strVal val="#ppt_y-.03"/>
                                              </p:val>
                                            </p:tav>
                                            <p:tav tm="100000">
                                              <p:val>
                                                <p:strVal val="#ppt_y"/>
                                              </p:val>
                                            </p:tav>
                                          </p:tavLst>
                                        </p:anim>
                                      </p:childTnLst>
                                    </p:cTn>
                                  </p:par>
                                </p:childTnLst>
                              </p:cTn>
                            </p:par>
                            <p:par>
                              <p:cTn id="24" fill="hold">
                                <p:stCondLst>
                                  <p:cond delay="2000"/>
                                </p:stCondLst>
                                <p:childTnLst>
                                  <p:par>
                                    <p:cTn id="25" presetID="1"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par>
                              <p:cTn id="27" fill="hold">
                                <p:stCondLst>
                                  <p:cond delay="20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2500"/>
                                </p:stCondLst>
                                <p:childTnLst>
                                  <p:par>
                                    <p:cTn id="32" presetID="1"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par>
                              <p:cTn id="34" fill="hold">
                                <p:stCondLst>
                                  <p:cond delay="2500"/>
                                </p:stCondLst>
                                <p:childTnLst>
                                  <p:par>
                                    <p:cTn id="35" presetID="2" presetClass="entr" presetSubtype="2" accel="70000" fill="hold" grpId="0" nodeType="after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1+#ppt_w/2"/>
                                              </p:val>
                                            </p:tav>
                                            <p:tav tm="100000">
                                              <p:val>
                                                <p:strVal val="#ppt_x"/>
                                              </p:val>
                                            </p:tav>
                                          </p:tavLst>
                                        </p:anim>
                                        <p:anim calcmode="lin" valueType="num">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par>
                              <p:cTn id="39" fill="hold">
                                <p:stCondLst>
                                  <p:cond delay="3000"/>
                                </p:stCondLst>
                                <p:childTnLst>
                                  <p:par>
                                    <p:cTn id="40" presetID="53" presetClass="entr" presetSubtype="16" fill="hold" nodeType="after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p:cTn id="42" dur="200" fill="hold"/>
                                            <p:tgtEl>
                                              <p:spTgt spid="29"/>
                                            </p:tgtEl>
                                            <p:attrNameLst>
                                              <p:attrName>ppt_w</p:attrName>
                                            </p:attrNameLst>
                                          </p:cBhvr>
                                          <p:tavLst>
                                            <p:tav tm="0">
                                              <p:val>
                                                <p:fltVal val="0"/>
                                              </p:val>
                                            </p:tav>
                                            <p:tav tm="100000">
                                              <p:val>
                                                <p:strVal val="#ppt_w"/>
                                              </p:val>
                                            </p:tav>
                                          </p:tavLst>
                                        </p:anim>
                                        <p:anim calcmode="lin" valueType="num">
                                          <p:cBhvr>
                                            <p:cTn id="43" dur="200" fill="hold"/>
                                            <p:tgtEl>
                                              <p:spTgt spid="29"/>
                                            </p:tgtEl>
                                            <p:attrNameLst>
                                              <p:attrName>ppt_h</p:attrName>
                                            </p:attrNameLst>
                                          </p:cBhvr>
                                          <p:tavLst>
                                            <p:tav tm="0">
                                              <p:val>
                                                <p:fltVal val="0"/>
                                              </p:val>
                                            </p:tav>
                                            <p:tav tm="100000">
                                              <p:val>
                                                <p:strVal val="#ppt_h"/>
                                              </p:val>
                                            </p:tav>
                                          </p:tavLst>
                                        </p:anim>
                                        <p:animEffect transition="in" filter="fade">
                                          <p:cBhvr>
                                            <p:cTn id="44" dur="200"/>
                                            <p:tgtEl>
                                              <p:spTgt spid="29"/>
                                            </p:tgtEl>
                                          </p:cBhvr>
                                        </p:animEffect>
                                      </p:childTnLst>
                                    </p:cTn>
                                  </p:par>
                                </p:childTnLst>
                              </p:cTn>
                            </p:par>
                            <p:par>
                              <p:cTn id="45" fill="hold">
                                <p:stCondLst>
                                  <p:cond delay="3500"/>
                                </p:stCondLst>
                                <p:childTnLst>
                                  <p:par>
                                    <p:cTn id="46" presetID="26" presetClass="emph" presetSubtype="0" fill="hold" nodeType="afterEffect">
                                      <p:stCondLst>
                                        <p:cond delay="0"/>
                                      </p:stCondLst>
                                      <p:childTnLst>
                                        <p:animEffect transition="out" filter="fade">
                                          <p:cBhvr>
                                            <p:cTn id="47" dur="500" tmFilter="0, 0; .2, .5; .8, .5; 1, 0"/>
                                            <p:tgtEl>
                                              <p:spTgt spid="29"/>
                                            </p:tgtEl>
                                          </p:cBhvr>
                                        </p:animEffect>
                                        <p:animScale>
                                          <p:cBhvr>
                                            <p:cTn id="48" dur="250" autoRev="1" fill="hold"/>
                                            <p:tgtEl>
                                              <p:spTgt spid="29"/>
                                            </p:tgtEl>
                                          </p:cBhvr>
                                          <p:by x="105000" y="105000"/>
                                        </p:animScale>
                                      </p:childTnLst>
                                    </p:cTn>
                                  </p:par>
                                </p:childTnLst>
                              </p:cTn>
                            </p:par>
                            <p:par>
                              <p:cTn id="49" fill="hold">
                                <p:stCondLst>
                                  <p:cond delay="4000"/>
                                </p:stCondLst>
                                <p:childTnLst>
                                  <p:par>
                                    <p:cTn id="50" presetID="16" presetClass="entr" presetSubtype="37" fill="hold" grpId="0" nodeType="afterEffect">
                                      <p:stCondLst>
                                        <p:cond delay="300"/>
                                      </p:stCondLst>
                                      <p:childTnLst>
                                        <p:set>
                                          <p:cBhvr>
                                            <p:cTn id="51" dur="1" fill="hold">
                                              <p:stCondLst>
                                                <p:cond delay="0"/>
                                              </p:stCondLst>
                                            </p:cTn>
                                            <p:tgtEl>
                                              <p:spTgt spid="19"/>
                                            </p:tgtEl>
                                            <p:attrNameLst>
                                              <p:attrName>style.visibility</p:attrName>
                                            </p:attrNameLst>
                                          </p:cBhvr>
                                          <p:to>
                                            <p:strVal val="visible"/>
                                          </p:to>
                                        </p:set>
                                        <p:animEffect transition="in" filter="barn(outVertical)">
                                          <p:cBhvr>
                                            <p:cTn id="52" dur="7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8A1834F4-E1E5-9134-76E9-5B2CDB7C2B8C}"/>
              </a:ext>
            </a:extLst>
          </p:cNvPr>
          <p:cNvSpPr txBox="1"/>
          <p:nvPr/>
        </p:nvSpPr>
        <p:spPr>
          <a:xfrm>
            <a:off x="330397" y="1094869"/>
            <a:ext cx="6956227" cy="646331"/>
          </a:xfrm>
          <a:prstGeom prst="rect">
            <a:avLst/>
          </a:prstGeom>
          <a:noFill/>
        </p:spPr>
        <p:txBody>
          <a:bodyPr wrap="square">
            <a:spAutoFit/>
          </a:bodyPr>
          <a:lstStyle/>
          <a:p>
            <a:r>
              <a:rPr lang="en-US" altLang="zh-CN" dirty="0"/>
              <a:t>As data centers computation requirements grow, the total memory capacity provisioned is expected to grow as well.</a:t>
            </a:r>
            <a:endParaRPr lang="zh-CN" altLang="en-US" dirty="0"/>
          </a:p>
        </p:txBody>
      </p:sp>
      <p:sp>
        <p:nvSpPr>
          <p:cNvPr id="13" name="文本框 12">
            <a:extLst>
              <a:ext uri="{FF2B5EF4-FFF2-40B4-BE49-F238E27FC236}">
                <a16:creationId xmlns:a16="http://schemas.microsoft.com/office/drawing/2014/main" id="{896EEBC0-71B0-9243-AA83-A0F8AB2D6450}"/>
              </a:ext>
            </a:extLst>
          </p:cNvPr>
          <p:cNvSpPr txBox="1"/>
          <p:nvPr/>
        </p:nvSpPr>
        <p:spPr>
          <a:xfrm>
            <a:off x="258960" y="3559464"/>
            <a:ext cx="6104334" cy="646331"/>
          </a:xfrm>
          <a:prstGeom prst="rect">
            <a:avLst/>
          </a:prstGeom>
          <a:noFill/>
        </p:spPr>
        <p:txBody>
          <a:bodyPr wrap="square">
            <a:spAutoFit/>
          </a:bodyPr>
          <a:lstStyle/>
          <a:p>
            <a:r>
              <a:rPr lang="en-US" altLang="zh-CN" dirty="0"/>
              <a:t>One key to designing a reliable system is to understand the nature of faults that can occur.</a:t>
            </a:r>
            <a:endParaRPr lang="zh-CN" altLang="en-US" dirty="0"/>
          </a:p>
        </p:txBody>
      </p:sp>
      <p:sp>
        <p:nvSpPr>
          <p:cNvPr id="33" name="文本框 32">
            <a:extLst>
              <a:ext uri="{FF2B5EF4-FFF2-40B4-BE49-F238E27FC236}">
                <a16:creationId xmlns:a16="http://schemas.microsoft.com/office/drawing/2014/main" id="{F55DADCE-BF5C-C30C-27BE-27385658A7D1}"/>
              </a:ext>
            </a:extLst>
          </p:cNvPr>
          <p:cNvSpPr txBox="1"/>
          <p:nvPr/>
        </p:nvSpPr>
        <p:spPr>
          <a:xfrm>
            <a:off x="4995266" y="2311629"/>
            <a:ext cx="6156127" cy="646331"/>
          </a:xfrm>
          <a:prstGeom prst="rect">
            <a:avLst/>
          </a:prstGeom>
          <a:noFill/>
        </p:spPr>
        <p:txBody>
          <a:bodyPr wrap="square">
            <a:spAutoFit/>
          </a:bodyPr>
          <a:lstStyle/>
          <a:p>
            <a:r>
              <a:rPr lang="zh-CN" altLang="en-US" dirty="0"/>
              <a:t>数据中心计算需求增长，内存容量需求增加</a:t>
            </a:r>
          </a:p>
          <a:p>
            <a:r>
              <a:rPr lang="en-US" altLang="zh-CN" dirty="0"/>
              <a:t>DRAM</a:t>
            </a:r>
            <a:r>
              <a:rPr lang="zh-CN" altLang="en-US" dirty="0"/>
              <a:t>故障是服务器失败的主要原因之一</a:t>
            </a:r>
          </a:p>
        </p:txBody>
      </p:sp>
      <p:sp>
        <p:nvSpPr>
          <p:cNvPr id="40" name="文本框 39">
            <a:extLst>
              <a:ext uri="{FF2B5EF4-FFF2-40B4-BE49-F238E27FC236}">
                <a16:creationId xmlns:a16="http://schemas.microsoft.com/office/drawing/2014/main" id="{8F165A34-4DFD-6029-FB67-541969E1325B}"/>
              </a:ext>
            </a:extLst>
          </p:cNvPr>
          <p:cNvSpPr txBox="1"/>
          <p:nvPr/>
        </p:nvSpPr>
        <p:spPr>
          <a:xfrm>
            <a:off x="4995266" y="5130464"/>
            <a:ext cx="6104334" cy="369332"/>
          </a:xfrm>
          <a:prstGeom prst="rect">
            <a:avLst/>
          </a:prstGeom>
          <a:noFill/>
        </p:spPr>
        <p:txBody>
          <a:bodyPr wrap="square">
            <a:spAutoFit/>
          </a:bodyPr>
          <a:lstStyle/>
          <a:p>
            <a:r>
              <a:rPr lang="zh-CN" altLang="en-US" dirty="0"/>
              <a:t>了解</a:t>
            </a:r>
            <a:r>
              <a:rPr lang="en-US" altLang="zh-CN" dirty="0"/>
              <a:t>DRAM</a:t>
            </a:r>
            <a:r>
              <a:rPr lang="zh-CN" altLang="en-US" dirty="0"/>
              <a:t>故障特点对设计高可靠性系统至关重要</a:t>
            </a:r>
          </a:p>
        </p:txBody>
      </p:sp>
    </p:spTree>
  </p:cSld>
  <p:clrMapOvr>
    <a:masterClrMapping/>
  </p:clrMapOvr>
  <p:transition spd="slow" advClick="0" advTm="0">
    <p:comb/>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5EEE0D39-4D1E-1FBC-CD70-D72B8AB70C3A}"/>
              </a:ext>
            </a:extLst>
          </p:cNvPr>
          <p:cNvSpPr txBox="1"/>
          <p:nvPr/>
        </p:nvSpPr>
        <p:spPr>
          <a:xfrm>
            <a:off x="544710" y="1361688"/>
            <a:ext cx="6104334" cy="3970318"/>
          </a:xfrm>
          <a:prstGeom prst="rect">
            <a:avLst/>
          </a:prstGeom>
          <a:noFill/>
        </p:spPr>
        <p:txBody>
          <a:bodyPr wrap="square">
            <a:spAutoFit/>
          </a:bodyPr>
          <a:lstStyle/>
          <a:p>
            <a:r>
              <a:rPr lang="en-US" altLang="zh-CN" dirty="0"/>
              <a:t>DDR</a:t>
            </a:r>
            <a:r>
              <a:rPr lang="zh-CN" altLang="en-US" dirty="0"/>
              <a:t>内存带</a:t>
            </a:r>
            <a:r>
              <a:rPr lang="en-US" altLang="zh-CN" dirty="0"/>
              <a:t>ECC</a:t>
            </a:r>
            <a:r>
              <a:rPr lang="zh-CN" altLang="en-US" dirty="0"/>
              <a:t>是什么意思</a:t>
            </a:r>
            <a:r>
              <a:rPr lang="en-US" altLang="zh-CN" dirty="0"/>
              <a:t>?</a:t>
            </a:r>
            <a:r>
              <a:rPr lang="zh-CN" altLang="en-US" dirty="0"/>
              <a:t>是服务器专用的吗</a:t>
            </a:r>
            <a:r>
              <a:rPr lang="en-US" altLang="zh-CN" dirty="0"/>
              <a:t>?</a:t>
            </a:r>
          </a:p>
          <a:p>
            <a:r>
              <a:rPr lang="zh-CN" altLang="en-US" dirty="0"/>
              <a:t>在电子数字的世界里，所有的信息都是以简单的“</a:t>
            </a:r>
            <a:r>
              <a:rPr lang="en-US" altLang="zh-CN" dirty="0"/>
              <a:t>0”</a:t>
            </a:r>
            <a:r>
              <a:rPr lang="zh-CN" altLang="en-US" dirty="0"/>
              <a:t>与“</a:t>
            </a:r>
            <a:r>
              <a:rPr lang="en-US" altLang="zh-CN" dirty="0"/>
              <a:t>1”</a:t>
            </a:r>
            <a:r>
              <a:rPr lang="zh-CN" altLang="en-US" dirty="0"/>
              <a:t>表示；不过当数据在电子元件间进行传递时，是有可能发生数据“误传”的情形，也就是说原来该是</a:t>
            </a:r>
            <a:r>
              <a:rPr lang="en-US" altLang="zh-CN" dirty="0"/>
              <a:t>0</a:t>
            </a:r>
            <a:r>
              <a:rPr lang="zh-CN" altLang="en-US" dirty="0"/>
              <a:t>的比特数据，却被误植为</a:t>
            </a:r>
            <a:r>
              <a:rPr lang="en-US" altLang="zh-CN" dirty="0"/>
              <a:t>1</a:t>
            </a:r>
            <a:r>
              <a:rPr lang="zh-CN" altLang="en-US" dirty="0"/>
              <a:t>的比特数据，而产生错误。其可能发生的原因相当多，包括电子噪声、元件硬件上的问题，或是传输接口不稳等，都可能造成如此的结果。</a:t>
            </a:r>
          </a:p>
          <a:p>
            <a:endParaRPr lang="zh-CN" altLang="en-US" dirty="0"/>
          </a:p>
          <a:p>
            <a:r>
              <a:rPr lang="zh-CN" altLang="en-US" dirty="0"/>
              <a:t>这种状况若发生在存储器中，所带来的灾难则是可大可小。比如在游戏中，你可能对画面上突然显色不正常的小方块不以为意，但此时若不是在游戏中，而是正在进行硬盘重组的工作，相信结果将令你花容失色，惊叫起来。也正因为如此，在存储器中便发展出</a:t>
            </a:r>
            <a:r>
              <a:rPr lang="en-US" altLang="zh-CN" dirty="0"/>
              <a:t>ECC</a:t>
            </a:r>
            <a:r>
              <a:rPr lang="zh-CN" altLang="en-US" dirty="0"/>
              <a:t>与</a:t>
            </a:r>
            <a:r>
              <a:rPr lang="en-US" altLang="zh-CN" dirty="0"/>
              <a:t>Parity Check</a:t>
            </a:r>
            <a:r>
              <a:rPr lang="zh-CN" altLang="en-US" dirty="0"/>
              <a:t>等的检错方式，希望能降低数据传输的错误。</a:t>
            </a:r>
          </a:p>
        </p:txBody>
      </p:sp>
      <p:sp>
        <p:nvSpPr>
          <p:cNvPr id="12" name="文本框 11">
            <a:extLst>
              <a:ext uri="{FF2B5EF4-FFF2-40B4-BE49-F238E27FC236}">
                <a16:creationId xmlns:a16="http://schemas.microsoft.com/office/drawing/2014/main" id="{2D08E236-611D-40AB-159F-C3D3FA9B0C33}"/>
              </a:ext>
            </a:extLst>
          </p:cNvPr>
          <p:cNvSpPr txBox="1"/>
          <p:nvPr/>
        </p:nvSpPr>
        <p:spPr>
          <a:xfrm>
            <a:off x="7052667" y="3211475"/>
            <a:ext cx="4355902" cy="2862322"/>
          </a:xfrm>
          <a:prstGeom prst="rect">
            <a:avLst/>
          </a:prstGeom>
          <a:noFill/>
        </p:spPr>
        <p:txBody>
          <a:bodyPr wrap="square">
            <a:spAutoFit/>
          </a:bodyPr>
          <a:lstStyle/>
          <a:p>
            <a:r>
              <a:rPr lang="en-US" altLang="zh-CN" dirty="0">
                <a:solidFill>
                  <a:srgbClr val="00B050"/>
                </a:solidFill>
              </a:rPr>
              <a:t>ECC</a:t>
            </a:r>
            <a:r>
              <a:rPr lang="zh-CN" altLang="en-US" dirty="0">
                <a:solidFill>
                  <a:srgbClr val="00B050"/>
                </a:solidFill>
              </a:rPr>
              <a:t>工作原理</a:t>
            </a:r>
          </a:p>
          <a:p>
            <a:endParaRPr lang="zh-CN" altLang="en-US" dirty="0">
              <a:solidFill>
                <a:srgbClr val="00B050"/>
              </a:solidFill>
            </a:endParaRPr>
          </a:p>
          <a:p>
            <a:r>
              <a:rPr lang="en-US" altLang="zh-CN" dirty="0">
                <a:solidFill>
                  <a:srgbClr val="00B050"/>
                </a:solidFill>
              </a:rPr>
              <a:t>ECC</a:t>
            </a:r>
            <a:r>
              <a:rPr lang="zh-CN" altLang="en-US" dirty="0">
                <a:solidFill>
                  <a:srgbClr val="00B050"/>
                </a:solidFill>
              </a:rPr>
              <a:t>采用数据块（</a:t>
            </a:r>
            <a:r>
              <a:rPr lang="en-US" altLang="zh-CN" dirty="0">
                <a:solidFill>
                  <a:srgbClr val="00B050"/>
                </a:solidFill>
              </a:rPr>
              <a:t>block</a:t>
            </a:r>
            <a:r>
              <a:rPr lang="zh-CN" altLang="en-US" dirty="0">
                <a:solidFill>
                  <a:srgbClr val="00B050"/>
                </a:solidFill>
              </a:rPr>
              <a:t>）概念与复杂的演算方法来修正数据。因此不仅能检测多位比特错误，还能进行修正单一比特的错误。以</a:t>
            </a:r>
            <a:r>
              <a:rPr lang="en-US" altLang="zh-CN" dirty="0">
                <a:solidFill>
                  <a:srgbClr val="00B050"/>
                </a:solidFill>
              </a:rPr>
              <a:t>168</a:t>
            </a:r>
            <a:r>
              <a:rPr lang="zh-CN" altLang="en-US" dirty="0">
                <a:solidFill>
                  <a:srgbClr val="00B050"/>
                </a:solidFill>
              </a:rPr>
              <a:t>针的</a:t>
            </a:r>
            <a:r>
              <a:rPr lang="en-US" altLang="zh-CN" dirty="0">
                <a:solidFill>
                  <a:srgbClr val="00B050"/>
                </a:solidFill>
              </a:rPr>
              <a:t>DIMM</a:t>
            </a:r>
            <a:r>
              <a:rPr lang="zh-CN" altLang="en-US" dirty="0">
                <a:solidFill>
                  <a:srgbClr val="00B050"/>
                </a:solidFill>
              </a:rPr>
              <a:t>存储器模块来说，若以</a:t>
            </a:r>
            <a:r>
              <a:rPr lang="en-US" altLang="zh-CN" dirty="0">
                <a:solidFill>
                  <a:srgbClr val="00B050"/>
                </a:solidFill>
              </a:rPr>
              <a:t>64bits</a:t>
            </a:r>
            <a:r>
              <a:rPr lang="zh-CN" altLang="en-US" dirty="0">
                <a:solidFill>
                  <a:srgbClr val="00B050"/>
                </a:solidFill>
              </a:rPr>
              <a:t>为一数据块单位，便需要</a:t>
            </a:r>
            <a:r>
              <a:rPr lang="en-US" altLang="zh-CN" dirty="0">
                <a:solidFill>
                  <a:srgbClr val="00B050"/>
                </a:solidFill>
              </a:rPr>
              <a:t>8bits</a:t>
            </a:r>
            <a:r>
              <a:rPr lang="zh-CN" altLang="en-US" dirty="0">
                <a:solidFill>
                  <a:srgbClr val="00B050"/>
                </a:solidFill>
              </a:rPr>
              <a:t>的容量来作为</a:t>
            </a:r>
            <a:r>
              <a:rPr lang="en-US" altLang="zh-CN" dirty="0">
                <a:solidFill>
                  <a:srgbClr val="00B050"/>
                </a:solidFill>
              </a:rPr>
              <a:t>ECC</a:t>
            </a:r>
            <a:r>
              <a:rPr lang="zh-CN" altLang="en-US" dirty="0">
                <a:solidFill>
                  <a:srgbClr val="00B050"/>
                </a:solidFill>
              </a:rPr>
              <a:t>之用（</a:t>
            </a:r>
            <a:r>
              <a:rPr lang="en-US" altLang="zh-CN" dirty="0">
                <a:solidFill>
                  <a:srgbClr val="00B050"/>
                </a:solidFill>
              </a:rPr>
              <a:t>32bits</a:t>
            </a:r>
            <a:r>
              <a:rPr lang="zh-CN" altLang="en-US" dirty="0">
                <a:solidFill>
                  <a:srgbClr val="00B050"/>
                </a:solidFill>
              </a:rPr>
              <a:t>则需</a:t>
            </a:r>
            <a:r>
              <a:rPr lang="en-US" altLang="zh-CN" dirty="0">
                <a:solidFill>
                  <a:srgbClr val="00B050"/>
                </a:solidFill>
              </a:rPr>
              <a:t>7bits</a:t>
            </a:r>
            <a:r>
              <a:rPr lang="zh-CN" altLang="en-US" dirty="0">
                <a:solidFill>
                  <a:srgbClr val="00B050"/>
                </a:solidFill>
              </a:rPr>
              <a:t>），因此总数据宽度便与</a:t>
            </a:r>
            <a:r>
              <a:rPr lang="en-US" altLang="zh-CN" dirty="0">
                <a:solidFill>
                  <a:srgbClr val="00B050"/>
                </a:solidFill>
              </a:rPr>
              <a:t>168</a:t>
            </a:r>
            <a:r>
              <a:rPr lang="zh-CN" altLang="en-US" dirty="0">
                <a:solidFill>
                  <a:srgbClr val="00B050"/>
                </a:solidFill>
              </a:rPr>
              <a:t>针的</a:t>
            </a:r>
            <a:r>
              <a:rPr lang="en-US" altLang="zh-CN" dirty="0">
                <a:solidFill>
                  <a:srgbClr val="00B050"/>
                </a:solidFill>
              </a:rPr>
              <a:t>Parity</a:t>
            </a:r>
            <a:r>
              <a:rPr lang="zh-CN" altLang="en-US" dirty="0">
                <a:solidFill>
                  <a:srgbClr val="00B050"/>
                </a:solidFill>
              </a:rPr>
              <a:t>存储器相同。</a:t>
            </a:r>
          </a:p>
        </p:txBody>
      </p:sp>
    </p:spTree>
    <p:extLst>
      <p:ext uri="{BB962C8B-B14F-4D97-AF65-F5344CB8AC3E}">
        <p14:creationId xmlns:p14="http://schemas.microsoft.com/office/powerpoint/2010/main" val="3212028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63549" y="2006333"/>
            <a:ext cx="2763947" cy="3446339"/>
            <a:chOff x="3295850" y="1908877"/>
            <a:chExt cx="3738030" cy="4660916"/>
          </a:xfrm>
        </p:grpSpPr>
        <p:sp>
          <p:nvSpPr>
            <p:cNvPr id="5" name="圆角矩形 4"/>
            <p:cNvSpPr/>
            <p:nvPr/>
          </p:nvSpPr>
          <p:spPr>
            <a:xfrm rot="2760000">
              <a:off x="3098889" y="2634801"/>
              <a:ext cx="4660916" cy="3209067"/>
            </a:xfrm>
            <a:prstGeom prst="roundRect">
              <a:avLst>
                <a:gd name="adj" fmla="val 50000"/>
              </a:avLst>
            </a:prstGeom>
            <a:gradFill>
              <a:gsLst>
                <a:gs pos="33000">
                  <a:srgbClr val="6C6C6C">
                    <a:alpha val="42000"/>
                  </a:srgbClr>
                </a:gs>
                <a:gs pos="0">
                  <a:schemeClr val="tx1">
                    <a:alpha val="54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6" name="Freeform 5"/>
            <p:cNvSpPr/>
            <p:nvPr/>
          </p:nvSpPr>
          <p:spPr bwMode="auto">
            <a:xfrm rot="10800000">
              <a:off x="3295850" y="2263222"/>
              <a:ext cx="2643765" cy="234315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gs>
                <a:gs pos="73000">
                  <a:srgbClr val="ECECEC"/>
                </a:gs>
                <a:gs pos="100000">
                  <a:srgbClr val="D9D9D9"/>
                </a:gs>
              </a:gsLst>
              <a:lin ang="2700000" scaled="1"/>
              <a:tileRect/>
            </a:gradFill>
            <a:ln w="25400">
              <a:gradFill flip="none" rotWithShape="1">
                <a:gsLst>
                  <a:gs pos="29000">
                    <a:srgbClr val="E0E0E0"/>
                  </a:gs>
                  <a:gs pos="0">
                    <a:srgbClr val="999999"/>
                  </a:gs>
                  <a:gs pos="83000">
                    <a:schemeClr val="bg1"/>
                  </a:gs>
                </a:gsLst>
                <a:lin ang="2700000" scaled="1"/>
                <a:tileRect/>
              </a:grad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sp>
          <p:nvSpPr>
            <p:cNvPr id="7" name="圆角矩形 6"/>
            <p:cNvSpPr/>
            <p:nvPr/>
          </p:nvSpPr>
          <p:spPr>
            <a:xfrm rot="2760000">
              <a:off x="3358628" y="2852802"/>
              <a:ext cx="3953506" cy="2592561"/>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8" name="Freeform 5"/>
            <p:cNvSpPr/>
            <p:nvPr/>
          </p:nvSpPr>
          <p:spPr bwMode="auto">
            <a:xfrm rot="10800000">
              <a:off x="3589408" y="2523401"/>
              <a:ext cx="2056648" cy="1822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rgbClr val="0070C0"/>
                </a:gs>
                <a:gs pos="0">
                  <a:srgbClr val="00B0F0"/>
                </a:gs>
              </a:gsLst>
              <a:lin ang="2700000" scaled="1"/>
              <a:tileRect/>
            </a:gradFill>
            <a:ln w="25400">
              <a:gradFill flip="none" rotWithShape="1">
                <a:gsLst>
                  <a:gs pos="100000">
                    <a:srgbClr val="00B0F0"/>
                  </a:gs>
                  <a:gs pos="0">
                    <a:srgbClr val="0070C0"/>
                  </a:gs>
                </a:gsLst>
                <a:lin ang="2700000" scaled="1"/>
                <a:tileRect/>
              </a:gradFill>
            </a:ln>
            <a:effectLst>
              <a:outerShdw blurRad="254000" dist="114300" dir="2700000" algn="tl" rotWithShape="0">
                <a:prstClr val="black">
                  <a:alpha val="25000"/>
                </a:prst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grpSp>
      <p:sp>
        <p:nvSpPr>
          <p:cNvPr id="9" name="圆角矩形 8"/>
          <p:cNvSpPr/>
          <p:nvPr/>
        </p:nvSpPr>
        <p:spPr>
          <a:xfrm>
            <a:off x="4535183" y="2625703"/>
            <a:ext cx="5193268" cy="1001440"/>
          </a:xfrm>
          <a:prstGeom prst="roundRect">
            <a:avLst>
              <a:gd name="adj" fmla="val 9976"/>
            </a:avLst>
          </a:prstGeom>
          <a:solidFill>
            <a:srgbClr val="00B0F0"/>
          </a:solidFill>
          <a:ln w="2540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grpSp>
        <p:nvGrpSpPr>
          <p:cNvPr id="10" name="组合 9"/>
          <p:cNvGrpSpPr/>
          <p:nvPr/>
        </p:nvGrpSpPr>
        <p:grpSpPr>
          <a:xfrm>
            <a:off x="4628901" y="3044179"/>
            <a:ext cx="158011" cy="158012"/>
            <a:chOff x="4486616" y="3001075"/>
            <a:chExt cx="274695" cy="274699"/>
          </a:xfrm>
        </p:grpSpPr>
        <p:sp>
          <p:nvSpPr>
            <p:cNvPr id="11" name="椭圆 10"/>
            <p:cNvSpPr/>
            <p:nvPr/>
          </p:nvSpPr>
          <p:spPr>
            <a:xfrm rot="16200000">
              <a:off x="4486614" y="3001077"/>
              <a:ext cx="274699" cy="274695"/>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2" name="椭圆 11"/>
            <p:cNvSpPr/>
            <p:nvPr/>
          </p:nvSpPr>
          <p:spPr>
            <a:xfrm rot="16200000">
              <a:off x="4511585" y="3026055"/>
              <a:ext cx="224753" cy="22475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grpSp>
        <p:nvGrpSpPr>
          <p:cNvPr id="13" name="组合 12"/>
          <p:cNvGrpSpPr/>
          <p:nvPr/>
        </p:nvGrpSpPr>
        <p:grpSpPr>
          <a:xfrm>
            <a:off x="4229561" y="3044179"/>
            <a:ext cx="158011" cy="158012"/>
            <a:chOff x="4486616" y="3001075"/>
            <a:chExt cx="274695" cy="274699"/>
          </a:xfrm>
        </p:grpSpPr>
        <p:sp>
          <p:nvSpPr>
            <p:cNvPr id="14" name="椭圆 13"/>
            <p:cNvSpPr/>
            <p:nvPr/>
          </p:nvSpPr>
          <p:spPr>
            <a:xfrm rot="16200000">
              <a:off x="4486614" y="3001077"/>
              <a:ext cx="274699" cy="274695"/>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5" name="椭圆 14"/>
            <p:cNvSpPr/>
            <p:nvPr/>
          </p:nvSpPr>
          <p:spPr>
            <a:xfrm rot="16200000">
              <a:off x="4511585" y="3026055"/>
              <a:ext cx="224753" cy="22475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grpSp>
        <p:nvGrpSpPr>
          <p:cNvPr id="16" name="组合 15"/>
          <p:cNvGrpSpPr/>
          <p:nvPr/>
        </p:nvGrpSpPr>
        <p:grpSpPr>
          <a:xfrm>
            <a:off x="4318304" y="3089062"/>
            <a:ext cx="384317" cy="61431"/>
            <a:chOff x="4318304" y="3089060"/>
            <a:chExt cx="384317" cy="61430"/>
          </a:xfrm>
        </p:grpSpPr>
        <p:sp>
          <p:nvSpPr>
            <p:cNvPr id="17" name="圆角矩形 16"/>
            <p:cNvSpPr/>
            <p:nvPr/>
          </p:nvSpPr>
          <p:spPr>
            <a:xfrm rot="16200000">
              <a:off x="4499257" y="2947128"/>
              <a:ext cx="22409" cy="384316"/>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9525">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8" name="圆角矩形 17"/>
            <p:cNvSpPr/>
            <p:nvPr/>
          </p:nvSpPr>
          <p:spPr>
            <a:xfrm rot="16200000">
              <a:off x="4499258" y="2908107"/>
              <a:ext cx="22409" cy="384316"/>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9525">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sp>
        <p:nvSpPr>
          <p:cNvPr id="19" name="文本框 18"/>
          <p:cNvSpPr txBox="1"/>
          <p:nvPr/>
        </p:nvSpPr>
        <p:spPr>
          <a:xfrm>
            <a:off x="5642520" y="2763793"/>
            <a:ext cx="3506545" cy="1200329"/>
          </a:xfrm>
          <a:prstGeom prst="rect">
            <a:avLst/>
          </a:prstGeom>
          <a:noFill/>
        </p:spPr>
        <p:txBody>
          <a:bodyPr wrap="square" rtlCol="0">
            <a:spAutoFit/>
          </a:bodyPr>
          <a:lstStyle/>
          <a:p>
            <a:pPr algn="ctr"/>
            <a:r>
              <a:rPr lang="zh-CN" altLang="en-US" sz="3600" dirty="0">
                <a:solidFill>
                  <a:schemeClr val="bg1"/>
                </a:solidFill>
                <a:cs typeface="+mn-ea"/>
                <a:sym typeface="+mn-lt"/>
              </a:rPr>
              <a:t>研究方法</a:t>
            </a:r>
          </a:p>
          <a:p>
            <a:pPr algn="ctr"/>
            <a:endParaRPr lang="zh-CN" altLang="en-US" sz="3600" dirty="0">
              <a:solidFill>
                <a:schemeClr val="bg1"/>
              </a:solidFill>
              <a:cs typeface="+mn-ea"/>
              <a:sym typeface="+mn-lt"/>
            </a:endParaRPr>
          </a:p>
        </p:txBody>
      </p:sp>
      <p:grpSp>
        <p:nvGrpSpPr>
          <p:cNvPr id="20" name="组合 19"/>
          <p:cNvGrpSpPr/>
          <p:nvPr/>
        </p:nvGrpSpPr>
        <p:grpSpPr>
          <a:xfrm>
            <a:off x="3057211" y="2763793"/>
            <a:ext cx="786564" cy="737835"/>
            <a:chOff x="3108756" y="2110160"/>
            <a:chExt cx="745081" cy="698920"/>
          </a:xfrm>
          <a:solidFill>
            <a:schemeClr val="bg1"/>
          </a:solidFill>
        </p:grpSpPr>
        <p:sp>
          <p:nvSpPr>
            <p:cNvPr id="21" name="Freeform 489"/>
            <p:cNvSpPr/>
            <p:nvPr/>
          </p:nvSpPr>
          <p:spPr bwMode="auto">
            <a:xfrm>
              <a:off x="3608602" y="2110160"/>
              <a:ext cx="245235" cy="303659"/>
            </a:xfrm>
            <a:custGeom>
              <a:avLst/>
              <a:gdLst>
                <a:gd name="T0" fmla="*/ 248 w 340"/>
                <a:gd name="T1" fmla="*/ 0 h 421"/>
                <a:gd name="T2" fmla="*/ 0 w 340"/>
                <a:gd name="T3" fmla="*/ 357 h 421"/>
                <a:gd name="T4" fmla="*/ 94 w 340"/>
                <a:gd name="T5" fmla="*/ 421 h 421"/>
                <a:gd name="T6" fmla="*/ 340 w 340"/>
                <a:gd name="T7" fmla="*/ 66 h 421"/>
                <a:gd name="T8" fmla="*/ 248 w 340"/>
                <a:gd name="T9" fmla="*/ 0 h 421"/>
              </a:gdLst>
              <a:ahLst/>
              <a:cxnLst>
                <a:cxn ang="0">
                  <a:pos x="T0" y="T1"/>
                </a:cxn>
                <a:cxn ang="0">
                  <a:pos x="T2" y="T3"/>
                </a:cxn>
                <a:cxn ang="0">
                  <a:pos x="T4" y="T5"/>
                </a:cxn>
                <a:cxn ang="0">
                  <a:pos x="T6" y="T7"/>
                </a:cxn>
                <a:cxn ang="0">
                  <a:pos x="T8" y="T9"/>
                </a:cxn>
              </a:cxnLst>
              <a:rect l="0" t="0" r="r" b="b"/>
              <a:pathLst>
                <a:path w="340" h="421">
                  <a:moveTo>
                    <a:pt x="248" y="0"/>
                  </a:moveTo>
                  <a:lnTo>
                    <a:pt x="0" y="357"/>
                  </a:lnTo>
                  <a:lnTo>
                    <a:pt x="94" y="421"/>
                  </a:lnTo>
                  <a:lnTo>
                    <a:pt x="340" y="66"/>
                  </a:lnTo>
                  <a:lnTo>
                    <a:pt x="24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2" name="Freeform 490"/>
            <p:cNvSpPr/>
            <p:nvPr/>
          </p:nvSpPr>
          <p:spPr bwMode="auto">
            <a:xfrm>
              <a:off x="3584800" y="2379197"/>
              <a:ext cx="81505" cy="68522"/>
            </a:xfrm>
            <a:custGeom>
              <a:avLst/>
              <a:gdLst>
                <a:gd name="T0" fmla="*/ 14 w 113"/>
                <a:gd name="T1" fmla="*/ 12 h 95"/>
                <a:gd name="T2" fmla="*/ 0 w 113"/>
                <a:gd name="T3" fmla="*/ 33 h 95"/>
                <a:gd name="T4" fmla="*/ 14 w 113"/>
                <a:gd name="T5" fmla="*/ 43 h 95"/>
                <a:gd name="T6" fmla="*/ 26 w 113"/>
                <a:gd name="T7" fmla="*/ 52 h 95"/>
                <a:gd name="T8" fmla="*/ 90 w 113"/>
                <a:gd name="T9" fmla="*/ 95 h 95"/>
                <a:gd name="T10" fmla="*/ 113 w 113"/>
                <a:gd name="T11" fmla="*/ 62 h 95"/>
                <a:gd name="T12" fmla="*/ 23 w 113"/>
                <a:gd name="T13" fmla="*/ 0 h 95"/>
                <a:gd name="T14" fmla="*/ 14 w 113"/>
                <a:gd name="T15" fmla="*/ 12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3" h="95">
                  <a:moveTo>
                    <a:pt x="14" y="12"/>
                  </a:moveTo>
                  <a:lnTo>
                    <a:pt x="0" y="33"/>
                  </a:lnTo>
                  <a:lnTo>
                    <a:pt x="14" y="43"/>
                  </a:lnTo>
                  <a:lnTo>
                    <a:pt x="26" y="52"/>
                  </a:lnTo>
                  <a:lnTo>
                    <a:pt x="90" y="95"/>
                  </a:lnTo>
                  <a:lnTo>
                    <a:pt x="113" y="62"/>
                  </a:lnTo>
                  <a:lnTo>
                    <a:pt x="23" y="0"/>
                  </a:lnTo>
                  <a:lnTo>
                    <a:pt x="14"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3" name="Freeform 491"/>
            <p:cNvSpPr/>
            <p:nvPr/>
          </p:nvSpPr>
          <p:spPr bwMode="auto">
            <a:xfrm>
              <a:off x="3463625" y="2415261"/>
              <a:ext cx="177435" cy="226482"/>
            </a:xfrm>
            <a:custGeom>
              <a:avLst/>
              <a:gdLst>
                <a:gd name="T0" fmla="*/ 66 w 104"/>
                <a:gd name="T1" fmla="*/ 0 h 133"/>
                <a:gd name="T2" fmla="*/ 60 w 104"/>
                <a:gd name="T3" fmla="*/ 8 h 133"/>
                <a:gd name="T4" fmla="*/ 59 w 104"/>
                <a:gd name="T5" fmla="*/ 10 h 133"/>
                <a:gd name="T6" fmla="*/ 11 w 104"/>
                <a:gd name="T7" fmla="*/ 29 h 133"/>
                <a:gd name="T8" fmla="*/ 0 w 104"/>
                <a:gd name="T9" fmla="*/ 129 h 133"/>
                <a:gd name="T10" fmla="*/ 37 w 104"/>
                <a:gd name="T11" fmla="*/ 76 h 133"/>
                <a:gd name="T12" fmla="*/ 37 w 104"/>
                <a:gd name="T13" fmla="*/ 51 h 133"/>
                <a:gd name="T14" fmla="*/ 60 w 104"/>
                <a:gd name="T15" fmla="*/ 43 h 133"/>
                <a:gd name="T16" fmla="*/ 63 w 104"/>
                <a:gd name="T17" fmla="*/ 44 h 133"/>
                <a:gd name="T18" fmla="*/ 66 w 104"/>
                <a:gd name="T19" fmla="*/ 71 h 133"/>
                <a:gd name="T20" fmla="*/ 60 w 104"/>
                <a:gd name="T21" fmla="*/ 77 h 133"/>
                <a:gd name="T22" fmla="*/ 42 w 104"/>
                <a:gd name="T23" fmla="*/ 80 h 133"/>
                <a:gd name="T24" fmla="*/ 6 w 104"/>
                <a:gd name="T25" fmla="*/ 133 h 133"/>
                <a:gd name="T26" fmla="*/ 54 w 104"/>
                <a:gd name="T27" fmla="*/ 109 h 133"/>
                <a:gd name="T28" fmla="*/ 60 w 104"/>
                <a:gd name="T29" fmla="*/ 106 h 133"/>
                <a:gd name="T30" fmla="*/ 77 w 104"/>
                <a:gd name="T31" fmla="*/ 98 h 133"/>
                <a:gd name="T32" fmla="*/ 96 w 104"/>
                <a:gd name="T33" fmla="*/ 88 h 133"/>
                <a:gd name="T34" fmla="*/ 97 w 104"/>
                <a:gd name="T35" fmla="*/ 37 h 133"/>
                <a:gd name="T36" fmla="*/ 104 w 104"/>
                <a:gd name="T37" fmla="*/ 26 h 133"/>
                <a:gd name="T38" fmla="*/ 77 w 104"/>
                <a:gd name="T39" fmla="*/ 7 h 133"/>
                <a:gd name="T40" fmla="*/ 66 w 104"/>
                <a:gd name="T4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4" h="133">
                  <a:moveTo>
                    <a:pt x="66" y="0"/>
                  </a:moveTo>
                  <a:cubicBezTo>
                    <a:pt x="60" y="8"/>
                    <a:pt x="60" y="8"/>
                    <a:pt x="60" y="8"/>
                  </a:cubicBezTo>
                  <a:cubicBezTo>
                    <a:pt x="59" y="10"/>
                    <a:pt x="59" y="10"/>
                    <a:pt x="59" y="10"/>
                  </a:cubicBezTo>
                  <a:cubicBezTo>
                    <a:pt x="11" y="29"/>
                    <a:pt x="11" y="29"/>
                    <a:pt x="11" y="29"/>
                  </a:cubicBezTo>
                  <a:cubicBezTo>
                    <a:pt x="0" y="129"/>
                    <a:pt x="0" y="129"/>
                    <a:pt x="0" y="129"/>
                  </a:cubicBezTo>
                  <a:cubicBezTo>
                    <a:pt x="37" y="76"/>
                    <a:pt x="37" y="76"/>
                    <a:pt x="37" y="76"/>
                  </a:cubicBezTo>
                  <a:cubicBezTo>
                    <a:pt x="32" y="70"/>
                    <a:pt x="31" y="60"/>
                    <a:pt x="37" y="51"/>
                  </a:cubicBezTo>
                  <a:cubicBezTo>
                    <a:pt x="43" y="43"/>
                    <a:pt x="52" y="40"/>
                    <a:pt x="60" y="43"/>
                  </a:cubicBezTo>
                  <a:cubicBezTo>
                    <a:pt x="61" y="43"/>
                    <a:pt x="62" y="44"/>
                    <a:pt x="63" y="44"/>
                  </a:cubicBezTo>
                  <a:cubicBezTo>
                    <a:pt x="71" y="50"/>
                    <a:pt x="72" y="62"/>
                    <a:pt x="66" y="71"/>
                  </a:cubicBezTo>
                  <a:cubicBezTo>
                    <a:pt x="64" y="74"/>
                    <a:pt x="62" y="76"/>
                    <a:pt x="60" y="77"/>
                  </a:cubicBezTo>
                  <a:cubicBezTo>
                    <a:pt x="55" y="81"/>
                    <a:pt x="48" y="82"/>
                    <a:pt x="42" y="80"/>
                  </a:cubicBezTo>
                  <a:cubicBezTo>
                    <a:pt x="6" y="133"/>
                    <a:pt x="6" y="133"/>
                    <a:pt x="6" y="133"/>
                  </a:cubicBezTo>
                  <a:cubicBezTo>
                    <a:pt x="54" y="109"/>
                    <a:pt x="54" y="109"/>
                    <a:pt x="54" y="109"/>
                  </a:cubicBezTo>
                  <a:cubicBezTo>
                    <a:pt x="60" y="106"/>
                    <a:pt x="60" y="106"/>
                    <a:pt x="60" y="106"/>
                  </a:cubicBezTo>
                  <a:cubicBezTo>
                    <a:pt x="77" y="98"/>
                    <a:pt x="77" y="98"/>
                    <a:pt x="77" y="98"/>
                  </a:cubicBezTo>
                  <a:cubicBezTo>
                    <a:pt x="96" y="88"/>
                    <a:pt x="96" y="88"/>
                    <a:pt x="96" y="88"/>
                  </a:cubicBezTo>
                  <a:cubicBezTo>
                    <a:pt x="97" y="37"/>
                    <a:pt x="97" y="37"/>
                    <a:pt x="97" y="37"/>
                  </a:cubicBezTo>
                  <a:cubicBezTo>
                    <a:pt x="104" y="26"/>
                    <a:pt x="104" y="26"/>
                    <a:pt x="104" y="26"/>
                  </a:cubicBezTo>
                  <a:cubicBezTo>
                    <a:pt x="77" y="7"/>
                    <a:pt x="77" y="7"/>
                    <a:pt x="77" y="7"/>
                  </a:cubicBezTo>
                  <a:lnTo>
                    <a:pt x="6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4" name="Rectangle 492"/>
            <p:cNvSpPr>
              <a:spLocks noChangeArrowheads="1"/>
            </p:cNvSpPr>
            <p:nvPr/>
          </p:nvSpPr>
          <p:spPr bwMode="auto">
            <a:xfrm>
              <a:off x="3237144" y="2495323"/>
              <a:ext cx="168779" cy="1514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5" name="Rectangle 493"/>
            <p:cNvSpPr>
              <a:spLocks noChangeArrowheads="1"/>
            </p:cNvSpPr>
            <p:nvPr/>
          </p:nvSpPr>
          <p:spPr bwMode="auto">
            <a:xfrm>
              <a:off x="3237144" y="2449161"/>
              <a:ext cx="168779" cy="173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6" name="Rectangle 494"/>
            <p:cNvSpPr>
              <a:spLocks noChangeArrowheads="1"/>
            </p:cNvSpPr>
            <p:nvPr/>
          </p:nvSpPr>
          <p:spPr bwMode="auto">
            <a:xfrm>
              <a:off x="3237144" y="2403000"/>
              <a:ext cx="168779" cy="1586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7" name="Rectangle 495"/>
            <p:cNvSpPr>
              <a:spLocks noChangeArrowheads="1"/>
            </p:cNvSpPr>
            <p:nvPr/>
          </p:nvSpPr>
          <p:spPr bwMode="auto">
            <a:xfrm>
              <a:off x="3237144" y="2357559"/>
              <a:ext cx="168779" cy="1514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8" name="Freeform 496"/>
            <p:cNvSpPr/>
            <p:nvPr/>
          </p:nvSpPr>
          <p:spPr bwMode="auto">
            <a:xfrm>
              <a:off x="3108756" y="2215467"/>
              <a:ext cx="489749" cy="593613"/>
            </a:xfrm>
            <a:custGeom>
              <a:avLst/>
              <a:gdLst>
                <a:gd name="T0" fmla="*/ 268 w 287"/>
                <a:gd name="T1" fmla="*/ 303 h 348"/>
                <a:gd name="T2" fmla="*/ 245 w 287"/>
                <a:gd name="T3" fmla="*/ 331 h 348"/>
                <a:gd name="T4" fmla="*/ 90 w 287"/>
                <a:gd name="T5" fmla="*/ 331 h 348"/>
                <a:gd name="T6" fmla="*/ 90 w 287"/>
                <a:gd name="T7" fmla="*/ 281 h 348"/>
                <a:gd name="T8" fmla="*/ 76 w 287"/>
                <a:gd name="T9" fmla="*/ 263 h 348"/>
                <a:gd name="T10" fmla="*/ 17 w 287"/>
                <a:gd name="T11" fmla="*/ 263 h 348"/>
                <a:gd name="T12" fmla="*/ 17 w 287"/>
                <a:gd name="T13" fmla="*/ 59 h 348"/>
                <a:gd name="T14" fmla="*/ 40 w 287"/>
                <a:gd name="T15" fmla="*/ 27 h 348"/>
                <a:gd name="T16" fmla="*/ 251 w 287"/>
                <a:gd name="T17" fmla="*/ 27 h 348"/>
                <a:gd name="T18" fmla="*/ 268 w 287"/>
                <a:gd name="T19" fmla="*/ 52 h 348"/>
                <a:gd name="T20" fmla="*/ 268 w 287"/>
                <a:gd name="T21" fmla="*/ 104 h 348"/>
                <a:gd name="T22" fmla="*/ 268 w 287"/>
                <a:gd name="T23" fmla="*/ 104 h 348"/>
                <a:gd name="T24" fmla="*/ 285 w 287"/>
                <a:gd name="T25" fmla="*/ 83 h 348"/>
                <a:gd name="T26" fmla="*/ 285 w 287"/>
                <a:gd name="T27" fmla="*/ 45 h 348"/>
                <a:gd name="T28" fmla="*/ 252 w 287"/>
                <a:gd name="T29" fmla="*/ 8 h 348"/>
                <a:gd name="T30" fmla="*/ 70 w 287"/>
                <a:gd name="T31" fmla="*/ 8 h 348"/>
                <a:gd name="T32" fmla="*/ 40 w 287"/>
                <a:gd name="T33" fmla="*/ 8 h 348"/>
                <a:gd name="T34" fmla="*/ 0 w 287"/>
                <a:gd name="T35" fmla="*/ 44 h 348"/>
                <a:gd name="T36" fmla="*/ 0 w 287"/>
                <a:gd name="T37" fmla="*/ 294 h 348"/>
                <a:gd name="T38" fmla="*/ 82 w 287"/>
                <a:gd name="T39" fmla="*/ 346 h 348"/>
                <a:gd name="T40" fmla="*/ 252 w 287"/>
                <a:gd name="T41" fmla="*/ 346 h 348"/>
                <a:gd name="T42" fmla="*/ 285 w 287"/>
                <a:gd name="T43" fmla="*/ 321 h 348"/>
                <a:gd name="T44" fmla="*/ 285 w 287"/>
                <a:gd name="T45" fmla="*/ 228 h 348"/>
                <a:gd name="T46" fmla="*/ 268 w 287"/>
                <a:gd name="T47" fmla="*/ 238 h 348"/>
                <a:gd name="T48" fmla="*/ 268 w 287"/>
                <a:gd name="T49" fmla="*/ 303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7" h="348">
                  <a:moveTo>
                    <a:pt x="268" y="303"/>
                  </a:moveTo>
                  <a:cubicBezTo>
                    <a:pt x="268" y="303"/>
                    <a:pt x="272" y="331"/>
                    <a:pt x="245" y="331"/>
                  </a:cubicBezTo>
                  <a:cubicBezTo>
                    <a:pt x="217" y="331"/>
                    <a:pt x="90" y="331"/>
                    <a:pt x="90" y="331"/>
                  </a:cubicBezTo>
                  <a:cubicBezTo>
                    <a:pt x="90" y="281"/>
                    <a:pt x="90" y="281"/>
                    <a:pt x="90" y="281"/>
                  </a:cubicBezTo>
                  <a:cubicBezTo>
                    <a:pt x="90" y="281"/>
                    <a:pt x="91" y="263"/>
                    <a:pt x="76" y="263"/>
                  </a:cubicBezTo>
                  <a:cubicBezTo>
                    <a:pt x="60" y="263"/>
                    <a:pt x="17" y="263"/>
                    <a:pt x="17" y="263"/>
                  </a:cubicBezTo>
                  <a:cubicBezTo>
                    <a:pt x="17" y="59"/>
                    <a:pt x="17" y="59"/>
                    <a:pt x="17" y="59"/>
                  </a:cubicBezTo>
                  <a:cubicBezTo>
                    <a:pt x="17" y="59"/>
                    <a:pt x="13" y="27"/>
                    <a:pt x="40" y="27"/>
                  </a:cubicBezTo>
                  <a:cubicBezTo>
                    <a:pt x="251" y="27"/>
                    <a:pt x="251" y="27"/>
                    <a:pt x="251" y="27"/>
                  </a:cubicBezTo>
                  <a:cubicBezTo>
                    <a:pt x="251" y="27"/>
                    <a:pt x="268" y="30"/>
                    <a:pt x="268" y="52"/>
                  </a:cubicBezTo>
                  <a:cubicBezTo>
                    <a:pt x="268" y="57"/>
                    <a:pt x="268" y="77"/>
                    <a:pt x="268" y="104"/>
                  </a:cubicBezTo>
                  <a:cubicBezTo>
                    <a:pt x="268" y="104"/>
                    <a:pt x="268" y="104"/>
                    <a:pt x="268" y="104"/>
                  </a:cubicBezTo>
                  <a:cubicBezTo>
                    <a:pt x="285" y="83"/>
                    <a:pt x="285" y="83"/>
                    <a:pt x="285" y="83"/>
                  </a:cubicBezTo>
                  <a:cubicBezTo>
                    <a:pt x="285" y="60"/>
                    <a:pt x="285" y="45"/>
                    <a:pt x="285" y="45"/>
                  </a:cubicBezTo>
                  <a:cubicBezTo>
                    <a:pt x="285" y="45"/>
                    <a:pt x="287" y="8"/>
                    <a:pt x="252" y="8"/>
                  </a:cubicBezTo>
                  <a:cubicBezTo>
                    <a:pt x="70" y="8"/>
                    <a:pt x="70" y="8"/>
                    <a:pt x="70" y="8"/>
                  </a:cubicBezTo>
                  <a:cubicBezTo>
                    <a:pt x="40" y="8"/>
                    <a:pt x="40" y="8"/>
                    <a:pt x="40" y="8"/>
                  </a:cubicBezTo>
                  <a:cubicBezTo>
                    <a:pt x="40" y="8"/>
                    <a:pt x="0" y="0"/>
                    <a:pt x="0" y="44"/>
                  </a:cubicBezTo>
                  <a:cubicBezTo>
                    <a:pt x="0" y="87"/>
                    <a:pt x="0" y="294"/>
                    <a:pt x="0" y="294"/>
                  </a:cubicBezTo>
                  <a:cubicBezTo>
                    <a:pt x="82" y="346"/>
                    <a:pt x="82" y="346"/>
                    <a:pt x="82" y="346"/>
                  </a:cubicBezTo>
                  <a:cubicBezTo>
                    <a:pt x="252" y="346"/>
                    <a:pt x="252" y="346"/>
                    <a:pt x="252" y="346"/>
                  </a:cubicBezTo>
                  <a:cubicBezTo>
                    <a:pt x="252" y="346"/>
                    <a:pt x="285" y="348"/>
                    <a:pt x="285" y="321"/>
                  </a:cubicBezTo>
                  <a:cubicBezTo>
                    <a:pt x="285" y="312"/>
                    <a:pt x="285" y="274"/>
                    <a:pt x="285" y="228"/>
                  </a:cubicBezTo>
                  <a:cubicBezTo>
                    <a:pt x="268" y="238"/>
                    <a:pt x="268" y="238"/>
                    <a:pt x="268" y="238"/>
                  </a:cubicBezTo>
                  <a:cubicBezTo>
                    <a:pt x="268" y="275"/>
                    <a:pt x="268" y="303"/>
                    <a:pt x="268" y="3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grpSp>
      <p:grpSp>
        <p:nvGrpSpPr>
          <p:cNvPr id="29" name="组合 28"/>
          <p:cNvGrpSpPr/>
          <p:nvPr/>
        </p:nvGrpSpPr>
        <p:grpSpPr>
          <a:xfrm>
            <a:off x="5030934" y="2884112"/>
            <a:ext cx="601529" cy="562743"/>
            <a:chOff x="5030931" y="2884106"/>
            <a:chExt cx="601529" cy="562742"/>
          </a:xfrm>
        </p:grpSpPr>
        <p:sp>
          <p:nvSpPr>
            <p:cNvPr id="30" name="椭圆 29"/>
            <p:cNvSpPr/>
            <p:nvPr/>
          </p:nvSpPr>
          <p:spPr>
            <a:xfrm>
              <a:off x="5055353" y="2884106"/>
              <a:ext cx="562742" cy="5627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sp>
          <p:nvSpPr>
            <p:cNvPr id="31" name="文本框 30"/>
            <p:cNvSpPr txBox="1"/>
            <p:nvPr/>
          </p:nvSpPr>
          <p:spPr>
            <a:xfrm>
              <a:off x="5030931" y="2902999"/>
              <a:ext cx="601529" cy="523219"/>
            </a:xfrm>
            <a:prstGeom prst="rect">
              <a:avLst/>
            </a:prstGeom>
            <a:noFill/>
          </p:spPr>
          <p:txBody>
            <a:bodyPr wrap="square" rtlCol="0">
              <a:spAutoFit/>
            </a:bodyPr>
            <a:lstStyle/>
            <a:p>
              <a:pPr algn="ctr"/>
              <a:r>
                <a:rPr lang="en-US" altLang="zh-CN" sz="2800" dirty="0">
                  <a:solidFill>
                    <a:srgbClr val="00B0F0"/>
                  </a:solidFill>
                  <a:cs typeface="+mn-ea"/>
                  <a:sym typeface="+mn-lt"/>
                </a:rPr>
                <a:t>02</a:t>
              </a:r>
              <a:endParaRPr lang="zh-CN" altLang="en-US" sz="2800" dirty="0">
                <a:solidFill>
                  <a:srgbClr val="00B0F0"/>
                </a:solidFill>
                <a:cs typeface="+mn-ea"/>
                <a:sym typeface="+mn-lt"/>
              </a:endParaRPr>
            </a:p>
          </p:txBody>
        </p:sp>
      </p:grpSp>
    </p:spTree>
  </p:cSld>
  <p:clrMapOvr>
    <a:masterClrMapping/>
  </p:clrMapOvr>
  <p:transition spd="slow" advClick="0" advTm="0">
    <p:fad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 fill="hold"/>
                                            <p:tgtEl>
                                              <p:spTgt spid="4"/>
                                            </p:tgtEl>
                                            <p:attrNameLst>
                                              <p:attrName>ppt_w</p:attrName>
                                            </p:attrNameLst>
                                          </p:cBhvr>
                                          <p:tavLst>
                                            <p:tav tm="0">
                                              <p:val>
                                                <p:fltVal val="0"/>
                                              </p:val>
                                            </p:tav>
                                            <p:tav tm="100000">
                                              <p:val>
                                                <p:strVal val="#ppt_w"/>
                                              </p:val>
                                            </p:tav>
                                          </p:tavLst>
                                        </p:anim>
                                        <p:anim calcmode="lin" valueType="num">
                                          <p:cBhvr>
                                            <p:cTn id="8" dur="200" fill="hold"/>
                                            <p:tgtEl>
                                              <p:spTgt spid="4"/>
                                            </p:tgtEl>
                                            <p:attrNameLst>
                                              <p:attrName>ppt_h</p:attrName>
                                            </p:attrNameLst>
                                          </p:cBhvr>
                                          <p:tavLst>
                                            <p:tav tm="0">
                                              <p:val>
                                                <p:fltVal val="0"/>
                                              </p:val>
                                            </p:tav>
                                            <p:tav tm="100000">
                                              <p:val>
                                                <p:strVal val="#ppt_h"/>
                                              </p:val>
                                            </p:tav>
                                          </p:tavLst>
                                        </p:anim>
                                        <p:animEffect transition="in" filter="fade">
                                          <p:cBhvr>
                                            <p:cTn id="9" dur="200"/>
                                            <p:tgtEl>
                                              <p:spTgt spid="4"/>
                                            </p:tgtEl>
                                          </p:cBhvr>
                                        </p:animEffect>
                                      </p:childTnLst>
                                    </p:cTn>
                                  </p:par>
                                </p:childTnLst>
                              </p:cTn>
                            </p:par>
                            <p:par>
                              <p:cTn id="10" fill="hold">
                                <p:stCondLst>
                                  <p:cond delay="500"/>
                                </p:stCondLst>
                                <p:childTnLst>
                                  <p:par>
                                    <p:cTn id="11" presetID="32" presetClass="emph" presetSubtype="0" fill="hold" nodeType="afterEffect">
                                      <p:stCondLst>
                                        <p:cond delay="0"/>
                                      </p:stCondLst>
                                      <p:childTnLst>
                                        <p:animRot by="120000">
                                          <p:cBhvr>
                                            <p:cTn id="12" dur="50" fill="hold">
                                              <p:stCondLst>
                                                <p:cond delay="0"/>
                                              </p:stCondLst>
                                            </p:cTn>
                                            <p:tgtEl>
                                              <p:spTgt spid="4"/>
                                            </p:tgtEl>
                                            <p:attrNameLst>
                                              <p:attrName>r</p:attrName>
                                            </p:attrNameLst>
                                          </p:cBhvr>
                                        </p:animRot>
                                        <p:animRot by="-240000">
                                          <p:cBhvr>
                                            <p:cTn id="13" dur="100" fill="hold">
                                              <p:stCondLst>
                                                <p:cond delay="100"/>
                                              </p:stCondLst>
                                            </p:cTn>
                                            <p:tgtEl>
                                              <p:spTgt spid="4"/>
                                            </p:tgtEl>
                                            <p:attrNameLst>
                                              <p:attrName>r</p:attrName>
                                            </p:attrNameLst>
                                          </p:cBhvr>
                                        </p:animRot>
                                        <p:animRot by="240000">
                                          <p:cBhvr>
                                            <p:cTn id="14" dur="100" fill="hold">
                                              <p:stCondLst>
                                                <p:cond delay="200"/>
                                              </p:stCondLst>
                                            </p:cTn>
                                            <p:tgtEl>
                                              <p:spTgt spid="4"/>
                                            </p:tgtEl>
                                            <p:attrNameLst>
                                              <p:attrName>r</p:attrName>
                                            </p:attrNameLst>
                                          </p:cBhvr>
                                        </p:animRot>
                                        <p:animRot by="-240000">
                                          <p:cBhvr>
                                            <p:cTn id="15" dur="100" fill="hold">
                                              <p:stCondLst>
                                                <p:cond delay="300"/>
                                              </p:stCondLst>
                                            </p:cTn>
                                            <p:tgtEl>
                                              <p:spTgt spid="4"/>
                                            </p:tgtEl>
                                            <p:attrNameLst>
                                              <p:attrName>r</p:attrName>
                                            </p:attrNameLst>
                                          </p:cBhvr>
                                        </p:animRot>
                                        <p:animRot by="120000">
                                          <p:cBhvr>
                                            <p:cTn id="16" dur="100" fill="hold">
                                              <p:stCondLst>
                                                <p:cond delay="400"/>
                                              </p:stCondLst>
                                            </p:cTn>
                                            <p:tgtEl>
                                              <p:spTgt spid="4"/>
                                            </p:tgtEl>
                                            <p:attrNameLst>
                                              <p:attrName>r</p:attrName>
                                            </p:attrNameLst>
                                          </p:cBhvr>
                                        </p:animRot>
                                      </p:childTnLst>
                                    </p:cTn>
                                  </p:par>
                                </p:childTnLst>
                              </p:cTn>
                            </p:par>
                            <p:par>
                              <p:cTn id="17" fill="hold">
                                <p:stCondLst>
                                  <p:cond delay="1000"/>
                                </p:stCondLst>
                                <p:childTnLst>
                                  <p:par>
                                    <p:cTn id="18" presetID="37" presetClass="entr" presetSubtype="0"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700"/>
                                            <p:tgtEl>
                                              <p:spTgt spid="20"/>
                                            </p:tgtEl>
                                          </p:cBhvr>
                                        </p:animEffect>
                                        <p:anim calcmode="lin" valueType="num">
                                          <p:cBhvr>
                                            <p:cTn id="21" dur="700" fill="hold"/>
                                            <p:tgtEl>
                                              <p:spTgt spid="20"/>
                                            </p:tgtEl>
                                            <p:attrNameLst>
                                              <p:attrName>ppt_x</p:attrName>
                                            </p:attrNameLst>
                                          </p:cBhvr>
                                          <p:tavLst>
                                            <p:tav tm="0">
                                              <p:val>
                                                <p:strVal val="#ppt_x"/>
                                              </p:val>
                                            </p:tav>
                                            <p:tav tm="100000">
                                              <p:val>
                                                <p:strVal val="#ppt_x"/>
                                              </p:val>
                                            </p:tav>
                                          </p:tavLst>
                                        </p:anim>
                                        <p:anim calcmode="lin" valueType="num">
                                          <p:cBhvr>
                                            <p:cTn id="22" dur="630" decel="100000" fill="hold"/>
                                            <p:tgtEl>
                                              <p:spTgt spid="20"/>
                                            </p:tgtEl>
                                            <p:attrNameLst>
                                              <p:attrName>ppt_y</p:attrName>
                                            </p:attrNameLst>
                                          </p:cBhvr>
                                          <p:tavLst>
                                            <p:tav tm="0">
                                              <p:val>
                                                <p:strVal val="#ppt_y+1"/>
                                              </p:val>
                                            </p:tav>
                                            <p:tav tm="100000">
                                              <p:val>
                                                <p:strVal val="#ppt_y-.03"/>
                                              </p:val>
                                            </p:tav>
                                          </p:tavLst>
                                        </p:anim>
                                        <p:anim calcmode="lin" valueType="num">
                                          <p:cBhvr>
                                            <p:cTn id="23" dur="70" accel="100000" fill="hold">
                                              <p:stCondLst>
                                                <p:cond delay="630"/>
                                              </p:stCondLst>
                                            </p:cTn>
                                            <p:tgtEl>
                                              <p:spTgt spid="20"/>
                                            </p:tgtEl>
                                            <p:attrNameLst>
                                              <p:attrName>ppt_y</p:attrName>
                                            </p:attrNameLst>
                                          </p:cBhvr>
                                          <p:tavLst>
                                            <p:tav tm="0">
                                              <p:val>
                                                <p:strVal val="#ppt_y-.03"/>
                                              </p:val>
                                            </p:tav>
                                            <p:tav tm="100000">
                                              <p:val>
                                                <p:strVal val="#ppt_y"/>
                                              </p:val>
                                            </p:tav>
                                          </p:tavLst>
                                        </p:anim>
                                      </p:childTnLst>
                                    </p:cTn>
                                  </p:par>
                                </p:childTnLst>
                              </p:cTn>
                            </p:par>
                            <p:par>
                              <p:cTn id="24" fill="hold">
                                <p:stCondLst>
                                  <p:cond delay="2000"/>
                                </p:stCondLst>
                                <p:childTnLst>
                                  <p:par>
                                    <p:cTn id="25" presetID="1"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par>
                              <p:cTn id="27" fill="hold">
                                <p:stCondLst>
                                  <p:cond delay="20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2500"/>
                                </p:stCondLst>
                                <p:childTnLst>
                                  <p:par>
                                    <p:cTn id="32" presetID="1"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par>
                              <p:cTn id="34" fill="hold">
                                <p:stCondLst>
                                  <p:cond delay="2500"/>
                                </p:stCondLst>
                                <p:childTnLst>
                                  <p:par>
                                    <p:cTn id="35" presetID="2" presetClass="entr" presetSubtype="2" accel="70000" fill="hold" grpId="0" nodeType="afterEffect" p14:presetBounceEnd="50000">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14:bounceEnd="50000">
                                          <p:cBhvr additive="base">
                                            <p:cTn id="37" dur="500" fill="hold"/>
                                            <p:tgtEl>
                                              <p:spTgt spid="9"/>
                                            </p:tgtEl>
                                            <p:attrNameLst>
                                              <p:attrName>ppt_x</p:attrName>
                                            </p:attrNameLst>
                                          </p:cBhvr>
                                          <p:tavLst>
                                            <p:tav tm="0">
                                              <p:val>
                                                <p:strVal val="1+#ppt_w/2"/>
                                              </p:val>
                                            </p:tav>
                                            <p:tav tm="100000">
                                              <p:val>
                                                <p:strVal val="#ppt_x"/>
                                              </p:val>
                                            </p:tav>
                                          </p:tavLst>
                                        </p:anim>
                                        <p:anim calcmode="lin" valueType="num" p14:bounceEnd="50000">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par>
                              <p:cTn id="39" fill="hold">
                                <p:stCondLst>
                                  <p:cond delay="3000"/>
                                </p:stCondLst>
                                <p:childTnLst>
                                  <p:par>
                                    <p:cTn id="40" presetID="53" presetClass="entr" presetSubtype="16" fill="hold" nodeType="after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p:cTn id="42" dur="200" fill="hold"/>
                                            <p:tgtEl>
                                              <p:spTgt spid="29"/>
                                            </p:tgtEl>
                                            <p:attrNameLst>
                                              <p:attrName>ppt_w</p:attrName>
                                            </p:attrNameLst>
                                          </p:cBhvr>
                                          <p:tavLst>
                                            <p:tav tm="0">
                                              <p:val>
                                                <p:fltVal val="0"/>
                                              </p:val>
                                            </p:tav>
                                            <p:tav tm="100000">
                                              <p:val>
                                                <p:strVal val="#ppt_w"/>
                                              </p:val>
                                            </p:tav>
                                          </p:tavLst>
                                        </p:anim>
                                        <p:anim calcmode="lin" valueType="num">
                                          <p:cBhvr>
                                            <p:cTn id="43" dur="200" fill="hold"/>
                                            <p:tgtEl>
                                              <p:spTgt spid="29"/>
                                            </p:tgtEl>
                                            <p:attrNameLst>
                                              <p:attrName>ppt_h</p:attrName>
                                            </p:attrNameLst>
                                          </p:cBhvr>
                                          <p:tavLst>
                                            <p:tav tm="0">
                                              <p:val>
                                                <p:fltVal val="0"/>
                                              </p:val>
                                            </p:tav>
                                            <p:tav tm="100000">
                                              <p:val>
                                                <p:strVal val="#ppt_h"/>
                                              </p:val>
                                            </p:tav>
                                          </p:tavLst>
                                        </p:anim>
                                        <p:animEffect transition="in" filter="fade">
                                          <p:cBhvr>
                                            <p:cTn id="44" dur="200"/>
                                            <p:tgtEl>
                                              <p:spTgt spid="29"/>
                                            </p:tgtEl>
                                          </p:cBhvr>
                                        </p:animEffect>
                                      </p:childTnLst>
                                    </p:cTn>
                                  </p:par>
                                </p:childTnLst>
                              </p:cTn>
                            </p:par>
                            <p:par>
                              <p:cTn id="45" fill="hold">
                                <p:stCondLst>
                                  <p:cond delay="3500"/>
                                </p:stCondLst>
                                <p:childTnLst>
                                  <p:par>
                                    <p:cTn id="46" presetID="26" presetClass="emph" presetSubtype="0" fill="hold" nodeType="afterEffect">
                                      <p:stCondLst>
                                        <p:cond delay="0"/>
                                      </p:stCondLst>
                                      <p:childTnLst>
                                        <p:animEffect transition="out" filter="fade">
                                          <p:cBhvr>
                                            <p:cTn id="47" dur="500" tmFilter="0, 0; .2, .5; .8, .5; 1, 0"/>
                                            <p:tgtEl>
                                              <p:spTgt spid="29"/>
                                            </p:tgtEl>
                                          </p:cBhvr>
                                        </p:animEffect>
                                        <p:animScale>
                                          <p:cBhvr>
                                            <p:cTn id="48" dur="250" autoRev="1" fill="hold"/>
                                            <p:tgtEl>
                                              <p:spTgt spid="29"/>
                                            </p:tgtEl>
                                          </p:cBhvr>
                                          <p:by x="105000" y="105000"/>
                                        </p:animScale>
                                      </p:childTnLst>
                                    </p:cTn>
                                  </p:par>
                                </p:childTnLst>
                              </p:cTn>
                            </p:par>
                            <p:par>
                              <p:cTn id="49" fill="hold">
                                <p:stCondLst>
                                  <p:cond delay="4000"/>
                                </p:stCondLst>
                                <p:childTnLst>
                                  <p:par>
                                    <p:cTn id="50" presetID="16" presetClass="entr" presetSubtype="37" fill="hold" grpId="0" nodeType="afterEffect">
                                      <p:stCondLst>
                                        <p:cond delay="300"/>
                                      </p:stCondLst>
                                      <p:childTnLst>
                                        <p:set>
                                          <p:cBhvr>
                                            <p:cTn id="51" dur="1" fill="hold">
                                              <p:stCondLst>
                                                <p:cond delay="0"/>
                                              </p:stCondLst>
                                            </p:cTn>
                                            <p:tgtEl>
                                              <p:spTgt spid="19"/>
                                            </p:tgtEl>
                                            <p:attrNameLst>
                                              <p:attrName>style.visibility</p:attrName>
                                            </p:attrNameLst>
                                          </p:cBhvr>
                                          <p:to>
                                            <p:strVal val="visible"/>
                                          </p:to>
                                        </p:set>
                                        <p:animEffect transition="in" filter="barn(outVertical)">
                                          <p:cBhvr>
                                            <p:cTn id="52" dur="7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 fill="hold"/>
                                            <p:tgtEl>
                                              <p:spTgt spid="4"/>
                                            </p:tgtEl>
                                            <p:attrNameLst>
                                              <p:attrName>ppt_w</p:attrName>
                                            </p:attrNameLst>
                                          </p:cBhvr>
                                          <p:tavLst>
                                            <p:tav tm="0">
                                              <p:val>
                                                <p:fltVal val="0"/>
                                              </p:val>
                                            </p:tav>
                                            <p:tav tm="100000">
                                              <p:val>
                                                <p:strVal val="#ppt_w"/>
                                              </p:val>
                                            </p:tav>
                                          </p:tavLst>
                                        </p:anim>
                                        <p:anim calcmode="lin" valueType="num">
                                          <p:cBhvr>
                                            <p:cTn id="8" dur="200" fill="hold"/>
                                            <p:tgtEl>
                                              <p:spTgt spid="4"/>
                                            </p:tgtEl>
                                            <p:attrNameLst>
                                              <p:attrName>ppt_h</p:attrName>
                                            </p:attrNameLst>
                                          </p:cBhvr>
                                          <p:tavLst>
                                            <p:tav tm="0">
                                              <p:val>
                                                <p:fltVal val="0"/>
                                              </p:val>
                                            </p:tav>
                                            <p:tav tm="100000">
                                              <p:val>
                                                <p:strVal val="#ppt_h"/>
                                              </p:val>
                                            </p:tav>
                                          </p:tavLst>
                                        </p:anim>
                                        <p:animEffect transition="in" filter="fade">
                                          <p:cBhvr>
                                            <p:cTn id="9" dur="200"/>
                                            <p:tgtEl>
                                              <p:spTgt spid="4"/>
                                            </p:tgtEl>
                                          </p:cBhvr>
                                        </p:animEffect>
                                      </p:childTnLst>
                                    </p:cTn>
                                  </p:par>
                                </p:childTnLst>
                              </p:cTn>
                            </p:par>
                            <p:par>
                              <p:cTn id="10" fill="hold">
                                <p:stCondLst>
                                  <p:cond delay="500"/>
                                </p:stCondLst>
                                <p:childTnLst>
                                  <p:par>
                                    <p:cTn id="11" presetID="32" presetClass="emph" presetSubtype="0" fill="hold" nodeType="afterEffect">
                                      <p:stCondLst>
                                        <p:cond delay="0"/>
                                      </p:stCondLst>
                                      <p:childTnLst>
                                        <p:animRot by="120000">
                                          <p:cBhvr>
                                            <p:cTn id="12" dur="50" fill="hold">
                                              <p:stCondLst>
                                                <p:cond delay="0"/>
                                              </p:stCondLst>
                                            </p:cTn>
                                            <p:tgtEl>
                                              <p:spTgt spid="4"/>
                                            </p:tgtEl>
                                            <p:attrNameLst>
                                              <p:attrName>r</p:attrName>
                                            </p:attrNameLst>
                                          </p:cBhvr>
                                        </p:animRot>
                                        <p:animRot by="-240000">
                                          <p:cBhvr>
                                            <p:cTn id="13" dur="100" fill="hold">
                                              <p:stCondLst>
                                                <p:cond delay="100"/>
                                              </p:stCondLst>
                                            </p:cTn>
                                            <p:tgtEl>
                                              <p:spTgt spid="4"/>
                                            </p:tgtEl>
                                            <p:attrNameLst>
                                              <p:attrName>r</p:attrName>
                                            </p:attrNameLst>
                                          </p:cBhvr>
                                        </p:animRot>
                                        <p:animRot by="240000">
                                          <p:cBhvr>
                                            <p:cTn id="14" dur="100" fill="hold">
                                              <p:stCondLst>
                                                <p:cond delay="200"/>
                                              </p:stCondLst>
                                            </p:cTn>
                                            <p:tgtEl>
                                              <p:spTgt spid="4"/>
                                            </p:tgtEl>
                                            <p:attrNameLst>
                                              <p:attrName>r</p:attrName>
                                            </p:attrNameLst>
                                          </p:cBhvr>
                                        </p:animRot>
                                        <p:animRot by="-240000">
                                          <p:cBhvr>
                                            <p:cTn id="15" dur="100" fill="hold">
                                              <p:stCondLst>
                                                <p:cond delay="300"/>
                                              </p:stCondLst>
                                            </p:cTn>
                                            <p:tgtEl>
                                              <p:spTgt spid="4"/>
                                            </p:tgtEl>
                                            <p:attrNameLst>
                                              <p:attrName>r</p:attrName>
                                            </p:attrNameLst>
                                          </p:cBhvr>
                                        </p:animRot>
                                        <p:animRot by="120000">
                                          <p:cBhvr>
                                            <p:cTn id="16" dur="100" fill="hold">
                                              <p:stCondLst>
                                                <p:cond delay="400"/>
                                              </p:stCondLst>
                                            </p:cTn>
                                            <p:tgtEl>
                                              <p:spTgt spid="4"/>
                                            </p:tgtEl>
                                            <p:attrNameLst>
                                              <p:attrName>r</p:attrName>
                                            </p:attrNameLst>
                                          </p:cBhvr>
                                        </p:animRot>
                                      </p:childTnLst>
                                    </p:cTn>
                                  </p:par>
                                </p:childTnLst>
                              </p:cTn>
                            </p:par>
                            <p:par>
                              <p:cTn id="17" fill="hold">
                                <p:stCondLst>
                                  <p:cond delay="1000"/>
                                </p:stCondLst>
                                <p:childTnLst>
                                  <p:par>
                                    <p:cTn id="18" presetID="37" presetClass="entr" presetSubtype="0"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700"/>
                                            <p:tgtEl>
                                              <p:spTgt spid="20"/>
                                            </p:tgtEl>
                                          </p:cBhvr>
                                        </p:animEffect>
                                        <p:anim calcmode="lin" valueType="num">
                                          <p:cBhvr>
                                            <p:cTn id="21" dur="700" fill="hold"/>
                                            <p:tgtEl>
                                              <p:spTgt spid="20"/>
                                            </p:tgtEl>
                                            <p:attrNameLst>
                                              <p:attrName>ppt_x</p:attrName>
                                            </p:attrNameLst>
                                          </p:cBhvr>
                                          <p:tavLst>
                                            <p:tav tm="0">
                                              <p:val>
                                                <p:strVal val="#ppt_x"/>
                                              </p:val>
                                            </p:tav>
                                            <p:tav tm="100000">
                                              <p:val>
                                                <p:strVal val="#ppt_x"/>
                                              </p:val>
                                            </p:tav>
                                          </p:tavLst>
                                        </p:anim>
                                        <p:anim calcmode="lin" valueType="num">
                                          <p:cBhvr>
                                            <p:cTn id="22" dur="630" decel="100000" fill="hold"/>
                                            <p:tgtEl>
                                              <p:spTgt spid="20"/>
                                            </p:tgtEl>
                                            <p:attrNameLst>
                                              <p:attrName>ppt_y</p:attrName>
                                            </p:attrNameLst>
                                          </p:cBhvr>
                                          <p:tavLst>
                                            <p:tav tm="0">
                                              <p:val>
                                                <p:strVal val="#ppt_y+1"/>
                                              </p:val>
                                            </p:tav>
                                            <p:tav tm="100000">
                                              <p:val>
                                                <p:strVal val="#ppt_y-.03"/>
                                              </p:val>
                                            </p:tav>
                                          </p:tavLst>
                                        </p:anim>
                                        <p:anim calcmode="lin" valueType="num">
                                          <p:cBhvr>
                                            <p:cTn id="23" dur="70" accel="100000" fill="hold">
                                              <p:stCondLst>
                                                <p:cond delay="630"/>
                                              </p:stCondLst>
                                            </p:cTn>
                                            <p:tgtEl>
                                              <p:spTgt spid="20"/>
                                            </p:tgtEl>
                                            <p:attrNameLst>
                                              <p:attrName>ppt_y</p:attrName>
                                            </p:attrNameLst>
                                          </p:cBhvr>
                                          <p:tavLst>
                                            <p:tav tm="0">
                                              <p:val>
                                                <p:strVal val="#ppt_y-.03"/>
                                              </p:val>
                                            </p:tav>
                                            <p:tav tm="100000">
                                              <p:val>
                                                <p:strVal val="#ppt_y"/>
                                              </p:val>
                                            </p:tav>
                                          </p:tavLst>
                                        </p:anim>
                                      </p:childTnLst>
                                    </p:cTn>
                                  </p:par>
                                </p:childTnLst>
                              </p:cTn>
                            </p:par>
                            <p:par>
                              <p:cTn id="24" fill="hold">
                                <p:stCondLst>
                                  <p:cond delay="2000"/>
                                </p:stCondLst>
                                <p:childTnLst>
                                  <p:par>
                                    <p:cTn id="25" presetID="1"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par>
                              <p:cTn id="27" fill="hold">
                                <p:stCondLst>
                                  <p:cond delay="20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2500"/>
                                </p:stCondLst>
                                <p:childTnLst>
                                  <p:par>
                                    <p:cTn id="32" presetID="1"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par>
                              <p:cTn id="34" fill="hold">
                                <p:stCondLst>
                                  <p:cond delay="2500"/>
                                </p:stCondLst>
                                <p:childTnLst>
                                  <p:par>
                                    <p:cTn id="35" presetID="2" presetClass="entr" presetSubtype="2" accel="70000" fill="hold" grpId="0" nodeType="after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1+#ppt_w/2"/>
                                              </p:val>
                                            </p:tav>
                                            <p:tav tm="100000">
                                              <p:val>
                                                <p:strVal val="#ppt_x"/>
                                              </p:val>
                                            </p:tav>
                                          </p:tavLst>
                                        </p:anim>
                                        <p:anim calcmode="lin" valueType="num">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par>
                              <p:cTn id="39" fill="hold">
                                <p:stCondLst>
                                  <p:cond delay="3000"/>
                                </p:stCondLst>
                                <p:childTnLst>
                                  <p:par>
                                    <p:cTn id="40" presetID="53" presetClass="entr" presetSubtype="16" fill="hold" nodeType="after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p:cTn id="42" dur="200" fill="hold"/>
                                            <p:tgtEl>
                                              <p:spTgt spid="29"/>
                                            </p:tgtEl>
                                            <p:attrNameLst>
                                              <p:attrName>ppt_w</p:attrName>
                                            </p:attrNameLst>
                                          </p:cBhvr>
                                          <p:tavLst>
                                            <p:tav tm="0">
                                              <p:val>
                                                <p:fltVal val="0"/>
                                              </p:val>
                                            </p:tav>
                                            <p:tav tm="100000">
                                              <p:val>
                                                <p:strVal val="#ppt_w"/>
                                              </p:val>
                                            </p:tav>
                                          </p:tavLst>
                                        </p:anim>
                                        <p:anim calcmode="lin" valueType="num">
                                          <p:cBhvr>
                                            <p:cTn id="43" dur="200" fill="hold"/>
                                            <p:tgtEl>
                                              <p:spTgt spid="29"/>
                                            </p:tgtEl>
                                            <p:attrNameLst>
                                              <p:attrName>ppt_h</p:attrName>
                                            </p:attrNameLst>
                                          </p:cBhvr>
                                          <p:tavLst>
                                            <p:tav tm="0">
                                              <p:val>
                                                <p:fltVal val="0"/>
                                              </p:val>
                                            </p:tav>
                                            <p:tav tm="100000">
                                              <p:val>
                                                <p:strVal val="#ppt_h"/>
                                              </p:val>
                                            </p:tav>
                                          </p:tavLst>
                                        </p:anim>
                                        <p:animEffect transition="in" filter="fade">
                                          <p:cBhvr>
                                            <p:cTn id="44" dur="200"/>
                                            <p:tgtEl>
                                              <p:spTgt spid="29"/>
                                            </p:tgtEl>
                                          </p:cBhvr>
                                        </p:animEffect>
                                      </p:childTnLst>
                                    </p:cTn>
                                  </p:par>
                                </p:childTnLst>
                              </p:cTn>
                            </p:par>
                            <p:par>
                              <p:cTn id="45" fill="hold">
                                <p:stCondLst>
                                  <p:cond delay="3500"/>
                                </p:stCondLst>
                                <p:childTnLst>
                                  <p:par>
                                    <p:cTn id="46" presetID="26" presetClass="emph" presetSubtype="0" fill="hold" nodeType="afterEffect">
                                      <p:stCondLst>
                                        <p:cond delay="0"/>
                                      </p:stCondLst>
                                      <p:childTnLst>
                                        <p:animEffect transition="out" filter="fade">
                                          <p:cBhvr>
                                            <p:cTn id="47" dur="500" tmFilter="0, 0; .2, .5; .8, .5; 1, 0"/>
                                            <p:tgtEl>
                                              <p:spTgt spid="29"/>
                                            </p:tgtEl>
                                          </p:cBhvr>
                                        </p:animEffect>
                                        <p:animScale>
                                          <p:cBhvr>
                                            <p:cTn id="48" dur="250" autoRev="1" fill="hold"/>
                                            <p:tgtEl>
                                              <p:spTgt spid="29"/>
                                            </p:tgtEl>
                                          </p:cBhvr>
                                          <p:by x="105000" y="105000"/>
                                        </p:animScale>
                                      </p:childTnLst>
                                    </p:cTn>
                                  </p:par>
                                </p:childTnLst>
                              </p:cTn>
                            </p:par>
                            <p:par>
                              <p:cTn id="49" fill="hold">
                                <p:stCondLst>
                                  <p:cond delay="4000"/>
                                </p:stCondLst>
                                <p:childTnLst>
                                  <p:par>
                                    <p:cTn id="50" presetID="16" presetClass="entr" presetSubtype="37" fill="hold" grpId="0" nodeType="afterEffect">
                                      <p:stCondLst>
                                        <p:cond delay="300"/>
                                      </p:stCondLst>
                                      <p:childTnLst>
                                        <p:set>
                                          <p:cBhvr>
                                            <p:cTn id="51" dur="1" fill="hold">
                                              <p:stCondLst>
                                                <p:cond delay="0"/>
                                              </p:stCondLst>
                                            </p:cTn>
                                            <p:tgtEl>
                                              <p:spTgt spid="19"/>
                                            </p:tgtEl>
                                            <p:attrNameLst>
                                              <p:attrName>style.visibility</p:attrName>
                                            </p:attrNameLst>
                                          </p:cBhvr>
                                          <p:to>
                                            <p:strVal val="visible"/>
                                          </p:to>
                                        </p:set>
                                        <p:animEffect transition="in" filter="barn(outVertical)">
                                          <p:cBhvr>
                                            <p:cTn id="52" dur="7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72"/>
          <p:cNvGrpSpPr/>
          <p:nvPr/>
        </p:nvGrpSpPr>
        <p:grpSpPr>
          <a:xfrm>
            <a:off x="459265" y="554219"/>
            <a:ext cx="4319653" cy="1615089"/>
            <a:chOff x="533400" y="1060085"/>
            <a:chExt cx="3429000" cy="1282277"/>
          </a:xfrm>
        </p:grpSpPr>
        <p:sp>
          <p:nvSpPr>
            <p:cNvPr id="33" name="TextBox 32"/>
            <p:cNvSpPr txBox="1"/>
            <p:nvPr/>
          </p:nvSpPr>
          <p:spPr>
            <a:xfrm>
              <a:off x="533400" y="1060085"/>
              <a:ext cx="762000" cy="952583"/>
            </a:xfrm>
            <a:prstGeom prst="rect">
              <a:avLst/>
            </a:prstGeom>
            <a:noFill/>
          </p:spPr>
          <p:txBody>
            <a:bodyPr wrap="square" rtlCol="0">
              <a:spAutoFit/>
            </a:bodyPr>
            <a:lstStyle/>
            <a:p>
              <a:pPr>
                <a:lnSpc>
                  <a:spcPct val="150000"/>
                </a:lnSpc>
              </a:pPr>
              <a:r>
                <a:rPr lang="id-ID" sz="4800" spc="-378" dirty="0">
                  <a:solidFill>
                    <a:schemeClr val="accent2"/>
                  </a:solidFill>
                  <a:latin typeface="Agency FB" panose="020B0503020202020204" pitchFamily="34" charset="0"/>
                </a:rPr>
                <a:t>01</a:t>
              </a:r>
              <a:endParaRPr lang="en-US" sz="4800" spc="-378" dirty="0">
                <a:solidFill>
                  <a:schemeClr val="accent2"/>
                </a:solidFill>
                <a:latin typeface="Agency FB" panose="020B0503020202020204" pitchFamily="34" charset="0"/>
              </a:endParaRPr>
            </a:p>
          </p:txBody>
        </p:sp>
        <p:sp>
          <p:nvSpPr>
            <p:cNvPr id="34" name="Content Placeholder 2"/>
            <p:cNvSpPr txBox="1"/>
            <p:nvPr/>
          </p:nvSpPr>
          <p:spPr>
            <a:xfrm>
              <a:off x="1238672" y="1448491"/>
              <a:ext cx="2723728" cy="893871"/>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1500" b="1" dirty="0">
                  <a:solidFill>
                    <a:schemeClr val="tx1">
                      <a:lumMod val="65000"/>
                      <a:lumOff val="35000"/>
                    </a:schemeClr>
                  </a:solidFill>
                  <a:latin typeface="+mn-ea"/>
                </a:rPr>
                <a:t>数据采集</a:t>
              </a:r>
              <a:br>
                <a:rPr lang="en-US" sz="1500" b="1" dirty="0">
                  <a:solidFill>
                    <a:schemeClr val="tx1">
                      <a:lumMod val="65000"/>
                      <a:lumOff val="35000"/>
                    </a:schemeClr>
                  </a:solidFill>
                  <a:latin typeface="+mn-ea"/>
                </a:rPr>
              </a:br>
              <a:endParaRPr lang="zh-CN" altLang="en-US" sz="1100" dirty="0">
                <a:solidFill>
                  <a:schemeClr val="tx1">
                    <a:lumMod val="65000"/>
                    <a:lumOff val="35000"/>
                  </a:schemeClr>
                </a:solidFill>
                <a:latin typeface="+mn-ea"/>
              </a:endParaRPr>
            </a:p>
          </p:txBody>
        </p:sp>
      </p:grpSp>
      <p:grpSp>
        <p:nvGrpSpPr>
          <p:cNvPr id="35" name="Group 73"/>
          <p:cNvGrpSpPr/>
          <p:nvPr/>
        </p:nvGrpSpPr>
        <p:grpSpPr>
          <a:xfrm>
            <a:off x="459265" y="1606371"/>
            <a:ext cx="4319653" cy="1620565"/>
            <a:chOff x="533400" y="1065493"/>
            <a:chExt cx="3429000" cy="1286624"/>
          </a:xfrm>
        </p:grpSpPr>
        <p:sp>
          <p:nvSpPr>
            <p:cNvPr id="36" name="TextBox 35"/>
            <p:cNvSpPr txBox="1"/>
            <p:nvPr/>
          </p:nvSpPr>
          <p:spPr>
            <a:xfrm>
              <a:off x="533400" y="1065493"/>
              <a:ext cx="762000" cy="952583"/>
            </a:xfrm>
            <a:prstGeom prst="rect">
              <a:avLst/>
            </a:prstGeom>
            <a:noFill/>
          </p:spPr>
          <p:txBody>
            <a:bodyPr wrap="square" rtlCol="0">
              <a:spAutoFit/>
            </a:bodyPr>
            <a:lstStyle/>
            <a:p>
              <a:pPr>
                <a:lnSpc>
                  <a:spcPct val="150000"/>
                </a:lnSpc>
              </a:pPr>
              <a:r>
                <a:rPr lang="id-ID" sz="4800" spc="-378" dirty="0">
                  <a:solidFill>
                    <a:srgbClr val="00B0F0"/>
                  </a:solidFill>
                  <a:latin typeface="Agency FB" panose="020B0503020202020204" pitchFamily="34" charset="0"/>
                </a:rPr>
                <a:t>02</a:t>
              </a:r>
              <a:endParaRPr lang="en-US" sz="4800" spc="-378" dirty="0">
                <a:solidFill>
                  <a:srgbClr val="00B0F0"/>
                </a:solidFill>
                <a:latin typeface="Agency FB" panose="020B0503020202020204" pitchFamily="34" charset="0"/>
              </a:endParaRPr>
            </a:p>
          </p:txBody>
        </p:sp>
        <p:sp>
          <p:nvSpPr>
            <p:cNvPr id="37" name="Content Placeholder 2"/>
            <p:cNvSpPr txBox="1"/>
            <p:nvPr/>
          </p:nvSpPr>
          <p:spPr>
            <a:xfrm>
              <a:off x="1238672" y="1458246"/>
              <a:ext cx="2723728" cy="893871"/>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1500" b="1" dirty="0">
                  <a:solidFill>
                    <a:schemeClr val="tx1">
                      <a:lumMod val="65000"/>
                      <a:lumOff val="35000"/>
                    </a:schemeClr>
                  </a:solidFill>
                  <a:latin typeface="+mn-ea"/>
                </a:rPr>
                <a:t>故障分类</a:t>
              </a:r>
              <a:br>
                <a:rPr lang="en-US" sz="1500" b="1" dirty="0">
                  <a:solidFill>
                    <a:schemeClr val="tx1">
                      <a:lumMod val="65000"/>
                      <a:lumOff val="35000"/>
                    </a:schemeClr>
                  </a:solidFill>
                  <a:latin typeface="+mn-ea"/>
                </a:rPr>
              </a:br>
              <a:r>
                <a:rPr lang="en-US" sz="1500" b="1" dirty="0">
                  <a:solidFill>
                    <a:schemeClr val="tx1">
                      <a:lumMod val="65000"/>
                      <a:lumOff val="35000"/>
                    </a:schemeClr>
                  </a:solidFill>
                  <a:latin typeface="+mn-ea"/>
                </a:rPr>
                <a:t>For multi-bit fault modes that span more than one fetch </a:t>
              </a:r>
            </a:p>
            <a:p>
              <a:pPr marL="0" indent="0">
                <a:lnSpc>
                  <a:spcPct val="150000"/>
                </a:lnSpc>
                <a:buNone/>
              </a:pPr>
              <a:r>
                <a:rPr lang="en-US" sz="1500" b="1" dirty="0">
                  <a:solidFill>
                    <a:schemeClr val="tx1">
                      <a:lumMod val="65000"/>
                      <a:lumOff val="35000"/>
                    </a:schemeClr>
                  </a:solidFill>
                  <a:latin typeface="+mn-ea"/>
                </a:rPr>
                <a:t>from DRAM (e.g., multiple cache lines), we classify a fault </a:t>
              </a:r>
            </a:p>
            <a:p>
              <a:pPr marL="0" indent="0">
                <a:lnSpc>
                  <a:spcPct val="150000"/>
                </a:lnSpc>
                <a:buNone/>
              </a:pPr>
              <a:r>
                <a:rPr lang="en-US" sz="1500" b="1" dirty="0">
                  <a:solidFill>
                    <a:schemeClr val="tx1">
                      <a:lumMod val="65000"/>
                      <a:lumOff val="35000"/>
                    </a:schemeClr>
                  </a:solidFill>
                  <a:latin typeface="+mn-ea"/>
                </a:rPr>
                <a:t>as likely transient if all errors from that fault occur within a </a:t>
              </a:r>
            </a:p>
            <a:p>
              <a:pPr marL="0" indent="0">
                <a:lnSpc>
                  <a:spcPct val="150000"/>
                </a:lnSpc>
                <a:buNone/>
              </a:pPr>
              <a:r>
                <a:rPr lang="en-US" sz="1500" b="1" dirty="0">
                  <a:solidFill>
                    <a:schemeClr val="tx1">
                      <a:lumMod val="65000"/>
                      <a:lumOff val="35000"/>
                    </a:schemeClr>
                  </a:solidFill>
                  <a:latin typeface="+mn-ea"/>
                </a:rPr>
                <a:t>24-hour interval (i.e., one patrol scrub interval).</a:t>
              </a:r>
              <a:endParaRPr lang="zh-CN" altLang="en-US" sz="1100" dirty="0">
                <a:solidFill>
                  <a:schemeClr val="tx1">
                    <a:lumMod val="65000"/>
                    <a:lumOff val="35000"/>
                  </a:schemeClr>
                </a:solidFill>
                <a:latin typeface="+mn-ea"/>
              </a:endParaRPr>
            </a:p>
          </p:txBody>
        </p:sp>
      </p:grpSp>
      <p:sp>
        <p:nvSpPr>
          <p:cNvPr id="3" name="文本占位符 2"/>
          <p:cNvSpPr>
            <a:spLocks noGrp="1"/>
          </p:cNvSpPr>
          <p:nvPr>
            <p:ph type="body" sz="quarter" idx="10"/>
          </p:nvPr>
        </p:nvSpPr>
        <p:spPr/>
        <p:txBody>
          <a:bodyPr>
            <a:normAutofit lnSpcReduction="10000"/>
          </a:bodyPr>
          <a:lstStyle/>
          <a:p>
            <a:r>
              <a:rPr lang="zh-CN" altLang="en-US" dirty="0"/>
              <a:t>方法</a:t>
            </a:r>
          </a:p>
        </p:txBody>
      </p:sp>
      <p:pic>
        <p:nvPicPr>
          <p:cNvPr id="5" name="图片 4">
            <a:extLst>
              <a:ext uri="{FF2B5EF4-FFF2-40B4-BE49-F238E27FC236}">
                <a16:creationId xmlns:a16="http://schemas.microsoft.com/office/drawing/2014/main" id="{2F62586E-747C-196E-1B42-CDC3074660A0}"/>
              </a:ext>
            </a:extLst>
          </p:cNvPr>
          <p:cNvPicPr>
            <a:picLocks noChangeAspect="1"/>
          </p:cNvPicPr>
          <p:nvPr/>
        </p:nvPicPr>
        <p:blipFill>
          <a:blip r:embed="rId3"/>
          <a:stretch>
            <a:fillRect/>
          </a:stretch>
        </p:blipFill>
        <p:spPr>
          <a:xfrm>
            <a:off x="4931915" y="179726"/>
            <a:ext cx="5090765" cy="6094420"/>
          </a:xfrm>
          <a:prstGeom prst="rect">
            <a:avLst/>
          </a:prstGeom>
        </p:spPr>
      </p:pic>
      <p:sp>
        <p:nvSpPr>
          <p:cNvPr id="11" name="文本框 10">
            <a:extLst>
              <a:ext uri="{FF2B5EF4-FFF2-40B4-BE49-F238E27FC236}">
                <a16:creationId xmlns:a16="http://schemas.microsoft.com/office/drawing/2014/main" id="{3AC5DC27-2289-FE4C-F576-9AF0427D33E0}"/>
              </a:ext>
            </a:extLst>
          </p:cNvPr>
          <p:cNvSpPr txBox="1"/>
          <p:nvPr/>
        </p:nvSpPr>
        <p:spPr>
          <a:xfrm>
            <a:off x="9991488" y="1826408"/>
            <a:ext cx="1705573" cy="1477328"/>
          </a:xfrm>
          <a:prstGeom prst="rect">
            <a:avLst/>
          </a:prstGeom>
          <a:noFill/>
        </p:spPr>
        <p:txBody>
          <a:bodyPr wrap="square">
            <a:spAutoFit/>
          </a:bodyPr>
          <a:lstStyle/>
          <a:p>
            <a:r>
              <a:rPr lang="zh-CN" altLang="en-US" dirty="0"/>
              <a:t>根据发生率，将其划分为两个单位故障，而不是单个二位故障。</a:t>
            </a:r>
          </a:p>
        </p:txBody>
      </p:sp>
      <p:sp>
        <p:nvSpPr>
          <p:cNvPr id="15" name="文本框 14">
            <a:extLst>
              <a:ext uri="{FF2B5EF4-FFF2-40B4-BE49-F238E27FC236}">
                <a16:creationId xmlns:a16="http://schemas.microsoft.com/office/drawing/2014/main" id="{729F9B7F-2E3F-7D7D-FB75-2ED29119B672}"/>
              </a:ext>
            </a:extLst>
          </p:cNvPr>
          <p:cNvSpPr txBox="1"/>
          <p:nvPr/>
        </p:nvSpPr>
        <p:spPr>
          <a:xfrm>
            <a:off x="9991488" y="4555213"/>
            <a:ext cx="2027040" cy="923330"/>
          </a:xfrm>
          <a:prstGeom prst="rect">
            <a:avLst/>
          </a:prstGeom>
          <a:noFill/>
        </p:spPr>
        <p:txBody>
          <a:bodyPr wrap="square">
            <a:spAutoFit/>
          </a:bodyPr>
          <a:lstStyle/>
          <a:p>
            <a:r>
              <a:rPr lang="zh-CN" altLang="en-US" dirty="0"/>
              <a:t>由供应商提供的故障率（左轴）和运行时间（右轴）</a:t>
            </a:r>
          </a:p>
        </p:txBody>
      </p:sp>
    </p:spTree>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1+#ppt_w/2"/>
                                          </p:val>
                                        </p:tav>
                                        <p:tav tm="100000">
                                          <p:val>
                                            <p:strVal val="#ppt_x"/>
                                          </p:val>
                                        </p:tav>
                                      </p:tavLst>
                                    </p:anim>
                                    <p:anim calcmode="lin" valueType="num">
                                      <p:cBhvr additive="base">
                                        <p:cTn id="12" dur="50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EB22CA67-0915-EF1A-C5B9-93355B61173D}"/>
              </a:ext>
            </a:extLst>
          </p:cNvPr>
          <p:cNvSpPr txBox="1"/>
          <p:nvPr/>
        </p:nvSpPr>
        <p:spPr>
          <a:xfrm>
            <a:off x="687585" y="1003166"/>
            <a:ext cx="6104334" cy="105509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id-ID" altLang="zh-CN" sz="4800" b="0" i="0" u="none" strike="noStrike" kern="1200" cap="none" spc="-378" normalizeH="0" baseline="0" noProof="0" dirty="0">
                <a:ln>
                  <a:noFill/>
                </a:ln>
                <a:solidFill>
                  <a:srgbClr val="0F6FC6"/>
                </a:solidFill>
                <a:effectLst/>
                <a:uLnTx/>
                <a:uFillTx/>
                <a:latin typeface="Agency FB" panose="020B0503020202020204" pitchFamily="34" charset="0"/>
                <a:ea typeface="微软雅黑"/>
                <a:cs typeface="+mn-cs"/>
              </a:rPr>
              <a:t>03</a:t>
            </a:r>
            <a:endParaRPr kumimoji="0" lang="en-US" altLang="zh-CN" sz="4800" b="0" i="0" u="none" strike="noStrike" kern="1200" cap="none" spc="-378" normalizeH="0" baseline="0" noProof="0" dirty="0">
              <a:ln>
                <a:noFill/>
              </a:ln>
              <a:solidFill>
                <a:srgbClr val="0F6FC6"/>
              </a:solidFill>
              <a:effectLst/>
              <a:uLnTx/>
              <a:uFillTx/>
              <a:latin typeface="Agency FB" panose="020B0503020202020204" pitchFamily="34" charset="0"/>
              <a:ea typeface="微软雅黑"/>
              <a:cs typeface="+mn-cs"/>
            </a:endParaRPr>
          </a:p>
        </p:txBody>
      </p:sp>
      <p:grpSp>
        <p:nvGrpSpPr>
          <p:cNvPr id="38" name="Group 76"/>
          <p:cNvGrpSpPr/>
          <p:nvPr/>
        </p:nvGrpSpPr>
        <p:grpSpPr>
          <a:xfrm>
            <a:off x="151234" y="1865541"/>
            <a:ext cx="4319653" cy="1598353"/>
            <a:chOff x="533400" y="1083005"/>
            <a:chExt cx="3429000" cy="1268989"/>
          </a:xfrm>
        </p:grpSpPr>
        <p:sp>
          <p:nvSpPr>
            <p:cNvPr id="39" name="TextBox 38"/>
            <p:cNvSpPr txBox="1"/>
            <p:nvPr/>
          </p:nvSpPr>
          <p:spPr>
            <a:xfrm>
              <a:off x="533400" y="1083005"/>
              <a:ext cx="762000" cy="837679"/>
            </a:xfrm>
            <a:prstGeom prst="rect">
              <a:avLst/>
            </a:prstGeom>
            <a:noFill/>
          </p:spPr>
          <p:txBody>
            <a:bodyPr wrap="square" rtlCol="0">
              <a:spAutoFit/>
            </a:bodyPr>
            <a:lstStyle/>
            <a:p>
              <a:pPr>
                <a:lnSpc>
                  <a:spcPct val="150000"/>
                </a:lnSpc>
              </a:pPr>
              <a:endParaRPr lang="en-US" sz="4800" spc="-378" dirty="0">
                <a:solidFill>
                  <a:schemeClr val="accent1"/>
                </a:solidFill>
                <a:latin typeface="Agency FB" panose="020B0503020202020204" pitchFamily="34" charset="0"/>
              </a:endParaRPr>
            </a:p>
          </p:txBody>
        </p:sp>
        <p:sp>
          <p:nvSpPr>
            <p:cNvPr id="40" name="Content Placeholder 2"/>
            <p:cNvSpPr txBox="1"/>
            <p:nvPr/>
          </p:nvSpPr>
          <p:spPr>
            <a:xfrm>
              <a:off x="1238672" y="1458123"/>
              <a:ext cx="2723728" cy="893871"/>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1500" b="1" dirty="0">
                  <a:solidFill>
                    <a:schemeClr val="tx1">
                      <a:lumMod val="65000"/>
                      <a:lumOff val="35000"/>
                    </a:schemeClr>
                  </a:solidFill>
                  <a:latin typeface="+mn-ea"/>
                </a:rPr>
                <a:t>故障率计算</a:t>
              </a:r>
              <a:br>
                <a:rPr lang="en-US" sz="1500" b="1" dirty="0">
                  <a:solidFill>
                    <a:schemeClr val="tx1">
                      <a:lumMod val="65000"/>
                      <a:lumOff val="35000"/>
                    </a:schemeClr>
                  </a:solidFill>
                  <a:latin typeface="+mn-ea"/>
                </a:rPr>
              </a:br>
              <a:endParaRPr lang="zh-CN" altLang="en-US" sz="1100" dirty="0">
                <a:solidFill>
                  <a:schemeClr val="tx1">
                    <a:lumMod val="65000"/>
                    <a:lumOff val="35000"/>
                  </a:schemeClr>
                </a:solidFill>
                <a:latin typeface="+mn-ea"/>
              </a:endParaRPr>
            </a:p>
          </p:txBody>
        </p:sp>
      </p:grpSp>
      <p:sp>
        <p:nvSpPr>
          <p:cNvPr id="41" name="Content Placeholder 2"/>
          <p:cNvSpPr txBox="1"/>
          <p:nvPr/>
        </p:nvSpPr>
        <p:spPr>
          <a:xfrm>
            <a:off x="2811140" y="2151652"/>
            <a:ext cx="5968529" cy="768986"/>
          </a:xfrm>
          <a:prstGeom prst="rect">
            <a:avLst/>
          </a:prstGeom>
        </p:spPr>
        <p:txBody>
          <a:bodyPr vert="horz" lIns="115184" tIns="57592" rIns="115184" bIns="57592"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en-US" altLang="zh-CN" sz="1300" b="1" dirty="0">
                <a:solidFill>
                  <a:schemeClr val="tx1">
                    <a:lumMod val="65000"/>
                    <a:lumOff val="35000"/>
                  </a:schemeClr>
                </a:solidFill>
                <a:latin typeface="+mn-ea"/>
              </a:rPr>
              <a:t>Using this formula, based on the Kerman neutral prior [35], improves the accuracy of the confidence bound for fault modes with low observed failure rates (e.g., zero maximum likelihood estimate FIT).</a:t>
            </a:r>
            <a:endParaRPr lang="zh-CN" altLang="en-US" sz="1300" b="1" dirty="0">
              <a:solidFill>
                <a:schemeClr val="tx1">
                  <a:lumMod val="65000"/>
                  <a:lumOff val="35000"/>
                </a:schemeClr>
              </a:solidFill>
              <a:latin typeface="+mn-ea"/>
            </a:endParaRPr>
          </a:p>
        </p:txBody>
      </p:sp>
      <p:pic>
        <p:nvPicPr>
          <p:cNvPr id="7" name="图片 6">
            <a:extLst>
              <a:ext uri="{FF2B5EF4-FFF2-40B4-BE49-F238E27FC236}">
                <a16:creationId xmlns:a16="http://schemas.microsoft.com/office/drawing/2014/main" id="{D5A8EE5E-7AA2-962D-1B0D-0211273D71C6}"/>
              </a:ext>
            </a:extLst>
          </p:cNvPr>
          <p:cNvPicPr>
            <a:picLocks noChangeAspect="1"/>
          </p:cNvPicPr>
          <p:nvPr/>
        </p:nvPicPr>
        <p:blipFill>
          <a:blip r:embed="rId2"/>
          <a:stretch>
            <a:fillRect/>
          </a:stretch>
        </p:blipFill>
        <p:spPr>
          <a:xfrm>
            <a:off x="2463920" y="1044914"/>
            <a:ext cx="4864350" cy="971600"/>
          </a:xfrm>
          <a:prstGeom prst="rect">
            <a:avLst/>
          </a:prstGeom>
        </p:spPr>
      </p:pic>
    </p:spTree>
    <p:extLst>
      <p:ext uri="{BB962C8B-B14F-4D97-AF65-F5344CB8AC3E}">
        <p14:creationId xmlns:p14="http://schemas.microsoft.com/office/powerpoint/2010/main" val="394059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4" presetClass="entr" presetSubtype="0" accel="100000"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strVal val="#ppt_w*0.05"/>
                                          </p:val>
                                        </p:tav>
                                        <p:tav tm="100000">
                                          <p:val>
                                            <p:strVal val="#ppt_w"/>
                                          </p:val>
                                        </p:tav>
                                      </p:tavLst>
                                    </p:anim>
                                    <p:anim calcmode="lin" valueType="num">
                                      <p:cBhvr>
                                        <p:cTn id="8" dur="500" fill="hold"/>
                                        <p:tgtEl>
                                          <p:spTgt spid="38"/>
                                        </p:tgtEl>
                                        <p:attrNameLst>
                                          <p:attrName>ppt_h</p:attrName>
                                        </p:attrNameLst>
                                      </p:cBhvr>
                                      <p:tavLst>
                                        <p:tav tm="0">
                                          <p:val>
                                            <p:strVal val="#ppt_h"/>
                                          </p:val>
                                        </p:tav>
                                        <p:tav tm="100000">
                                          <p:val>
                                            <p:strVal val="#ppt_h"/>
                                          </p:val>
                                        </p:tav>
                                      </p:tavLst>
                                    </p:anim>
                                    <p:anim calcmode="lin" valueType="num">
                                      <p:cBhvr>
                                        <p:cTn id="9" dur="500" fill="hold"/>
                                        <p:tgtEl>
                                          <p:spTgt spid="38"/>
                                        </p:tgtEl>
                                        <p:attrNameLst>
                                          <p:attrName>ppt_x</p:attrName>
                                        </p:attrNameLst>
                                      </p:cBhvr>
                                      <p:tavLst>
                                        <p:tav tm="0">
                                          <p:val>
                                            <p:strVal val="#ppt_x-.2"/>
                                          </p:val>
                                        </p:tav>
                                        <p:tav tm="100000">
                                          <p:val>
                                            <p:strVal val="#ppt_x"/>
                                          </p:val>
                                        </p:tav>
                                      </p:tavLst>
                                    </p:anim>
                                    <p:anim calcmode="lin" valueType="num">
                                      <p:cBhvr>
                                        <p:cTn id="10" dur="500" fill="hold"/>
                                        <p:tgtEl>
                                          <p:spTgt spid="38"/>
                                        </p:tgtEl>
                                        <p:attrNameLst>
                                          <p:attrName>ppt_y</p:attrName>
                                        </p:attrNameLst>
                                      </p:cBhvr>
                                      <p:tavLst>
                                        <p:tav tm="0">
                                          <p:val>
                                            <p:strVal val="#ppt_y"/>
                                          </p:val>
                                        </p:tav>
                                        <p:tav tm="100000">
                                          <p:val>
                                            <p:strVal val="#ppt_y"/>
                                          </p:val>
                                        </p:tav>
                                      </p:tavLst>
                                    </p:anim>
                                    <p:animEffect transition="in" filter="fade">
                                      <p:cBhvr>
                                        <p:cTn id="11" dur="500"/>
                                        <p:tgtEl>
                                          <p:spTgt spid="38"/>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F98FD70-AE28-B8C8-DC14-5834D34B97E5}"/>
              </a:ext>
            </a:extLst>
          </p:cNvPr>
          <p:cNvPicPr>
            <a:picLocks noChangeAspect="1"/>
          </p:cNvPicPr>
          <p:nvPr/>
        </p:nvPicPr>
        <p:blipFill>
          <a:blip r:embed="rId2"/>
          <a:stretch>
            <a:fillRect/>
          </a:stretch>
        </p:blipFill>
        <p:spPr>
          <a:xfrm>
            <a:off x="419417" y="928938"/>
            <a:ext cx="5181283" cy="5031521"/>
          </a:xfrm>
          <a:prstGeom prst="rect">
            <a:avLst/>
          </a:prstGeom>
        </p:spPr>
      </p:pic>
      <p:sp>
        <p:nvSpPr>
          <p:cNvPr id="7" name="文本框 6">
            <a:extLst>
              <a:ext uri="{FF2B5EF4-FFF2-40B4-BE49-F238E27FC236}">
                <a16:creationId xmlns:a16="http://schemas.microsoft.com/office/drawing/2014/main" id="{133C8C9A-BEDD-1759-E529-DEB4896BA127}"/>
              </a:ext>
            </a:extLst>
          </p:cNvPr>
          <p:cNvSpPr txBox="1"/>
          <p:nvPr/>
        </p:nvSpPr>
        <p:spPr>
          <a:xfrm>
            <a:off x="1985963" y="242888"/>
            <a:ext cx="2214562" cy="369332"/>
          </a:xfrm>
          <a:prstGeom prst="rect">
            <a:avLst/>
          </a:prstGeom>
          <a:noFill/>
        </p:spPr>
        <p:txBody>
          <a:bodyPr wrap="square" rtlCol="0">
            <a:spAutoFit/>
          </a:bodyPr>
          <a:lstStyle/>
          <a:p>
            <a:r>
              <a:rPr lang="zh-CN" altLang="en-US" dirty="0"/>
              <a:t>故障模式</a:t>
            </a:r>
          </a:p>
        </p:txBody>
      </p:sp>
      <p:sp>
        <p:nvSpPr>
          <p:cNvPr id="9" name="文本框 8">
            <a:extLst>
              <a:ext uri="{FF2B5EF4-FFF2-40B4-BE49-F238E27FC236}">
                <a16:creationId xmlns:a16="http://schemas.microsoft.com/office/drawing/2014/main" id="{2E6536A7-7445-FE31-5A15-EEFD1A72379D}"/>
              </a:ext>
            </a:extLst>
          </p:cNvPr>
          <p:cNvSpPr txBox="1"/>
          <p:nvPr/>
        </p:nvSpPr>
        <p:spPr>
          <a:xfrm>
            <a:off x="5545334" y="1770704"/>
            <a:ext cx="6104334" cy="646331"/>
          </a:xfrm>
          <a:prstGeom prst="rect">
            <a:avLst/>
          </a:prstGeom>
          <a:noFill/>
        </p:spPr>
        <p:txBody>
          <a:bodyPr wrap="square">
            <a:spAutoFit/>
          </a:bodyPr>
          <a:lstStyle/>
          <a:p>
            <a:r>
              <a:rPr lang="en-US" altLang="zh-CN" sz="1800" dirty="0">
                <a:solidFill>
                  <a:srgbClr val="1A1A1A"/>
                </a:solidFill>
                <a:effectLst/>
                <a:latin typeface="Times New Roman" panose="02020603050405020304" pitchFamily="18" charset="0"/>
              </a:rPr>
              <a:t>Single-bit: The fault affects a single DRAM </a:t>
            </a:r>
            <a:endParaRPr lang="en-US" altLang="zh-CN" dirty="0"/>
          </a:p>
          <a:p>
            <a:r>
              <a:rPr lang="en-US" altLang="zh-CN" sz="1800" dirty="0" err="1">
                <a:solidFill>
                  <a:srgbClr val="1A1A1A"/>
                </a:solidFill>
                <a:effectLst/>
                <a:latin typeface="Times New Roman" panose="02020603050405020304" pitchFamily="18" charset="0"/>
              </a:rPr>
              <a:t>bitcell</a:t>
            </a:r>
            <a:r>
              <a:rPr lang="en-US" altLang="zh-CN" sz="1800" dirty="0">
                <a:solidFill>
                  <a:srgbClr val="1A1A1A"/>
                </a:solidFill>
                <a:effectLst/>
                <a:latin typeface="Times New Roman" panose="02020603050405020304" pitchFamily="18" charset="0"/>
              </a:rPr>
              <a:t> (Fig. 3.1).</a:t>
            </a:r>
            <a:endParaRPr lang="zh-CN" altLang="en-US" dirty="0"/>
          </a:p>
        </p:txBody>
      </p:sp>
      <p:sp>
        <p:nvSpPr>
          <p:cNvPr id="13" name="文本框 12">
            <a:extLst>
              <a:ext uri="{FF2B5EF4-FFF2-40B4-BE49-F238E27FC236}">
                <a16:creationId xmlns:a16="http://schemas.microsoft.com/office/drawing/2014/main" id="{79655622-33D9-8529-FD97-154790086A78}"/>
              </a:ext>
            </a:extLst>
          </p:cNvPr>
          <p:cNvSpPr txBox="1"/>
          <p:nvPr/>
        </p:nvSpPr>
        <p:spPr>
          <a:xfrm>
            <a:off x="5600700" y="2575394"/>
            <a:ext cx="6104334" cy="3139321"/>
          </a:xfrm>
          <a:prstGeom prst="rect">
            <a:avLst/>
          </a:prstGeom>
          <a:noFill/>
        </p:spPr>
        <p:txBody>
          <a:bodyPr wrap="square">
            <a:spAutoFit/>
          </a:bodyPr>
          <a:lstStyle/>
          <a:p>
            <a:r>
              <a:rPr lang="en-US" altLang="zh-CN" sz="1800" dirty="0">
                <a:solidFill>
                  <a:srgbClr val="1A1A1A"/>
                </a:solidFill>
                <a:effectLst/>
                <a:latin typeface="Times New Roman" panose="02020603050405020304" pitchFamily="18" charset="0"/>
              </a:rPr>
              <a:t>Single-column: The fault affects a single DRAM </a:t>
            </a:r>
            <a:endParaRPr lang="en-US" altLang="zh-CN" dirty="0"/>
          </a:p>
          <a:p>
            <a:r>
              <a:rPr lang="en-US" altLang="zh-CN" sz="1800" dirty="0">
                <a:solidFill>
                  <a:srgbClr val="1A1A1A"/>
                </a:solidFill>
                <a:effectLst/>
                <a:latin typeface="Times New Roman" panose="02020603050405020304" pitchFamily="18" charset="0"/>
              </a:rPr>
              <a:t>column, but spans multiple rows (Fig. 3.2). </a:t>
            </a:r>
            <a:endParaRPr lang="en-US" altLang="zh-CN" dirty="0"/>
          </a:p>
          <a:p>
            <a:endParaRPr lang="en-US" altLang="zh-CN" dirty="0"/>
          </a:p>
          <a:p>
            <a:r>
              <a:rPr lang="en-US" altLang="zh-CN" sz="1800" dirty="0">
                <a:solidFill>
                  <a:srgbClr val="1A1A1A"/>
                </a:solidFill>
                <a:effectLst/>
                <a:latin typeface="Times New Roman" panose="02020603050405020304" pitchFamily="18" charset="0"/>
              </a:rPr>
              <a:t>Two-column: The fault affects two columns in a </a:t>
            </a:r>
            <a:endParaRPr lang="en-US" altLang="zh-CN" dirty="0"/>
          </a:p>
          <a:p>
            <a:r>
              <a:rPr lang="en-US" altLang="zh-CN" sz="1800" dirty="0">
                <a:solidFill>
                  <a:srgbClr val="1A1A1A"/>
                </a:solidFill>
                <a:effectLst/>
                <a:latin typeface="Times New Roman" panose="02020603050405020304" pitchFamily="18" charset="0"/>
              </a:rPr>
              <a:t>bank </a:t>
            </a:r>
            <a:r>
              <a:rPr lang="en-US" altLang="zh-CN" sz="1800" dirty="0">
                <a:solidFill>
                  <a:srgbClr val="000000"/>
                </a:solidFill>
                <a:effectLst/>
                <a:latin typeface="Times New Roman" panose="02020603050405020304" pitchFamily="18" charset="0"/>
              </a:rPr>
              <a:t>spanning multiple rows (Fig. 3.3). </a:t>
            </a:r>
            <a:endParaRPr lang="en-US" altLang="zh-CN" dirty="0"/>
          </a:p>
          <a:p>
            <a:endParaRPr lang="en-US" altLang="zh-CN" dirty="0"/>
          </a:p>
          <a:p>
            <a:r>
              <a:rPr lang="en-US" altLang="zh-CN" sz="1800" dirty="0">
                <a:solidFill>
                  <a:srgbClr val="000000"/>
                </a:solidFill>
                <a:effectLst/>
                <a:latin typeface="Times New Roman" panose="02020603050405020304" pitchFamily="18" charset="0"/>
              </a:rPr>
              <a:t>Partial-row: The fault affects between two and </a:t>
            </a:r>
            <a:endParaRPr lang="en-US" altLang="zh-CN" dirty="0"/>
          </a:p>
          <a:p>
            <a:r>
              <a:rPr lang="en-US" altLang="zh-CN" sz="1800" dirty="0">
                <a:solidFill>
                  <a:srgbClr val="000000"/>
                </a:solidFill>
                <a:effectLst/>
                <a:latin typeface="Times New Roman" panose="02020603050405020304" pitchFamily="18" charset="0"/>
              </a:rPr>
              <a:t>128 columns in a row (Fig. 3.4 and 3.5). </a:t>
            </a:r>
          </a:p>
          <a:p>
            <a:endParaRPr lang="en-US" altLang="zh-CN" dirty="0"/>
          </a:p>
          <a:p>
            <a:r>
              <a:rPr lang="en-US" altLang="zh-CN" sz="1800" dirty="0">
                <a:solidFill>
                  <a:srgbClr val="000000"/>
                </a:solidFill>
                <a:effectLst/>
                <a:latin typeface="Times New Roman" panose="02020603050405020304" pitchFamily="18" charset="0"/>
              </a:rPr>
              <a:t>Single-row: The fault affects between 128 and </a:t>
            </a:r>
            <a:endParaRPr lang="en-US" altLang="zh-CN" dirty="0"/>
          </a:p>
          <a:p>
            <a:r>
              <a:rPr lang="en-US" altLang="zh-CN" sz="1800" dirty="0">
                <a:solidFill>
                  <a:srgbClr val="000000"/>
                </a:solidFill>
                <a:effectLst/>
                <a:latin typeface="Times New Roman" panose="02020603050405020304" pitchFamily="18" charset="0"/>
              </a:rPr>
              <a:t>1024 columns in a row (Fig. 3.6 and 4.1). </a:t>
            </a:r>
            <a:endParaRPr lang="zh-CN" altLang="en-US" dirty="0"/>
          </a:p>
        </p:txBody>
      </p:sp>
    </p:spTree>
    <p:extLst>
      <p:ext uri="{BB962C8B-B14F-4D97-AF65-F5344CB8AC3E}">
        <p14:creationId xmlns:p14="http://schemas.microsoft.com/office/powerpoint/2010/main" val="1262574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90993EBD-E9B4-7EDB-E715-743F9654C58B}"/>
              </a:ext>
            </a:extLst>
          </p:cNvPr>
          <p:cNvPicPr>
            <a:picLocks noChangeAspect="1"/>
          </p:cNvPicPr>
          <p:nvPr/>
        </p:nvPicPr>
        <p:blipFill>
          <a:blip r:embed="rId2"/>
          <a:stretch>
            <a:fillRect/>
          </a:stretch>
        </p:blipFill>
        <p:spPr>
          <a:xfrm>
            <a:off x="421481" y="1420435"/>
            <a:ext cx="5757863" cy="4461443"/>
          </a:xfrm>
          <a:prstGeom prst="rect">
            <a:avLst/>
          </a:prstGeom>
        </p:spPr>
      </p:pic>
      <p:sp>
        <p:nvSpPr>
          <p:cNvPr id="4" name="文本框 3">
            <a:extLst>
              <a:ext uri="{FF2B5EF4-FFF2-40B4-BE49-F238E27FC236}">
                <a16:creationId xmlns:a16="http://schemas.microsoft.com/office/drawing/2014/main" id="{776A3C4B-2B36-50F2-AFB1-F0E53D4E629F}"/>
              </a:ext>
            </a:extLst>
          </p:cNvPr>
          <p:cNvSpPr txBox="1"/>
          <p:nvPr/>
        </p:nvSpPr>
        <p:spPr>
          <a:xfrm>
            <a:off x="6259711" y="404772"/>
            <a:ext cx="6104334" cy="2031325"/>
          </a:xfrm>
          <a:prstGeom prst="rect">
            <a:avLst/>
          </a:prstGeom>
          <a:noFill/>
        </p:spPr>
        <p:txBody>
          <a:bodyPr wrap="square">
            <a:spAutoFit/>
          </a:bodyPr>
          <a:lstStyle/>
          <a:p>
            <a:r>
              <a:rPr lang="en-US" altLang="zh-CN" sz="1800" dirty="0">
                <a:solidFill>
                  <a:srgbClr val="000000"/>
                </a:solidFill>
                <a:effectLst/>
                <a:latin typeface="Times New Roman" panose="02020603050405020304" pitchFamily="18" charset="0"/>
              </a:rPr>
              <a:t>Single-row: The fault affects between 128 and </a:t>
            </a:r>
            <a:endParaRPr lang="en-US" altLang="zh-CN" dirty="0"/>
          </a:p>
          <a:p>
            <a:r>
              <a:rPr lang="en-US" altLang="zh-CN" sz="1800" dirty="0">
                <a:solidFill>
                  <a:srgbClr val="000000"/>
                </a:solidFill>
                <a:effectLst/>
                <a:latin typeface="Times New Roman" panose="02020603050405020304" pitchFamily="18" charset="0"/>
              </a:rPr>
              <a:t>1024 columns in a row (Fig. 3.6 and 4.1). </a:t>
            </a:r>
            <a:endParaRPr lang="en-US" altLang="zh-CN" dirty="0"/>
          </a:p>
          <a:p>
            <a:endParaRPr lang="en-US" altLang="zh-CN" dirty="0"/>
          </a:p>
          <a:p>
            <a:r>
              <a:rPr lang="en-US" altLang="zh-CN" sz="1800" dirty="0">
                <a:solidFill>
                  <a:srgbClr val="1A1A1A"/>
                </a:solidFill>
                <a:effectLst/>
                <a:latin typeface="Times New Roman" panose="02020603050405020304" pitchFamily="18" charset="0"/>
              </a:rPr>
              <a:t>Single-row-plus-single-bit: The fault affects a </a:t>
            </a:r>
            <a:endParaRPr lang="en-US" altLang="zh-CN" dirty="0"/>
          </a:p>
          <a:p>
            <a:r>
              <a:rPr lang="en-US" altLang="zh-CN" sz="1800" dirty="0">
                <a:solidFill>
                  <a:srgbClr val="1A1A1A"/>
                </a:solidFill>
                <a:effectLst/>
                <a:latin typeface="Times New Roman" panose="02020603050405020304" pitchFamily="18" charset="0"/>
              </a:rPr>
              <a:t>single row, plus an additional bit in the same bank </a:t>
            </a:r>
            <a:endParaRPr lang="en-US" altLang="zh-CN" dirty="0"/>
          </a:p>
          <a:p>
            <a:r>
              <a:rPr lang="en-US" altLang="zh-CN" sz="1800" dirty="0">
                <a:solidFill>
                  <a:srgbClr val="1A1A1A"/>
                </a:solidFill>
                <a:effectLst/>
                <a:latin typeface="Times New Roman" panose="02020603050405020304" pitchFamily="18" charset="0"/>
              </a:rPr>
              <a:t>(Fig. 4.2). The additional bit is typically only a </a:t>
            </a:r>
            <a:endParaRPr lang="en-US" altLang="zh-CN" dirty="0"/>
          </a:p>
          <a:p>
            <a:r>
              <a:rPr lang="en-US" altLang="zh-CN" sz="1800" dirty="0">
                <a:solidFill>
                  <a:srgbClr val="1A1A1A"/>
                </a:solidFill>
                <a:effectLst/>
                <a:latin typeface="Times New Roman" panose="02020603050405020304" pitchFamily="18" charset="0"/>
              </a:rPr>
              <a:t>few rows away from the faulty row. </a:t>
            </a:r>
            <a:endParaRPr lang="zh-CN" altLang="en-US" dirty="0"/>
          </a:p>
        </p:txBody>
      </p:sp>
      <p:sp>
        <p:nvSpPr>
          <p:cNvPr id="7" name="文本框 6">
            <a:extLst>
              <a:ext uri="{FF2B5EF4-FFF2-40B4-BE49-F238E27FC236}">
                <a16:creationId xmlns:a16="http://schemas.microsoft.com/office/drawing/2014/main" id="{566E1949-BD1D-6428-1B11-321B5E43CA57}"/>
              </a:ext>
            </a:extLst>
          </p:cNvPr>
          <p:cNvSpPr txBox="1"/>
          <p:nvPr/>
        </p:nvSpPr>
        <p:spPr>
          <a:xfrm>
            <a:off x="6259711" y="2436097"/>
            <a:ext cx="5757863" cy="3970318"/>
          </a:xfrm>
          <a:prstGeom prst="rect">
            <a:avLst/>
          </a:prstGeom>
          <a:noFill/>
        </p:spPr>
        <p:txBody>
          <a:bodyPr wrap="square">
            <a:spAutoFit/>
          </a:bodyPr>
          <a:lstStyle/>
          <a:p>
            <a:r>
              <a:rPr lang="en-US" altLang="zh-CN" sz="1800" dirty="0">
                <a:solidFill>
                  <a:srgbClr val="1A1A1A"/>
                </a:solidFill>
                <a:effectLst/>
                <a:latin typeface="Times New Roman" panose="02020603050405020304" pitchFamily="18" charset="0"/>
              </a:rPr>
              <a:t>Two-row: The fault affects exactly two rows in </a:t>
            </a:r>
            <a:endParaRPr lang="en-US" altLang="zh-CN" dirty="0"/>
          </a:p>
          <a:p>
            <a:r>
              <a:rPr lang="en-US" altLang="zh-CN" sz="1800" dirty="0">
                <a:solidFill>
                  <a:srgbClr val="1A1A1A"/>
                </a:solidFill>
                <a:effectLst/>
                <a:latin typeface="Times New Roman" panose="02020603050405020304" pitchFamily="18" charset="0"/>
              </a:rPr>
              <a:t>the same bank (Fig. 4.3). The rows are typically </a:t>
            </a:r>
            <a:endParaRPr lang="en-US" altLang="zh-CN" dirty="0"/>
          </a:p>
          <a:p>
            <a:r>
              <a:rPr lang="en-US" altLang="zh-CN" sz="1800" dirty="0">
                <a:solidFill>
                  <a:srgbClr val="1A1A1A"/>
                </a:solidFill>
                <a:effectLst/>
                <a:latin typeface="Times New Roman" panose="02020603050405020304" pitchFamily="18" charset="0"/>
              </a:rPr>
              <a:t>close together but non-adjacent. </a:t>
            </a:r>
          </a:p>
          <a:p>
            <a:endParaRPr lang="en-US" altLang="zh-CN" dirty="0"/>
          </a:p>
          <a:p>
            <a:r>
              <a:rPr lang="en-US" altLang="zh-CN" sz="1800" dirty="0">
                <a:solidFill>
                  <a:srgbClr val="1A1A1A"/>
                </a:solidFill>
                <a:effectLst/>
                <a:latin typeface="Times New Roman" panose="02020603050405020304" pitchFamily="18" charset="0"/>
              </a:rPr>
              <a:t>Consecutive-row: The fault affects 4 or 8 </a:t>
            </a:r>
            <a:endParaRPr lang="en-US" altLang="zh-CN" dirty="0"/>
          </a:p>
          <a:p>
            <a:r>
              <a:rPr lang="en-US" altLang="zh-CN" sz="1800" dirty="0">
                <a:solidFill>
                  <a:srgbClr val="1A1A1A"/>
                </a:solidFill>
                <a:effectLst/>
                <a:latin typeface="Times New Roman" panose="02020603050405020304" pitchFamily="18" charset="0"/>
              </a:rPr>
              <a:t>consecutive rows in a single bank (Fig. 4.4). </a:t>
            </a:r>
            <a:endParaRPr lang="en-US" altLang="zh-CN" dirty="0"/>
          </a:p>
          <a:p>
            <a:endParaRPr lang="en-US" altLang="zh-CN" dirty="0"/>
          </a:p>
          <a:p>
            <a:r>
              <a:rPr lang="en-US" altLang="zh-CN" sz="1800" dirty="0">
                <a:solidFill>
                  <a:srgbClr val="000000"/>
                </a:solidFill>
                <a:effectLst/>
                <a:latin typeface="Times New Roman" panose="02020603050405020304" pitchFamily="18" charset="0"/>
              </a:rPr>
              <a:t>Cluster-row: The fault affects multiple clusters </a:t>
            </a:r>
            <a:endParaRPr lang="en-US" altLang="zh-CN" dirty="0"/>
          </a:p>
          <a:p>
            <a:r>
              <a:rPr lang="en-US" altLang="zh-CN" sz="1800" dirty="0">
                <a:solidFill>
                  <a:srgbClr val="000000"/>
                </a:solidFill>
                <a:effectLst/>
                <a:latin typeface="Times New Roman" panose="02020603050405020304" pitchFamily="18" charset="0"/>
              </a:rPr>
              <a:t>of rows in a bank (Fig. 4.5). </a:t>
            </a:r>
            <a:endParaRPr lang="en-US" altLang="zh-CN" dirty="0"/>
          </a:p>
          <a:p>
            <a:endParaRPr lang="en-US" altLang="zh-CN" dirty="0"/>
          </a:p>
          <a:p>
            <a:r>
              <a:rPr lang="en-US" altLang="zh-CN" sz="1800" dirty="0">
                <a:solidFill>
                  <a:srgbClr val="1A1A1A"/>
                </a:solidFill>
                <a:effectLst/>
                <a:latin typeface="Times New Roman" panose="02020603050405020304" pitchFamily="18" charset="0"/>
              </a:rPr>
              <a:t>Single-bank: The fault affects multiple rows in a </a:t>
            </a:r>
            <a:endParaRPr lang="en-US" altLang="zh-CN" dirty="0"/>
          </a:p>
          <a:p>
            <a:r>
              <a:rPr lang="en-US" altLang="zh-CN" sz="1800" dirty="0">
                <a:solidFill>
                  <a:srgbClr val="1A1A1A"/>
                </a:solidFill>
                <a:effectLst/>
                <a:latin typeface="Times New Roman" panose="02020603050405020304" pitchFamily="18" charset="0"/>
              </a:rPr>
              <a:t>bank (more than a quarter of all rows) and does </a:t>
            </a:r>
            <a:endParaRPr lang="en-US" altLang="zh-CN" dirty="0"/>
          </a:p>
          <a:p>
            <a:r>
              <a:rPr lang="en-US" altLang="zh-CN" sz="1800" dirty="0">
                <a:solidFill>
                  <a:srgbClr val="1A1A1A"/>
                </a:solidFill>
                <a:effectLst/>
                <a:latin typeface="Times New Roman" panose="02020603050405020304" pitchFamily="18" charset="0"/>
              </a:rPr>
              <a:t>not fall into one of the preceding categories (Fig. </a:t>
            </a:r>
            <a:endParaRPr lang="en-US" altLang="zh-CN" dirty="0"/>
          </a:p>
          <a:p>
            <a:r>
              <a:rPr lang="en-US" altLang="zh-CN" sz="1800" dirty="0">
                <a:solidFill>
                  <a:srgbClr val="1A1A1A"/>
                </a:solidFill>
                <a:effectLst/>
                <a:latin typeface="Times New Roman" panose="02020603050405020304" pitchFamily="18" charset="0"/>
              </a:rPr>
              <a:t>4.6). </a:t>
            </a:r>
            <a:endParaRPr lang="zh-CN" altLang="en-US" dirty="0"/>
          </a:p>
        </p:txBody>
      </p:sp>
    </p:spTree>
    <p:extLst>
      <p:ext uri="{BB962C8B-B14F-4D97-AF65-F5344CB8AC3E}">
        <p14:creationId xmlns:p14="http://schemas.microsoft.com/office/powerpoint/2010/main" val="3773213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358E360-026A-0368-EA9D-37621391A9B1}"/>
              </a:ext>
            </a:extLst>
          </p:cNvPr>
          <p:cNvPicPr>
            <a:picLocks noChangeAspect="1"/>
          </p:cNvPicPr>
          <p:nvPr/>
        </p:nvPicPr>
        <p:blipFill>
          <a:blip r:embed="rId2"/>
          <a:stretch>
            <a:fillRect/>
          </a:stretch>
        </p:blipFill>
        <p:spPr>
          <a:xfrm>
            <a:off x="0" y="208538"/>
            <a:ext cx="12192000" cy="6440924"/>
          </a:xfrm>
          <a:prstGeom prst="rect">
            <a:avLst/>
          </a:prstGeom>
        </p:spPr>
      </p:pic>
    </p:spTree>
    <p:extLst>
      <p:ext uri="{BB962C8B-B14F-4D97-AF65-F5344CB8AC3E}">
        <p14:creationId xmlns:p14="http://schemas.microsoft.com/office/powerpoint/2010/main" val="3654025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63549" y="2006333"/>
            <a:ext cx="2763947" cy="3446339"/>
            <a:chOff x="3295850" y="1908877"/>
            <a:chExt cx="3738030" cy="4660916"/>
          </a:xfrm>
        </p:grpSpPr>
        <p:sp>
          <p:nvSpPr>
            <p:cNvPr id="5" name="圆角矩形 4"/>
            <p:cNvSpPr/>
            <p:nvPr/>
          </p:nvSpPr>
          <p:spPr>
            <a:xfrm rot="2760000">
              <a:off x="3098889" y="2634801"/>
              <a:ext cx="4660916" cy="3209067"/>
            </a:xfrm>
            <a:prstGeom prst="roundRect">
              <a:avLst>
                <a:gd name="adj" fmla="val 50000"/>
              </a:avLst>
            </a:prstGeom>
            <a:gradFill>
              <a:gsLst>
                <a:gs pos="33000">
                  <a:srgbClr val="6C6C6C">
                    <a:alpha val="42000"/>
                  </a:srgbClr>
                </a:gs>
                <a:gs pos="0">
                  <a:schemeClr val="tx1">
                    <a:alpha val="54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6" name="Freeform 5"/>
            <p:cNvSpPr/>
            <p:nvPr/>
          </p:nvSpPr>
          <p:spPr bwMode="auto">
            <a:xfrm rot="10800000">
              <a:off x="3295850" y="2263222"/>
              <a:ext cx="2643765" cy="234315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gs>
                <a:gs pos="73000">
                  <a:srgbClr val="ECECEC"/>
                </a:gs>
                <a:gs pos="100000">
                  <a:srgbClr val="D9D9D9"/>
                </a:gs>
              </a:gsLst>
              <a:lin ang="2700000" scaled="1"/>
              <a:tileRect/>
            </a:gradFill>
            <a:ln w="25400">
              <a:gradFill flip="none" rotWithShape="1">
                <a:gsLst>
                  <a:gs pos="29000">
                    <a:srgbClr val="E0E0E0"/>
                  </a:gs>
                  <a:gs pos="0">
                    <a:srgbClr val="999999"/>
                  </a:gs>
                  <a:gs pos="83000">
                    <a:schemeClr val="bg1"/>
                  </a:gs>
                </a:gsLst>
                <a:lin ang="2700000" scaled="1"/>
                <a:tileRect/>
              </a:grad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sp>
          <p:nvSpPr>
            <p:cNvPr id="7" name="圆角矩形 6"/>
            <p:cNvSpPr/>
            <p:nvPr/>
          </p:nvSpPr>
          <p:spPr>
            <a:xfrm rot="2760000">
              <a:off x="3358628" y="2852802"/>
              <a:ext cx="3953506" cy="2592561"/>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8" name="Freeform 5"/>
            <p:cNvSpPr/>
            <p:nvPr/>
          </p:nvSpPr>
          <p:spPr bwMode="auto">
            <a:xfrm rot="10800000">
              <a:off x="3589408" y="2523401"/>
              <a:ext cx="2056648" cy="1822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rgbClr val="0070C0"/>
                </a:gs>
                <a:gs pos="0">
                  <a:srgbClr val="00B0F0"/>
                </a:gs>
              </a:gsLst>
              <a:lin ang="2700000" scaled="1"/>
              <a:tileRect/>
            </a:gradFill>
            <a:ln w="25400">
              <a:gradFill flip="none" rotWithShape="1">
                <a:gsLst>
                  <a:gs pos="100000">
                    <a:srgbClr val="00B0F0"/>
                  </a:gs>
                  <a:gs pos="0">
                    <a:srgbClr val="0070C0"/>
                  </a:gs>
                </a:gsLst>
                <a:lin ang="2700000" scaled="1"/>
                <a:tileRect/>
              </a:gradFill>
            </a:ln>
            <a:effectLst>
              <a:outerShdw blurRad="254000" dist="114300" dir="2700000" algn="tl" rotWithShape="0">
                <a:prstClr val="black">
                  <a:alpha val="25000"/>
                </a:prst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grpSp>
      <p:sp>
        <p:nvSpPr>
          <p:cNvPr id="9" name="圆角矩形 8"/>
          <p:cNvSpPr/>
          <p:nvPr/>
        </p:nvSpPr>
        <p:spPr>
          <a:xfrm>
            <a:off x="4535183" y="2625703"/>
            <a:ext cx="5193268" cy="1001440"/>
          </a:xfrm>
          <a:prstGeom prst="roundRect">
            <a:avLst>
              <a:gd name="adj" fmla="val 9976"/>
            </a:avLst>
          </a:prstGeom>
          <a:solidFill>
            <a:srgbClr val="00B0F0"/>
          </a:solidFill>
          <a:ln w="2540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grpSp>
        <p:nvGrpSpPr>
          <p:cNvPr id="10" name="组合 9"/>
          <p:cNvGrpSpPr/>
          <p:nvPr/>
        </p:nvGrpSpPr>
        <p:grpSpPr>
          <a:xfrm>
            <a:off x="4628901" y="3044179"/>
            <a:ext cx="158011" cy="158012"/>
            <a:chOff x="4486616" y="3001075"/>
            <a:chExt cx="274695" cy="274699"/>
          </a:xfrm>
        </p:grpSpPr>
        <p:sp>
          <p:nvSpPr>
            <p:cNvPr id="11" name="椭圆 10"/>
            <p:cNvSpPr/>
            <p:nvPr/>
          </p:nvSpPr>
          <p:spPr>
            <a:xfrm rot="16200000">
              <a:off x="4486614" y="3001077"/>
              <a:ext cx="274699" cy="274695"/>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2" name="椭圆 11"/>
            <p:cNvSpPr/>
            <p:nvPr/>
          </p:nvSpPr>
          <p:spPr>
            <a:xfrm rot="16200000">
              <a:off x="4511585" y="3026055"/>
              <a:ext cx="224753" cy="22475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grpSp>
        <p:nvGrpSpPr>
          <p:cNvPr id="13" name="组合 12"/>
          <p:cNvGrpSpPr/>
          <p:nvPr/>
        </p:nvGrpSpPr>
        <p:grpSpPr>
          <a:xfrm>
            <a:off x="4229561" y="3044179"/>
            <a:ext cx="158011" cy="158012"/>
            <a:chOff x="4486616" y="3001075"/>
            <a:chExt cx="274695" cy="274699"/>
          </a:xfrm>
        </p:grpSpPr>
        <p:sp>
          <p:nvSpPr>
            <p:cNvPr id="14" name="椭圆 13"/>
            <p:cNvSpPr/>
            <p:nvPr/>
          </p:nvSpPr>
          <p:spPr>
            <a:xfrm rot="16200000">
              <a:off x="4486614" y="3001077"/>
              <a:ext cx="274699" cy="274695"/>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5" name="椭圆 14"/>
            <p:cNvSpPr/>
            <p:nvPr/>
          </p:nvSpPr>
          <p:spPr>
            <a:xfrm rot="16200000">
              <a:off x="4511585" y="3026055"/>
              <a:ext cx="224753" cy="22475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grpSp>
        <p:nvGrpSpPr>
          <p:cNvPr id="16" name="组合 15"/>
          <p:cNvGrpSpPr/>
          <p:nvPr/>
        </p:nvGrpSpPr>
        <p:grpSpPr>
          <a:xfrm>
            <a:off x="4318304" y="3089062"/>
            <a:ext cx="384317" cy="61431"/>
            <a:chOff x="4318304" y="3089060"/>
            <a:chExt cx="384317" cy="61430"/>
          </a:xfrm>
        </p:grpSpPr>
        <p:sp>
          <p:nvSpPr>
            <p:cNvPr id="17" name="圆角矩形 16"/>
            <p:cNvSpPr/>
            <p:nvPr/>
          </p:nvSpPr>
          <p:spPr>
            <a:xfrm rot="16200000">
              <a:off x="4499257" y="2947128"/>
              <a:ext cx="22409" cy="384316"/>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9525">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8" name="圆角矩形 17"/>
            <p:cNvSpPr/>
            <p:nvPr/>
          </p:nvSpPr>
          <p:spPr>
            <a:xfrm rot="16200000">
              <a:off x="4499258" y="2908107"/>
              <a:ext cx="22409" cy="384316"/>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9525">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sp>
        <p:nvSpPr>
          <p:cNvPr id="19" name="文本框 18"/>
          <p:cNvSpPr txBox="1"/>
          <p:nvPr/>
        </p:nvSpPr>
        <p:spPr>
          <a:xfrm>
            <a:off x="5618100" y="2792253"/>
            <a:ext cx="3506545" cy="646331"/>
          </a:xfrm>
          <a:prstGeom prst="rect">
            <a:avLst/>
          </a:prstGeom>
          <a:noFill/>
        </p:spPr>
        <p:txBody>
          <a:bodyPr wrap="square" rtlCol="0">
            <a:spAutoFit/>
          </a:bodyPr>
          <a:lstStyle/>
          <a:p>
            <a:pPr algn="ctr"/>
            <a:r>
              <a:rPr lang="zh-CN" altLang="en-US" sz="3600" dirty="0">
                <a:solidFill>
                  <a:schemeClr val="bg1"/>
                </a:solidFill>
                <a:cs typeface="+mn-ea"/>
                <a:sym typeface="+mn-lt"/>
              </a:rPr>
              <a:t>结果与结论</a:t>
            </a:r>
          </a:p>
        </p:txBody>
      </p:sp>
      <p:grpSp>
        <p:nvGrpSpPr>
          <p:cNvPr id="20" name="组合 19"/>
          <p:cNvGrpSpPr/>
          <p:nvPr/>
        </p:nvGrpSpPr>
        <p:grpSpPr>
          <a:xfrm>
            <a:off x="3057211" y="2763793"/>
            <a:ext cx="786564" cy="737835"/>
            <a:chOff x="3108756" y="2110160"/>
            <a:chExt cx="745081" cy="698920"/>
          </a:xfrm>
          <a:solidFill>
            <a:schemeClr val="bg1"/>
          </a:solidFill>
        </p:grpSpPr>
        <p:sp>
          <p:nvSpPr>
            <p:cNvPr id="21" name="Freeform 489"/>
            <p:cNvSpPr/>
            <p:nvPr/>
          </p:nvSpPr>
          <p:spPr bwMode="auto">
            <a:xfrm>
              <a:off x="3608602" y="2110160"/>
              <a:ext cx="245235" cy="303659"/>
            </a:xfrm>
            <a:custGeom>
              <a:avLst/>
              <a:gdLst>
                <a:gd name="T0" fmla="*/ 248 w 340"/>
                <a:gd name="T1" fmla="*/ 0 h 421"/>
                <a:gd name="T2" fmla="*/ 0 w 340"/>
                <a:gd name="T3" fmla="*/ 357 h 421"/>
                <a:gd name="T4" fmla="*/ 94 w 340"/>
                <a:gd name="T5" fmla="*/ 421 h 421"/>
                <a:gd name="T6" fmla="*/ 340 w 340"/>
                <a:gd name="T7" fmla="*/ 66 h 421"/>
                <a:gd name="T8" fmla="*/ 248 w 340"/>
                <a:gd name="T9" fmla="*/ 0 h 421"/>
              </a:gdLst>
              <a:ahLst/>
              <a:cxnLst>
                <a:cxn ang="0">
                  <a:pos x="T0" y="T1"/>
                </a:cxn>
                <a:cxn ang="0">
                  <a:pos x="T2" y="T3"/>
                </a:cxn>
                <a:cxn ang="0">
                  <a:pos x="T4" y="T5"/>
                </a:cxn>
                <a:cxn ang="0">
                  <a:pos x="T6" y="T7"/>
                </a:cxn>
                <a:cxn ang="0">
                  <a:pos x="T8" y="T9"/>
                </a:cxn>
              </a:cxnLst>
              <a:rect l="0" t="0" r="r" b="b"/>
              <a:pathLst>
                <a:path w="340" h="421">
                  <a:moveTo>
                    <a:pt x="248" y="0"/>
                  </a:moveTo>
                  <a:lnTo>
                    <a:pt x="0" y="357"/>
                  </a:lnTo>
                  <a:lnTo>
                    <a:pt x="94" y="421"/>
                  </a:lnTo>
                  <a:lnTo>
                    <a:pt x="340" y="66"/>
                  </a:lnTo>
                  <a:lnTo>
                    <a:pt x="24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2" name="Freeform 490"/>
            <p:cNvSpPr/>
            <p:nvPr/>
          </p:nvSpPr>
          <p:spPr bwMode="auto">
            <a:xfrm>
              <a:off x="3584800" y="2379197"/>
              <a:ext cx="81505" cy="68522"/>
            </a:xfrm>
            <a:custGeom>
              <a:avLst/>
              <a:gdLst>
                <a:gd name="T0" fmla="*/ 14 w 113"/>
                <a:gd name="T1" fmla="*/ 12 h 95"/>
                <a:gd name="T2" fmla="*/ 0 w 113"/>
                <a:gd name="T3" fmla="*/ 33 h 95"/>
                <a:gd name="T4" fmla="*/ 14 w 113"/>
                <a:gd name="T5" fmla="*/ 43 h 95"/>
                <a:gd name="T6" fmla="*/ 26 w 113"/>
                <a:gd name="T7" fmla="*/ 52 h 95"/>
                <a:gd name="T8" fmla="*/ 90 w 113"/>
                <a:gd name="T9" fmla="*/ 95 h 95"/>
                <a:gd name="T10" fmla="*/ 113 w 113"/>
                <a:gd name="T11" fmla="*/ 62 h 95"/>
                <a:gd name="T12" fmla="*/ 23 w 113"/>
                <a:gd name="T13" fmla="*/ 0 h 95"/>
                <a:gd name="T14" fmla="*/ 14 w 113"/>
                <a:gd name="T15" fmla="*/ 12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3" h="95">
                  <a:moveTo>
                    <a:pt x="14" y="12"/>
                  </a:moveTo>
                  <a:lnTo>
                    <a:pt x="0" y="33"/>
                  </a:lnTo>
                  <a:lnTo>
                    <a:pt x="14" y="43"/>
                  </a:lnTo>
                  <a:lnTo>
                    <a:pt x="26" y="52"/>
                  </a:lnTo>
                  <a:lnTo>
                    <a:pt x="90" y="95"/>
                  </a:lnTo>
                  <a:lnTo>
                    <a:pt x="113" y="62"/>
                  </a:lnTo>
                  <a:lnTo>
                    <a:pt x="23" y="0"/>
                  </a:lnTo>
                  <a:lnTo>
                    <a:pt x="14"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3" name="Freeform 491"/>
            <p:cNvSpPr/>
            <p:nvPr/>
          </p:nvSpPr>
          <p:spPr bwMode="auto">
            <a:xfrm>
              <a:off x="3463625" y="2415261"/>
              <a:ext cx="177435" cy="226482"/>
            </a:xfrm>
            <a:custGeom>
              <a:avLst/>
              <a:gdLst>
                <a:gd name="T0" fmla="*/ 66 w 104"/>
                <a:gd name="T1" fmla="*/ 0 h 133"/>
                <a:gd name="T2" fmla="*/ 60 w 104"/>
                <a:gd name="T3" fmla="*/ 8 h 133"/>
                <a:gd name="T4" fmla="*/ 59 w 104"/>
                <a:gd name="T5" fmla="*/ 10 h 133"/>
                <a:gd name="T6" fmla="*/ 11 w 104"/>
                <a:gd name="T7" fmla="*/ 29 h 133"/>
                <a:gd name="T8" fmla="*/ 0 w 104"/>
                <a:gd name="T9" fmla="*/ 129 h 133"/>
                <a:gd name="T10" fmla="*/ 37 w 104"/>
                <a:gd name="T11" fmla="*/ 76 h 133"/>
                <a:gd name="T12" fmla="*/ 37 w 104"/>
                <a:gd name="T13" fmla="*/ 51 h 133"/>
                <a:gd name="T14" fmla="*/ 60 w 104"/>
                <a:gd name="T15" fmla="*/ 43 h 133"/>
                <a:gd name="T16" fmla="*/ 63 w 104"/>
                <a:gd name="T17" fmla="*/ 44 h 133"/>
                <a:gd name="T18" fmla="*/ 66 w 104"/>
                <a:gd name="T19" fmla="*/ 71 h 133"/>
                <a:gd name="T20" fmla="*/ 60 w 104"/>
                <a:gd name="T21" fmla="*/ 77 h 133"/>
                <a:gd name="T22" fmla="*/ 42 w 104"/>
                <a:gd name="T23" fmla="*/ 80 h 133"/>
                <a:gd name="T24" fmla="*/ 6 w 104"/>
                <a:gd name="T25" fmla="*/ 133 h 133"/>
                <a:gd name="T26" fmla="*/ 54 w 104"/>
                <a:gd name="T27" fmla="*/ 109 h 133"/>
                <a:gd name="T28" fmla="*/ 60 w 104"/>
                <a:gd name="T29" fmla="*/ 106 h 133"/>
                <a:gd name="T30" fmla="*/ 77 w 104"/>
                <a:gd name="T31" fmla="*/ 98 h 133"/>
                <a:gd name="T32" fmla="*/ 96 w 104"/>
                <a:gd name="T33" fmla="*/ 88 h 133"/>
                <a:gd name="T34" fmla="*/ 97 w 104"/>
                <a:gd name="T35" fmla="*/ 37 h 133"/>
                <a:gd name="T36" fmla="*/ 104 w 104"/>
                <a:gd name="T37" fmla="*/ 26 h 133"/>
                <a:gd name="T38" fmla="*/ 77 w 104"/>
                <a:gd name="T39" fmla="*/ 7 h 133"/>
                <a:gd name="T40" fmla="*/ 66 w 104"/>
                <a:gd name="T4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4" h="133">
                  <a:moveTo>
                    <a:pt x="66" y="0"/>
                  </a:moveTo>
                  <a:cubicBezTo>
                    <a:pt x="60" y="8"/>
                    <a:pt x="60" y="8"/>
                    <a:pt x="60" y="8"/>
                  </a:cubicBezTo>
                  <a:cubicBezTo>
                    <a:pt x="59" y="10"/>
                    <a:pt x="59" y="10"/>
                    <a:pt x="59" y="10"/>
                  </a:cubicBezTo>
                  <a:cubicBezTo>
                    <a:pt x="11" y="29"/>
                    <a:pt x="11" y="29"/>
                    <a:pt x="11" y="29"/>
                  </a:cubicBezTo>
                  <a:cubicBezTo>
                    <a:pt x="0" y="129"/>
                    <a:pt x="0" y="129"/>
                    <a:pt x="0" y="129"/>
                  </a:cubicBezTo>
                  <a:cubicBezTo>
                    <a:pt x="37" y="76"/>
                    <a:pt x="37" y="76"/>
                    <a:pt x="37" y="76"/>
                  </a:cubicBezTo>
                  <a:cubicBezTo>
                    <a:pt x="32" y="70"/>
                    <a:pt x="31" y="60"/>
                    <a:pt x="37" y="51"/>
                  </a:cubicBezTo>
                  <a:cubicBezTo>
                    <a:pt x="43" y="43"/>
                    <a:pt x="52" y="40"/>
                    <a:pt x="60" y="43"/>
                  </a:cubicBezTo>
                  <a:cubicBezTo>
                    <a:pt x="61" y="43"/>
                    <a:pt x="62" y="44"/>
                    <a:pt x="63" y="44"/>
                  </a:cubicBezTo>
                  <a:cubicBezTo>
                    <a:pt x="71" y="50"/>
                    <a:pt x="72" y="62"/>
                    <a:pt x="66" y="71"/>
                  </a:cubicBezTo>
                  <a:cubicBezTo>
                    <a:pt x="64" y="74"/>
                    <a:pt x="62" y="76"/>
                    <a:pt x="60" y="77"/>
                  </a:cubicBezTo>
                  <a:cubicBezTo>
                    <a:pt x="55" y="81"/>
                    <a:pt x="48" y="82"/>
                    <a:pt x="42" y="80"/>
                  </a:cubicBezTo>
                  <a:cubicBezTo>
                    <a:pt x="6" y="133"/>
                    <a:pt x="6" y="133"/>
                    <a:pt x="6" y="133"/>
                  </a:cubicBezTo>
                  <a:cubicBezTo>
                    <a:pt x="54" y="109"/>
                    <a:pt x="54" y="109"/>
                    <a:pt x="54" y="109"/>
                  </a:cubicBezTo>
                  <a:cubicBezTo>
                    <a:pt x="60" y="106"/>
                    <a:pt x="60" y="106"/>
                    <a:pt x="60" y="106"/>
                  </a:cubicBezTo>
                  <a:cubicBezTo>
                    <a:pt x="77" y="98"/>
                    <a:pt x="77" y="98"/>
                    <a:pt x="77" y="98"/>
                  </a:cubicBezTo>
                  <a:cubicBezTo>
                    <a:pt x="96" y="88"/>
                    <a:pt x="96" y="88"/>
                    <a:pt x="96" y="88"/>
                  </a:cubicBezTo>
                  <a:cubicBezTo>
                    <a:pt x="97" y="37"/>
                    <a:pt x="97" y="37"/>
                    <a:pt x="97" y="37"/>
                  </a:cubicBezTo>
                  <a:cubicBezTo>
                    <a:pt x="104" y="26"/>
                    <a:pt x="104" y="26"/>
                    <a:pt x="104" y="26"/>
                  </a:cubicBezTo>
                  <a:cubicBezTo>
                    <a:pt x="77" y="7"/>
                    <a:pt x="77" y="7"/>
                    <a:pt x="77" y="7"/>
                  </a:cubicBezTo>
                  <a:lnTo>
                    <a:pt x="6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4" name="Rectangle 492"/>
            <p:cNvSpPr>
              <a:spLocks noChangeArrowheads="1"/>
            </p:cNvSpPr>
            <p:nvPr/>
          </p:nvSpPr>
          <p:spPr bwMode="auto">
            <a:xfrm>
              <a:off x="3237144" y="2495323"/>
              <a:ext cx="168779" cy="1514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5" name="Rectangle 493"/>
            <p:cNvSpPr>
              <a:spLocks noChangeArrowheads="1"/>
            </p:cNvSpPr>
            <p:nvPr/>
          </p:nvSpPr>
          <p:spPr bwMode="auto">
            <a:xfrm>
              <a:off x="3237144" y="2449161"/>
              <a:ext cx="168779" cy="173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6" name="Rectangle 494"/>
            <p:cNvSpPr>
              <a:spLocks noChangeArrowheads="1"/>
            </p:cNvSpPr>
            <p:nvPr/>
          </p:nvSpPr>
          <p:spPr bwMode="auto">
            <a:xfrm>
              <a:off x="3237144" y="2403000"/>
              <a:ext cx="168779" cy="1586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7" name="Rectangle 495"/>
            <p:cNvSpPr>
              <a:spLocks noChangeArrowheads="1"/>
            </p:cNvSpPr>
            <p:nvPr/>
          </p:nvSpPr>
          <p:spPr bwMode="auto">
            <a:xfrm>
              <a:off x="3237144" y="2357559"/>
              <a:ext cx="168779" cy="1514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8" name="Freeform 496"/>
            <p:cNvSpPr/>
            <p:nvPr/>
          </p:nvSpPr>
          <p:spPr bwMode="auto">
            <a:xfrm>
              <a:off x="3108756" y="2215467"/>
              <a:ext cx="489749" cy="593613"/>
            </a:xfrm>
            <a:custGeom>
              <a:avLst/>
              <a:gdLst>
                <a:gd name="T0" fmla="*/ 268 w 287"/>
                <a:gd name="T1" fmla="*/ 303 h 348"/>
                <a:gd name="T2" fmla="*/ 245 w 287"/>
                <a:gd name="T3" fmla="*/ 331 h 348"/>
                <a:gd name="T4" fmla="*/ 90 w 287"/>
                <a:gd name="T5" fmla="*/ 331 h 348"/>
                <a:gd name="T6" fmla="*/ 90 w 287"/>
                <a:gd name="T7" fmla="*/ 281 h 348"/>
                <a:gd name="T8" fmla="*/ 76 w 287"/>
                <a:gd name="T9" fmla="*/ 263 h 348"/>
                <a:gd name="T10" fmla="*/ 17 w 287"/>
                <a:gd name="T11" fmla="*/ 263 h 348"/>
                <a:gd name="T12" fmla="*/ 17 w 287"/>
                <a:gd name="T13" fmla="*/ 59 h 348"/>
                <a:gd name="T14" fmla="*/ 40 w 287"/>
                <a:gd name="T15" fmla="*/ 27 h 348"/>
                <a:gd name="T16" fmla="*/ 251 w 287"/>
                <a:gd name="T17" fmla="*/ 27 h 348"/>
                <a:gd name="T18" fmla="*/ 268 w 287"/>
                <a:gd name="T19" fmla="*/ 52 h 348"/>
                <a:gd name="T20" fmla="*/ 268 w 287"/>
                <a:gd name="T21" fmla="*/ 104 h 348"/>
                <a:gd name="T22" fmla="*/ 268 w 287"/>
                <a:gd name="T23" fmla="*/ 104 h 348"/>
                <a:gd name="T24" fmla="*/ 285 w 287"/>
                <a:gd name="T25" fmla="*/ 83 h 348"/>
                <a:gd name="T26" fmla="*/ 285 w 287"/>
                <a:gd name="T27" fmla="*/ 45 h 348"/>
                <a:gd name="T28" fmla="*/ 252 w 287"/>
                <a:gd name="T29" fmla="*/ 8 h 348"/>
                <a:gd name="T30" fmla="*/ 70 w 287"/>
                <a:gd name="T31" fmla="*/ 8 h 348"/>
                <a:gd name="T32" fmla="*/ 40 w 287"/>
                <a:gd name="T33" fmla="*/ 8 h 348"/>
                <a:gd name="T34" fmla="*/ 0 w 287"/>
                <a:gd name="T35" fmla="*/ 44 h 348"/>
                <a:gd name="T36" fmla="*/ 0 w 287"/>
                <a:gd name="T37" fmla="*/ 294 h 348"/>
                <a:gd name="T38" fmla="*/ 82 w 287"/>
                <a:gd name="T39" fmla="*/ 346 h 348"/>
                <a:gd name="T40" fmla="*/ 252 w 287"/>
                <a:gd name="T41" fmla="*/ 346 h 348"/>
                <a:gd name="T42" fmla="*/ 285 w 287"/>
                <a:gd name="T43" fmla="*/ 321 h 348"/>
                <a:gd name="T44" fmla="*/ 285 w 287"/>
                <a:gd name="T45" fmla="*/ 228 h 348"/>
                <a:gd name="T46" fmla="*/ 268 w 287"/>
                <a:gd name="T47" fmla="*/ 238 h 348"/>
                <a:gd name="T48" fmla="*/ 268 w 287"/>
                <a:gd name="T49" fmla="*/ 303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7" h="348">
                  <a:moveTo>
                    <a:pt x="268" y="303"/>
                  </a:moveTo>
                  <a:cubicBezTo>
                    <a:pt x="268" y="303"/>
                    <a:pt x="272" y="331"/>
                    <a:pt x="245" y="331"/>
                  </a:cubicBezTo>
                  <a:cubicBezTo>
                    <a:pt x="217" y="331"/>
                    <a:pt x="90" y="331"/>
                    <a:pt x="90" y="331"/>
                  </a:cubicBezTo>
                  <a:cubicBezTo>
                    <a:pt x="90" y="281"/>
                    <a:pt x="90" y="281"/>
                    <a:pt x="90" y="281"/>
                  </a:cubicBezTo>
                  <a:cubicBezTo>
                    <a:pt x="90" y="281"/>
                    <a:pt x="91" y="263"/>
                    <a:pt x="76" y="263"/>
                  </a:cubicBezTo>
                  <a:cubicBezTo>
                    <a:pt x="60" y="263"/>
                    <a:pt x="17" y="263"/>
                    <a:pt x="17" y="263"/>
                  </a:cubicBezTo>
                  <a:cubicBezTo>
                    <a:pt x="17" y="59"/>
                    <a:pt x="17" y="59"/>
                    <a:pt x="17" y="59"/>
                  </a:cubicBezTo>
                  <a:cubicBezTo>
                    <a:pt x="17" y="59"/>
                    <a:pt x="13" y="27"/>
                    <a:pt x="40" y="27"/>
                  </a:cubicBezTo>
                  <a:cubicBezTo>
                    <a:pt x="251" y="27"/>
                    <a:pt x="251" y="27"/>
                    <a:pt x="251" y="27"/>
                  </a:cubicBezTo>
                  <a:cubicBezTo>
                    <a:pt x="251" y="27"/>
                    <a:pt x="268" y="30"/>
                    <a:pt x="268" y="52"/>
                  </a:cubicBezTo>
                  <a:cubicBezTo>
                    <a:pt x="268" y="57"/>
                    <a:pt x="268" y="77"/>
                    <a:pt x="268" y="104"/>
                  </a:cubicBezTo>
                  <a:cubicBezTo>
                    <a:pt x="268" y="104"/>
                    <a:pt x="268" y="104"/>
                    <a:pt x="268" y="104"/>
                  </a:cubicBezTo>
                  <a:cubicBezTo>
                    <a:pt x="285" y="83"/>
                    <a:pt x="285" y="83"/>
                    <a:pt x="285" y="83"/>
                  </a:cubicBezTo>
                  <a:cubicBezTo>
                    <a:pt x="285" y="60"/>
                    <a:pt x="285" y="45"/>
                    <a:pt x="285" y="45"/>
                  </a:cubicBezTo>
                  <a:cubicBezTo>
                    <a:pt x="285" y="45"/>
                    <a:pt x="287" y="8"/>
                    <a:pt x="252" y="8"/>
                  </a:cubicBezTo>
                  <a:cubicBezTo>
                    <a:pt x="70" y="8"/>
                    <a:pt x="70" y="8"/>
                    <a:pt x="70" y="8"/>
                  </a:cubicBezTo>
                  <a:cubicBezTo>
                    <a:pt x="40" y="8"/>
                    <a:pt x="40" y="8"/>
                    <a:pt x="40" y="8"/>
                  </a:cubicBezTo>
                  <a:cubicBezTo>
                    <a:pt x="40" y="8"/>
                    <a:pt x="0" y="0"/>
                    <a:pt x="0" y="44"/>
                  </a:cubicBezTo>
                  <a:cubicBezTo>
                    <a:pt x="0" y="87"/>
                    <a:pt x="0" y="294"/>
                    <a:pt x="0" y="294"/>
                  </a:cubicBezTo>
                  <a:cubicBezTo>
                    <a:pt x="82" y="346"/>
                    <a:pt x="82" y="346"/>
                    <a:pt x="82" y="346"/>
                  </a:cubicBezTo>
                  <a:cubicBezTo>
                    <a:pt x="252" y="346"/>
                    <a:pt x="252" y="346"/>
                    <a:pt x="252" y="346"/>
                  </a:cubicBezTo>
                  <a:cubicBezTo>
                    <a:pt x="252" y="346"/>
                    <a:pt x="285" y="348"/>
                    <a:pt x="285" y="321"/>
                  </a:cubicBezTo>
                  <a:cubicBezTo>
                    <a:pt x="285" y="312"/>
                    <a:pt x="285" y="274"/>
                    <a:pt x="285" y="228"/>
                  </a:cubicBezTo>
                  <a:cubicBezTo>
                    <a:pt x="268" y="238"/>
                    <a:pt x="268" y="238"/>
                    <a:pt x="268" y="238"/>
                  </a:cubicBezTo>
                  <a:cubicBezTo>
                    <a:pt x="268" y="275"/>
                    <a:pt x="268" y="303"/>
                    <a:pt x="268" y="3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grpSp>
      <p:grpSp>
        <p:nvGrpSpPr>
          <p:cNvPr id="29" name="组合 28"/>
          <p:cNvGrpSpPr/>
          <p:nvPr/>
        </p:nvGrpSpPr>
        <p:grpSpPr>
          <a:xfrm>
            <a:off x="5030934" y="2884112"/>
            <a:ext cx="601529" cy="562743"/>
            <a:chOff x="5030931" y="2884106"/>
            <a:chExt cx="601529" cy="562742"/>
          </a:xfrm>
        </p:grpSpPr>
        <p:sp>
          <p:nvSpPr>
            <p:cNvPr id="30" name="椭圆 29"/>
            <p:cNvSpPr/>
            <p:nvPr/>
          </p:nvSpPr>
          <p:spPr>
            <a:xfrm>
              <a:off x="5055353" y="2884106"/>
              <a:ext cx="562742" cy="5627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sp>
          <p:nvSpPr>
            <p:cNvPr id="31" name="文本框 30"/>
            <p:cNvSpPr txBox="1"/>
            <p:nvPr/>
          </p:nvSpPr>
          <p:spPr>
            <a:xfrm>
              <a:off x="5030931" y="2902999"/>
              <a:ext cx="601529" cy="523219"/>
            </a:xfrm>
            <a:prstGeom prst="rect">
              <a:avLst/>
            </a:prstGeom>
            <a:noFill/>
          </p:spPr>
          <p:txBody>
            <a:bodyPr wrap="square" rtlCol="0">
              <a:spAutoFit/>
            </a:bodyPr>
            <a:lstStyle/>
            <a:p>
              <a:pPr algn="ctr"/>
              <a:r>
                <a:rPr lang="en-US" altLang="zh-CN" sz="2800" dirty="0">
                  <a:solidFill>
                    <a:srgbClr val="00B0F0"/>
                  </a:solidFill>
                  <a:cs typeface="+mn-ea"/>
                  <a:sym typeface="+mn-lt"/>
                </a:rPr>
                <a:t>03</a:t>
              </a:r>
              <a:endParaRPr lang="zh-CN" altLang="en-US" sz="2800" dirty="0">
                <a:solidFill>
                  <a:srgbClr val="00B0F0"/>
                </a:solidFill>
                <a:cs typeface="+mn-ea"/>
                <a:sym typeface="+mn-lt"/>
              </a:endParaRPr>
            </a:p>
          </p:txBody>
        </p:sp>
      </p:grpSp>
    </p:spTree>
  </p:cSld>
  <p:clrMapOvr>
    <a:masterClrMapping/>
  </p:clrMapOvr>
  <p:transition spd="slow" advClick="0" advTm="0">
    <p:fad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 fill="hold"/>
                                            <p:tgtEl>
                                              <p:spTgt spid="4"/>
                                            </p:tgtEl>
                                            <p:attrNameLst>
                                              <p:attrName>ppt_w</p:attrName>
                                            </p:attrNameLst>
                                          </p:cBhvr>
                                          <p:tavLst>
                                            <p:tav tm="0">
                                              <p:val>
                                                <p:fltVal val="0"/>
                                              </p:val>
                                            </p:tav>
                                            <p:tav tm="100000">
                                              <p:val>
                                                <p:strVal val="#ppt_w"/>
                                              </p:val>
                                            </p:tav>
                                          </p:tavLst>
                                        </p:anim>
                                        <p:anim calcmode="lin" valueType="num">
                                          <p:cBhvr>
                                            <p:cTn id="8" dur="200" fill="hold"/>
                                            <p:tgtEl>
                                              <p:spTgt spid="4"/>
                                            </p:tgtEl>
                                            <p:attrNameLst>
                                              <p:attrName>ppt_h</p:attrName>
                                            </p:attrNameLst>
                                          </p:cBhvr>
                                          <p:tavLst>
                                            <p:tav tm="0">
                                              <p:val>
                                                <p:fltVal val="0"/>
                                              </p:val>
                                            </p:tav>
                                            <p:tav tm="100000">
                                              <p:val>
                                                <p:strVal val="#ppt_h"/>
                                              </p:val>
                                            </p:tav>
                                          </p:tavLst>
                                        </p:anim>
                                        <p:animEffect transition="in" filter="fade">
                                          <p:cBhvr>
                                            <p:cTn id="9" dur="200"/>
                                            <p:tgtEl>
                                              <p:spTgt spid="4"/>
                                            </p:tgtEl>
                                          </p:cBhvr>
                                        </p:animEffect>
                                      </p:childTnLst>
                                    </p:cTn>
                                  </p:par>
                                </p:childTnLst>
                              </p:cTn>
                            </p:par>
                            <p:par>
                              <p:cTn id="10" fill="hold">
                                <p:stCondLst>
                                  <p:cond delay="500"/>
                                </p:stCondLst>
                                <p:childTnLst>
                                  <p:par>
                                    <p:cTn id="11" presetID="32" presetClass="emph" presetSubtype="0" fill="hold" nodeType="afterEffect">
                                      <p:stCondLst>
                                        <p:cond delay="0"/>
                                      </p:stCondLst>
                                      <p:childTnLst>
                                        <p:animRot by="120000">
                                          <p:cBhvr>
                                            <p:cTn id="12" dur="50" fill="hold">
                                              <p:stCondLst>
                                                <p:cond delay="0"/>
                                              </p:stCondLst>
                                            </p:cTn>
                                            <p:tgtEl>
                                              <p:spTgt spid="4"/>
                                            </p:tgtEl>
                                            <p:attrNameLst>
                                              <p:attrName>r</p:attrName>
                                            </p:attrNameLst>
                                          </p:cBhvr>
                                        </p:animRot>
                                        <p:animRot by="-240000">
                                          <p:cBhvr>
                                            <p:cTn id="13" dur="100" fill="hold">
                                              <p:stCondLst>
                                                <p:cond delay="100"/>
                                              </p:stCondLst>
                                            </p:cTn>
                                            <p:tgtEl>
                                              <p:spTgt spid="4"/>
                                            </p:tgtEl>
                                            <p:attrNameLst>
                                              <p:attrName>r</p:attrName>
                                            </p:attrNameLst>
                                          </p:cBhvr>
                                        </p:animRot>
                                        <p:animRot by="240000">
                                          <p:cBhvr>
                                            <p:cTn id="14" dur="100" fill="hold">
                                              <p:stCondLst>
                                                <p:cond delay="200"/>
                                              </p:stCondLst>
                                            </p:cTn>
                                            <p:tgtEl>
                                              <p:spTgt spid="4"/>
                                            </p:tgtEl>
                                            <p:attrNameLst>
                                              <p:attrName>r</p:attrName>
                                            </p:attrNameLst>
                                          </p:cBhvr>
                                        </p:animRot>
                                        <p:animRot by="-240000">
                                          <p:cBhvr>
                                            <p:cTn id="15" dur="100" fill="hold">
                                              <p:stCondLst>
                                                <p:cond delay="300"/>
                                              </p:stCondLst>
                                            </p:cTn>
                                            <p:tgtEl>
                                              <p:spTgt spid="4"/>
                                            </p:tgtEl>
                                            <p:attrNameLst>
                                              <p:attrName>r</p:attrName>
                                            </p:attrNameLst>
                                          </p:cBhvr>
                                        </p:animRot>
                                        <p:animRot by="120000">
                                          <p:cBhvr>
                                            <p:cTn id="16" dur="100" fill="hold">
                                              <p:stCondLst>
                                                <p:cond delay="400"/>
                                              </p:stCondLst>
                                            </p:cTn>
                                            <p:tgtEl>
                                              <p:spTgt spid="4"/>
                                            </p:tgtEl>
                                            <p:attrNameLst>
                                              <p:attrName>r</p:attrName>
                                            </p:attrNameLst>
                                          </p:cBhvr>
                                        </p:animRot>
                                      </p:childTnLst>
                                    </p:cTn>
                                  </p:par>
                                </p:childTnLst>
                              </p:cTn>
                            </p:par>
                            <p:par>
                              <p:cTn id="17" fill="hold">
                                <p:stCondLst>
                                  <p:cond delay="1000"/>
                                </p:stCondLst>
                                <p:childTnLst>
                                  <p:par>
                                    <p:cTn id="18" presetID="37" presetClass="entr" presetSubtype="0"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700"/>
                                            <p:tgtEl>
                                              <p:spTgt spid="20"/>
                                            </p:tgtEl>
                                          </p:cBhvr>
                                        </p:animEffect>
                                        <p:anim calcmode="lin" valueType="num">
                                          <p:cBhvr>
                                            <p:cTn id="21" dur="700" fill="hold"/>
                                            <p:tgtEl>
                                              <p:spTgt spid="20"/>
                                            </p:tgtEl>
                                            <p:attrNameLst>
                                              <p:attrName>ppt_x</p:attrName>
                                            </p:attrNameLst>
                                          </p:cBhvr>
                                          <p:tavLst>
                                            <p:tav tm="0">
                                              <p:val>
                                                <p:strVal val="#ppt_x"/>
                                              </p:val>
                                            </p:tav>
                                            <p:tav tm="100000">
                                              <p:val>
                                                <p:strVal val="#ppt_x"/>
                                              </p:val>
                                            </p:tav>
                                          </p:tavLst>
                                        </p:anim>
                                        <p:anim calcmode="lin" valueType="num">
                                          <p:cBhvr>
                                            <p:cTn id="22" dur="630" decel="100000" fill="hold"/>
                                            <p:tgtEl>
                                              <p:spTgt spid="20"/>
                                            </p:tgtEl>
                                            <p:attrNameLst>
                                              <p:attrName>ppt_y</p:attrName>
                                            </p:attrNameLst>
                                          </p:cBhvr>
                                          <p:tavLst>
                                            <p:tav tm="0">
                                              <p:val>
                                                <p:strVal val="#ppt_y+1"/>
                                              </p:val>
                                            </p:tav>
                                            <p:tav tm="100000">
                                              <p:val>
                                                <p:strVal val="#ppt_y-.03"/>
                                              </p:val>
                                            </p:tav>
                                          </p:tavLst>
                                        </p:anim>
                                        <p:anim calcmode="lin" valueType="num">
                                          <p:cBhvr>
                                            <p:cTn id="23" dur="70" accel="100000" fill="hold">
                                              <p:stCondLst>
                                                <p:cond delay="630"/>
                                              </p:stCondLst>
                                            </p:cTn>
                                            <p:tgtEl>
                                              <p:spTgt spid="20"/>
                                            </p:tgtEl>
                                            <p:attrNameLst>
                                              <p:attrName>ppt_y</p:attrName>
                                            </p:attrNameLst>
                                          </p:cBhvr>
                                          <p:tavLst>
                                            <p:tav tm="0">
                                              <p:val>
                                                <p:strVal val="#ppt_y-.03"/>
                                              </p:val>
                                            </p:tav>
                                            <p:tav tm="100000">
                                              <p:val>
                                                <p:strVal val="#ppt_y"/>
                                              </p:val>
                                            </p:tav>
                                          </p:tavLst>
                                        </p:anim>
                                      </p:childTnLst>
                                    </p:cTn>
                                  </p:par>
                                </p:childTnLst>
                              </p:cTn>
                            </p:par>
                            <p:par>
                              <p:cTn id="24" fill="hold">
                                <p:stCondLst>
                                  <p:cond delay="2000"/>
                                </p:stCondLst>
                                <p:childTnLst>
                                  <p:par>
                                    <p:cTn id="25" presetID="1"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par>
                              <p:cTn id="27" fill="hold">
                                <p:stCondLst>
                                  <p:cond delay="20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2500"/>
                                </p:stCondLst>
                                <p:childTnLst>
                                  <p:par>
                                    <p:cTn id="32" presetID="1"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par>
                              <p:cTn id="34" fill="hold">
                                <p:stCondLst>
                                  <p:cond delay="2500"/>
                                </p:stCondLst>
                                <p:childTnLst>
                                  <p:par>
                                    <p:cTn id="35" presetID="2" presetClass="entr" presetSubtype="2" accel="70000" fill="hold" grpId="0" nodeType="afterEffect" p14:presetBounceEnd="50000">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14:bounceEnd="50000">
                                          <p:cBhvr additive="base">
                                            <p:cTn id="37" dur="500" fill="hold"/>
                                            <p:tgtEl>
                                              <p:spTgt spid="9"/>
                                            </p:tgtEl>
                                            <p:attrNameLst>
                                              <p:attrName>ppt_x</p:attrName>
                                            </p:attrNameLst>
                                          </p:cBhvr>
                                          <p:tavLst>
                                            <p:tav tm="0">
                                              <p:val>
                                                <p:strVal val="1+#ppt_w/2"/>
                                              </p:val>
                                            </p:tav>
                                            <p:tav tm="100000">
                                              <p:val>
                                                <p:strVal val="#ppt_x"/>
                                              </p:val>
                                            </p:tav>
                                          </p:tavLst>
                                        </p:anim>
                                        <p:anim calcmode="lin" valueType="num" p14:bounceEnd="50000">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par>
                              <p:cTn id="39" fill="hold">
                                <p:stCondLst>
                                  <p:cond delay="3000"/>
                                </p:stCondLst>
                                <p:childTnLst>
                                  <p:par>
                                    <p:cTn id="40" presetID="53" presetClass="entr" presetSubtype="16" fill="hold" nodeType="after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p:cTn id="42" dur="200" fill="hold"/>
                                            <p:tgtEl>
                                              <p:spTgt spid="29"/>
                                            </p:tgtEl>
                                            <p:attrNameLst>
                                              <p:attrName>ppt_w</p:attrName>
                                            </p:attrNameLst>
                                          </p:cBhvr>
                                          <p:tavLst>
                                            <p:tav tm="0">
                                              <p:val>
                                                <p:fltVal val="0"/>
                                              </p:val>
                                            </p:tav>
                                            <p:tav tm="100000">
                                              <p:val>
                                                <p:strVal val="#ppt_w"/>
                                              </p:val>
                                            </p:tav>
                                          </p:tavLst>
                                        </p:anim>
                                        <p:anim calcmode="lin" valueType="num">
                                          <p:cBhvr>
                                            <p:cTn id="43" dur="200" fill="hold"/>
                                            <p:tgtEl>
                                              <p:spTgt spid="29"/>
                                            </p:tgtEl>
                                            <p:attrNameLst>
                                              <p:attrName>ppt_h</p:attrName>
                                            </p:attrNameLst>
                                          </p:cBhvr>
                                          <p:tavLst>
                                            <p:tav tm="0">
                                              <p:val>
                                                <p:fltVal val="0"/>
                                              </p:val>
                                            </p:tav>
                                            <p:tav tm="100000">
                                              <p:val>
                                                <p:strVal val="#ppt_h"/>
                                              </p:val>
                                            </p:tav>
                                          </p:tavLst>
                                        </p:anim>
                                        <p:animEffect transition="in" filter="fade">
                                          <p:cBhvr>
                                            <p:cTn id="44" dur="200"/>
                                            <p:tgtEl>
                                              <p:spTgt spid="29"/>
                                            </p:tgtEl>
                                          </p:cBhvr>
                                        </p:animEffect>
                                      </p:childTnLst>
                                    </p:cTn>
                                  </p:par>
                                </p:childTnLst>
                              </p:cTn>
                            </p:par>
                            <p:par>
                              <p:cTn id="45" fill="hold">
                                <p:stCondLst>
                                  <p:cond delay="3500"/>
                                </p:stCondLst>
                                <p:childTnLst>
                                  <p:par>
                                    <p:cTn id="46" presetID="26" presetClass="emph" presetSubtype="0" fill="hold" nodeType="afterEffect">
                                      <p:stCondLst>
                                        <p:cond delay="0"/>
                                      </p:stCondLst>
                                      <p:childTnLst>
                                        <p:animEffect transition="out" filter="fade">
                                          <p:cBhvr>
                                            <p:cTn id="47" dur="500" tmFilter="0, 0; .2, .5; .8, .5; 1, 0"/>
                                            <p:tgtEl>
                                              <p:spTgt spid="29"/>
                                            </p:tgtEl>
                                          </p:cBhvr>
                                        </p:animEffect>
                                        <p:animScale>
                                          <p:cBhvr>
                                            <p:cTn id="48" dur="250" autoRev="1" fill="hold"/>
                                            <p:tgtEl>
                                              <p:spTgt spid="29"/>
                                            </p:tgtEl>
                                          </p:cBhvr>
                                          <p:by x="105000" y="105000"/>
                                        </p:animScale>
                                      </p:childTnLst>
                                    </p:cTn>
                                  </p:par>
                                </p:childTnLst>
                              </p:cTn>
                            </p:par>
                            <p:par>
                              <p:cTn id="49" fill="hold">
                                <p:stCondLst>
                                  <p:cond delay="4000"/>
                                </p:stCondLst>
                                <p:childTnLst>
                                  <p:par>
                                    <p:cTn id="50" presetID="16" presetClass="entr" presetSubtype="37" fill="hold" grpId="0" nodeType="afterEffect">
                                      <p:stCondLst>
                                        <p:cond delay="300"/>
                                      </p:stCondLst>
                                      <p:childTnLst>
                                        <p:set>
                                          <p:cBhvr>
                                            <p:cTn id="51" dur="1" fill="hold">
                                              <p:stCondLst>
                                                <p:cond delay="0"/>
                                              </p:stCondLst>
                                            </p:cTn>
                                            <p:tgtEl>
                                              <p:spTgt spid="19"/>
                                            </p:tgtEl>
                                            <p:attrNameLst>
                                              <p:attrName>style.visibility</p:attrName>
                                            </p:attrNameLst>
                                          </p:cBhvr>
                                          <p:to>
                                            <p:strVal val="visible"/>
                                          </p:to>
                                        </p:set>
                                        <p:animEffect transition="in" filter="barn(outVertical)">
                                          <p:cBhvr>
                                            <p:cTn id="52" dur="7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 fill="hold"/>
                                            <p:tgtEl>
                                              <p:spTgt spid="4"/>
                                            </p:tgtEl>
                                            <p:attrNameLst>
                                              <p:attrName>ppt_w</p:attrName>
                                            </p:attrNameLst>
                                          </p:cBhvr>
                                          <p:tavLst>
                                            <p:tav tm="0">
                                              <p:val>
                                                <p:fltVal val="0"/>
                                              </p:val>
                                            </p:tav>
                                            <p:tav tm="100000">
                                              <p:val>
                                                <p:strVal val="#ppt_w"/>
                                              </p:val>
                                            </p:tav>
                                          </p:tavLst>
                                        </p:anim>
                                        <p:anim calcmode="lin" valueType="num">
                                          <p:cBhvr>
                                            <p:cTn id="8" dur="200" fill="hold"/>
                                            <p:tgtEl>
                                              <p:spTgt spid="4"/>
                                            </p:tgtEl>
                                            <p:attrNameLst>
                                              <p:attrName>ppt_h</p:attrName>
                                            </p:attrNameLst>
                                          </p:cBhvr>
                                          <p:tavLst>
                                            <p:tav tm="0">
                                              <p:val>
                                                <p:fltVal val="0"/>
                                              </p:val>
                                            </p:tav>
                                            <p:tav tm="100000">
                                              <p:val>
                                                <p:strVal val="#ppt_h"/>
                                              </p:val>
                                            </p:tav>
                                          </p:tavLst>
                                        </p:anim>
                                        <p:animEffect transition="in" filter="fade">
                                          <p:cBhvr>
                                            <p:cTn id="9" dur="200"/>
                                            <p:tgtEl>
                                              <p:spTgt spid="4"/>
                                            </p:tgtEl>
                                          </p:cBhvr>
                                        </p:animEffect>
                                      </p:childTnLst>
                                    </p:cTn>
                                  </p:par>
                                </p:childTnLst>
                              </p:cTn>
                            </p:par>
                            <p:par>
                              <p:cTn id="10" fill="hold">
                                <p:stCondLst>
                                  <p:cond delay="500"/>
                                </p:stCondLst>
                                <p:childTnLst>
                                  <p:par>
                                    <p:cTn id="11" presetID="32" presetClass="emph" presetSubtype="0" fill="hold" nodeType="afterEffect">
                                      <p:stCondLst>
                                        <p:cond delay="0"/>
                                      </p:stCondLst>
                                      <p:childTnLst>
                                        <p:animRot by="120000">
                                          <p:cBhvr>
                                            <p:cTn id="12" dur="50" fill="hold">
                                              <p:stCondLst>
                                                <p:cond delay="0"/>
                                              </p:stCondLst>
                                            </p:cTn>
                                            <p:tgtEl>
                                              <p:spTgt spid="4"/>
                                            </p:tgtEl>
                                            <p:attrNameLst>
                                              <p:attrName>r</p:attrName>
                                            </p:attrNameLst>
                                          </p:cBhvr>
                                        </p:animRot>
                                        <p:animRot by="-240000">
                                          <p:cBhvr>
                                            <p:cTn id="13" dur="100" fill="hold">
                                              <p:stCondLst>
                                                <p:cond delay="100"/>
                                              </p:stCondLst>
                                            </p:cTn>
                                            <p:tgtEl>
                                              <p:spTgt spid="4"/>
                                            </p:tgtEl>
                                            <p:attrNameLst>
                                              <p:attrName>r</p:attrName>
                                            </p:attrNameLst>
                                          </p:cBhvr>
                                        </p:animRot>
                                        <p:animRot by="240000">
                                          <p:cBhvr>
                                            <p:cTn id="14" dur="100" fill="hold">
                                              <p:stCondLst>
                                                <p:cond delay="200"/>
                                              </p:stCondLst>
                                            </p:cTn>
                                            <p:tgtEl>
                                              <p:spTgt spid="4"/>
                                            </p:tgtEl>
                                            <p:attrNameLst>
                                              <p:attrName>r</p:attrName>
                                            </p:attrNameLst>
                                          </p:cBhvr>
                                        </p:animRot>
                                        <p:animRot by="-240000">
                                          <p:cBhvr>
                                            <p:cTn id="15" dur="100" fill="hold">
                                              <p:stCondLst>
                                                <p:cond delay="300"/>
                                              </p:stCondLst>
                                            </p:cTn>
                                            <p:tgtEl>
                                              <p:spTgt spid="4"/>
                                            </p:tgtEl>
                                            <p:attrNameLst>
                                              <p:attrName>r</p:attrName>
                                            </p:attrNameLst>
                                          </p:cBhvr>
                                        </p:animRot>
                                        <p:animRot by="120000">
                                          <p:cBhvr>
                                            <p:cTn id="16" dur="100" fill="hold">
                                              <p:stCondLst>
                                                <p:cond delay="400"/>
                                              </p:stCondLst>
                                            </p:cTn>
                                            <p:tgtEl>
                                              <p:spTgt spid="4"/>
                                            </p:tgtEl>
                                            <p:attrNameLst>
                                              <p:attrName>r</p:attrName>
                                            </p:attrNameLst>
                                          </p:cBhvr>
                                        </p:animRot>
                                      </p:childTnLst>
                                    </p:cTn>
                                  </p:par>
                                </p:childTnLst>
                              </p:cTn>
                            </p:par>
                            <p:par>
                              <p:cTn id="17" fill="hold">
                                <p:stCondLst>
                                  <p:cond delay="1000"/>
                                </p:stCondLst>
                                <p:childTnLst>
                                  <p:par>
                                    <p:cTn id="18" presetID="37" presetClass="entr" presetSubtype="0"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700"/>
                                            <p:tgtEl>
                                              <p:spTgt spid="20"/>
                                            </p:tgtEl>
                                          </p:cBhvr>
                                        </p:animEffect>
                                        <p:anim calcmode="lin" valueType="num">
                                          <p:cBhvr>
                                            <p:cTn id="21" dur="700" fill="hold"/>
                                            <p:tgtEl>
                                              <p:spTgt spid="20"/>
                                            </p:tgtEl>
                                            <p:attrNameLst>
                                              <p:attrName>ppt_x</p:attrName>
                                            </p:attrNameLst>
                                          </p:cBhvr>
                                          <p:tavLst>
                                            <p:tav tm="0">
                                              <p:val>
                                                <p:strVal val="#ppt_x"/>
                                              </p:val>
                                            </p:tav>
                                            <p:tav tm="100000">
                                              <p:val>
                                                <p:strVal val="#ppt_x"/>
                                              </p:val>
                                            </p:tav>
                                          </p:tavLst>
                                        </p:anim>
                                        <p:anim calcmode="lin" valueType="num">
                                          <p:cBhvr>
                                            <p:cTn id="22" dur="630" decel="100000" fill="hold"/>
                                            <p:tgtEl>
                                              <p:spTgt spid="20"/>
                                            </p:tgtEl>
                                            <p:attrNameLst>
                                              <p:attrName>ppt_y</p:attrName>
                                            </p:attrNameLst>
                                          </p:cBhvr>
                                          <p:tavLst>
                                            <p:tav tm="0">
                                              <p:val>
                                                <p:strVal val="#ppt_y+1"/>
                                              </p:val>
                                            </p:tav>
                                            <p:tav tm="100000">
                                              <p:val>
                                                <p:strVal val="#ppt_y-.03"/>
                                              </p:val>
                                            </p:tav>
                                          </p:tavLst>
                                        </p:anim>
                                        <p:anim calcmode="lin" valueType="num">
                                          <p:cBhvr>
                                            <p:cTn id="23" dur="70" accel="100000" fill="hold">
                                              <p:stCondLst>
                                                <p:cond delay="630"/>
                                              </p:stCondLst>
                                            </p:cTn>
                                            <p:tgtEl>
                                              <p:spTgt spid="20"/>
                                            </p:tgtEl>
                                            <p:attrNameLst>
                                              <p:attrName>ppt_y</p:attrName>
                                            </p:attrNameLst>
                                          </p:cBhvr>
                                          <p:tavLst>
                                            <p:tav tm="0">
                                              <p:val>
                                                <p:strVal val="#ppt_y-.03"/>
                                              </p:val>
                                            </p:tav>
                                            <p:tav tm="100000">
                                              <p:val>
                                                <p:strVal val="#ppt_y"/>
                                              </p:val>
                                            </p:tav>
                                          </p:tavLst>
                                        </p:anim>
                                      </p:childTnLst>
                                    </p:cTn>
                                  </p:par>
                                </p:childTnLst>
                              </p:cTn>
                            </p:par>
                            <p:par>
                              <p:cTn id="24" fill="hold">
                                <p:stCondLst>
                                  <p:cond delay="2000"/>
                                </p:stCondLst>
                                <p:childTnLst>
                                  <p:par>
                                    <p:cTn id="25" presetID="1"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par>
                              <p:cTn id="27" fill="hold">
                                <p:stCondLst>
                                  <p:cond delay="20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2500"/>
                                </p:stCondLst>
                                <p:childTnLst>
                                  <p:par>
                                    <p:cTn id="32" presetID="1"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par>
                              <p:cTn id="34" fill="hold">
                                <p:stCondLst>
                                  <p:cond delay="2500"/>
                                </p:stCondLst>
                                <p:childTnLst>
                                  <p:par>
                                    <p:cTn id="35" presetID="2" presetClass="entr" presetSubtype="2" accel="70000" fill="hold" grpId="0" nodeType="after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1+#ppt_w/2"/>
                                              </p:val>
                                            </p:tav>
                                            <p:tav tm="100000">
                                              <p:val>
                                                <p:strVal val="#ppt_x"/>
                                              </p:val>
                                            </p:tav>
                                          </p:tavLst>
                                        </p:anim>
                                        <p:anim calcmode="lin" valueType="num">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par>
                              <p:cTn id="39" fill="hold">
                                <p:stCondLst>
                                  <p:cond delay="3000"/>
                                </p:stCondLst>
                                <p:childTnLst>
                                  <p:par>
                                    <p:cTn id="40" presetID="53" presetClass="entr" presetSubtype="16" fill="hold" nodeType="after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p:cTn id="42" dur="200" fill="hold"/>
                                            <p:tgtEl>
                                              <p:spTgt spid="29"/>
                                            </p:tgtEl>
                                            <p:attrNameLst>
                                              <p:attrName>ppt_w</p:attrName>
                                            </p:attrNameLst>
                                          </p:cBhvr>
                                          <p:tavLst>
                                            <p:tav tm="0">
                                              <p:val>
                                                <p:fltVal val="0"/>
                                              </p:val>
                                            </p:tav>
                                            <p:tav tm="100000">
                                              <p:val>
                                                <p:strVal val="#ppt_w"/>
                                              </p:val>
                                            </p:tav>
                                          </p:tavLst>
                                        </p:anim>
                                        <p:anim calcmode="lin" valueType="num">
                                          <p:cBhvr>
                                            <p:cTn id="43" dur="200" fill="hold"/>
                                            <p:tgtEl>
                                              <p:spTgt spid="29"/>
                                            </p:tgtEl>
                                            <p:attrNameLst>
                                              <p:attrName>ppt_h</p:attrName>
                                            </p:attrNameLst>
                                          </p:cBhvr>
                                          <p:tavLst>
                                            <p:tav tm="0">
                                              <p:val>
                                                <p:fltVal val="0"/>
                                              </p:val>
                                            </p:tav>
                                            <p:tav tm="100000">
                                              <p:val>
                                                <p:strVal val="#ppt_h"/>
                                              </p:val>
                                            </p:tav>
                                          </p:tavLst>
                                        </p:anim>
                                        <p:animEffect transition="in" filter="fade">
                                          <p:cBhvr>
                                            <p:cTn id="44" dur="200"/>
                                            <p:tgtEl>
                                              <p:spTgt spid="29"/>
                                            </p:tgtEl>
                                          </p:cBhvr>
                                        </p:animEffect>
                                      </p:childTnLst>
                                    </p:cTn>
                                  </p:par>
                                </p:childTnLst>
                              </p:cTn>
                            </p:par>
                            <p:par>
                              <p:cTn id="45" fill="hold">
                                <p:stCondLst>
                                  <p:cond delay="3500"/>
                                </p:stCondLst>
                                <p:childTnLst>
                                  <p:par>
                                    <p:cTn id="46" presetID="26" presetClass="emph" presetSubtype="0" fill="hold" nodeType="afterEffect">
                                      <p:stCondLst>
                                        <p:cond delay="0"/>
                                      </p:stCondLst>
                                      <p:childTnLst>
                                        <p:animEffect transition="out" filter="fade">
                                          <p:cBhvr>
                                            <p:cTn id="47" dur="500" tmFilter="0, 0; .2, .5; .8, .5; 1, 0"/>
                                            <p:tgtEl>
                                              <p:spTgt spid="29"/>
                                            </p:tgtEl>
                                          </p:cBhvr>
                                        </p:animEffect>
                                        <p:animScale>
                                          <p:cBhvr>
                                            <p:cTn id="48" dur="250" autoRev="1" fill="hold"/>
                                            <p:tgtEl>
                                              <p:spTgt spid="29"/>
                                            </p:tgtEl>
                                          </p:cBhvr>
                                          <p:by x="105000" y="105000"/>
                                        </p:animScale>
                                      </p:childTnLst>
                                    </p:cTn>
                                  </p:par>
                                </p:childTnLst>
                              </p:cTn>
                            </p:par>
                            <p:par>
                              <p:cTn id="49" fill="hold">
                                <p:stCondLst>
                                  <p:cond delay="4000"/>
                                </p:stCondLst>
                                <p:childTnLst>
                                  <p:par>
                                    <p:cTn id="50" presetID="16" presetClass="entr" presetSubtype="37" fill="hold" grpId="0" nodeType="afterEffect">
                                      <p:stCondLst>
                                        <p:cond delay="300"/>
                                      </p:stCondLst>
                                      <p:childTnLst>
                                        <p:set>
                                          <p:cBhvr>
                                            <p:cTn id="51" dur="1" fill="hold">
                                              <p:stCondLst>
                                                <p:cond delay="0"/>
                                              </p:stCondLst>
                                            </p:cTn>
                                            <p:tgtEl>
                                              <p:spTgt spid="19"/>
                                            </p:tgtEl>
                                            <p:attrNameLst>
                                              <p:attrName>style.visibility</p:attrName>
                                            </p:attrNameLst>
                                          </p:cBhvr>
                                          <p:to>
                                            <p:strVal val="visible"/>
                                          </p:to>
                                        </p:set>
                                        <p:animEffect transition="in" filter="barn(outVertical)">
                                          <p:cBhvr>
                                            <p:cTn id="52" dur="700"/>
                                            <p:tgtEl>
                                              <p:spTgt spid="19"/>
                                            </p:tgtEl>
                                          </p:cBhvr>
                                        </p:animEffect>
                                      </p:childTnLst>
                                    </p:cTn>
                                  </p:par>
                                </p:childTnLst>
                              </p:cTn>
                            </p:par>
                            <p:par>
                              <p:cTn id="53" fill="hold">
                                <p:stCondLst>
                                  <p:cond delay="5300"/>
                                </p:stCondLst>
                                <p:childTnLst>
                                  <p:par>
                                    <p:cTn id="54" presetID="50" presetClass="entr" presetSubtype="0" decel="100000" fill="hold" grpId="0" nodeType="afterEffect">
                                      <p:stCondLst>
                                        <p:cond delay="0"/>
                                      </p:stCondLst>
                                      <p:childTnLst>
                                        <p:set>
                                          <p:cBhvr>
                                            <p:cTn id="55" dur="1" fill="hold">
                                              <p:stCondLst>
                                                <p:cond delay="0"/>
                                              </p:stCondLst>
                                            </p:cTn>
                                            <p:tgtEl>
                                              <p:spTgt spid="32"/>
                                            </p:tgtEl>
                                            <p:attrNameLst>
                                              <p:attrName>style.visibility</p:attrName>
                                            </p:attrNameLst>
                                          </p:cBhvr>
                                          <p:to>
                                            <p:strVal val="visible"/>
                                          </p:to>
                                        </p:set>
                                        <p:anim calcmode="lin" valueType="num">
                                          <p:cBhvr>
                                            <p:cTn id="56" dur="1000" fill="hold"/>
                                            <p:tgtEl>
                                              <p:spTgt spid="32"/>
                                            </p:tgtEl>
                                            <p:attrNameLst>
                                              <p:attrName>ppt_w</p:attrName>
                                            </p:attrNameLst>
                                          </p:cBhvr>
                                          <p:tavLst>
                                            <p:tav tm="0">
                                              <p:val>
                                                <p:strVal val="#ppt_w+.3"/>
                                              </p:val>
                                            </p:tav>
                                            <p:tav tm="100000">
                                              <p:val>
                                                <p:strVal val="#ppt_w"/>
                                              </p:val>
                                            </p:tav>
                                          </p:tavLst>
                                        </p:anim>
                                        <p:anim calcmode="lin" valueType="num">
                                          <p:cBhvr>
                                            <p:cTn id="57" dur="1000" fill="hold"/>
                                            <p:tgtEl>
                                              <p:spTgt spid="32"/>
                                            </p:tgtEl>
                                            <p:attrNameLst>
                                              <p:attrName>ppt_h</p:attrName>
                                            </p:attrNameLst>
                                          </p:cBhvr>
                                          <p:tavLst>
                                            <p:tav tm="0">
                                              <p:val>
                                                <p:strVal val="#ppt_h"/>
                                              </p:val>
                                            </p:tav>
                                            <p:tav tm="100000">
                                              <p:val>
                                                <p:strVal val="#ppt_h"/>
                                              </p:val>
                                            </p:tav>
                                          </p:tavLst>
                                        </p:anim>
                                        <p:animEffect transition="in" filter="fade">
                                          <p:cBhvr>
                                            <p:cTn id="58" dur="1000"/>
                                            <p:tgtEl>
                                              <p:spTgt spid="32"/>
                                            </p:tgtEl>
                                          </p:cBhvr>
                                        </p:animEffect>
                                      </p:childTnLst>
                                    </p:cTn>
                                  </p:par>
                                  <p:par>
                                    <p:cTn id="59" presetID="50" presetClass="entr" presetSubtype="0" decel="100000" fill="hold" grpId="0" nodeType="withEffect">
                                      <p:stCondLst>
                                        <p:cond delay="450"/>
                                      </p:stCondLst>
                                      <p:childTnLst>
                                        <p:set>
                                          <p:cBhvr>
                                            <p:cTn id="60" dur="1" fill="hold">
                                              <p:stCondLst>
                                                <p:cond delay="0"/>
                                              </p:stCondLst>
                                            </p:cTn>
                                            <p:tgtEl>
                                              <p:spTgt spid="33"/>
                                            </p:tgtEl>
                                            <p:attrNameLst>
                                              <p:attrName>style.visibility</p:attrName>
                                            </p:attrNameLst>
                                          </p:cBhvr>
                                          <p:to>
                                            <p:strVal val="visible"/>
                                          </p:to>
                                        </p:set>
                                        <p:anim calcmode="lin" valueType="num">
                                          <p:cBhvr>
                                            <p:cTn id="61" dur="1000" fill="hold"/>
                                            <p:tgtEl>
                                              <p:spTgt spid="33"/>
                                            </p:tgtEl>
                                            <p:attrNameLst>
                                              <p:attrName>ppt_w</p:attrName>
                                            </p:attrNameLst>
                                          </p:cBhvr>
                                          <p:tavLst>
                                            <p:tav tm="0">
                                              <p:val>
                                                <p:strVal val="#ppt_w+.3"/>
                                              </p:val>
                                            </p:tav>
                                            <p:tav tm="100000">
                                              <p:val>
                                                <p:strVal val="#ppt_w"/>
                                              </p:val>
                                            </p:tav>
                                          </p:tavLst>
                                        </p:anim>
                                        <p:anim calcmode="lin" valueType="num">
                                          <p:cBhvr>
                                            <p:cTn id="62" dur="1000" fill="hold"/>
                                            <p:tgtEl>
                                              <p:spTgt spid="33"/>
                                            </p:tgtEl>
                                            <p:attrNameLst>
                                              <p:attrName>ppt_h</p:attrName>
                                            </p:attrNameLst>
                                          </p:cBhvr>
                                          <p:tavLst>
                                            <p:tav tm="0">
                                              <p:val>
                                                <p:strVal val="#ppt_h"/>
                                              </p:val>
                                            </p:tav>
                                            <p:tav tm="100000">
                                              <p:val>
                                                <p:strVal val="#ppt_h"/>
                                              </p:val>
                                            </p:tav>
                                          </p:tavLst>
                                        </p:anim>
                                        <p:animEffect transition="in" filter="fade">
                                          <p:cBhvr>
                                            <p:cTn id="63" dur="1000"/>
                                            <p:tgtEl>
                                              <p:spTgt spid="33"/>
                                            </p:tgtEl>
                                          </p:cBhvr>
                                        </p:animEffect>
                                      </p:childTnLst>
                                    </p:cTn>
                                  </p:par>
                                  <p:par>
                                    <p:cTn id="64" presetID="50" presetClass="entr" presetSubtype="0" decel="100000" fill="hold" grpId="0" nodeType="withEffect">
                                      <p:stCondLst>
                                        <p:cond delay="850"/>
                                      </p:stCondLst>
                                      <p:childTnLst>
                                        <p:set>
                                          <p:cBhvr>
                                            <p:cTn id="65" dur="1" fill="hold">
                                              <p:stCondLst>
                                                <p:cond delay="0"/>
                                              </p:stCondLst>
                                            </p:cTn>
                                            <p:tgtEl>
                                              <p:spTgt spid="34"/>
                                            </p:tgtEl>
                                            <p:attrNameLst>
                                              <p:attrName>style.visibility</p:attrName>
                                            </p:attrNameLst>
                                          </p:cBhvr>
                                          <p:to>
                                            <p:strVal val="visible"/>
                                          </p:to>
                                        </p:set>
                                        <p:anim calcmode="lin" valueType="num">
                                          <p:cBhvr>
                                            <p:cTn id="66" dur="1000" fill="hold"/>
                                            <p:tgtEl>
                                              <p:spTgt spid="34"/>
                                            </p:tgtEl>
                                            <p:attrNameLst>
                                              <p:attrName>ppt_w</p:attrName>
                                            </p:attrNameLst>
                                          </p:cBhvr>
                                          <p:tavLst>
                                            <p:tav tm="0">
                                              <p:val>
                                                <p:strVal val="#ppt_w+.3"/>
                                              </p:val>
                                            </p:tav>
                                            <p:tav tm="100000">
                                              <p:val>
                                                <p:strVal val="#ppt_w"/>
                                              </p:val>
                                            </p:tav>
                                          </p:tavLst>
                                        </p:anim>
                                        <p:anim calcmode="lin" valueType="num">
                                          <p:cBhvr>
                                            <p:cTn id="67" dur="1000" fill="hold"/>
                                            <p:tgtEl>
                                              <p:spTgt spid="34"/>
                                            </p:tgtEl>
                                            <p:attrNameLst>
                                              <p:attrName>ppt_h</p:attrName>
                                            </p:attrNameLst>
                                          </p:cBhvr>
                                          <p:tavLst>
                                            <p:tav tm="0">
                                              <p:val>
                                                <p:strVal val="#ppt_h"/>
                                              </p:val>
                                            </p:tav>
                                            <p:tav tm="100000">
                                              <p:val>
                                                <p:strVal val="#ppt_h"/>
                                              </p:val>
                                            </p:tav>
                                          </p:tavLst>
                                        </p:anim>
                                        <p:animEffect transition="in" filter="fade">
                                          <p:cBhvr>
                                            <p:cTn id="68" dur="1000"/>
                                            <p:tgtEl>
                                              <p:spTgt spid="34"/>
                                            </p:tgtEl>
                                          </p:cBhvr>
                                        </p:animEffect>
                                      </p:childTnLst>
                                    </p:cTn>
                                  </p:par>
                                  <p:par>
                                    <p:cTn id="69" presetID="50" presetClass="entr" presetSubtype="0" decel="100000" fill="hold" grpId="0" nodeType="withEffect">
                                      <p:stCondLst>
                                        <p:cond delay="1250"/>
                                      </p:stCondLst>
                                      <p:childTnLst>
                                        <p:set>
                                          <p:cBhvr>
                                            <p:cTn id="70" dur="1" fill="hold">
                                              <p:stCondLst>
                                                <p:cond delay="0"/>
                                              </p:stCondLst>
                                            </p:cTn>
                                            <p:tgtEl>
                                              <p:spTgt spid="35"/>
                                            </p:tgtEl>
                                            <p:attrNameLst>
                                              <p:attrName>style.visibility</p:attrName>
                                            </p:attrNameLst>
                                          </p:cBhvr>
                                          <p:to>
                                            <p:strVal val="visible"/>
                                          </p:to>
                                        </p:set>
                                        <p:anim calcmode="lin" valueType="num">
                                          <p:cBhvr>
                                            <p:cTn id="71" dur="1000" fill="hold"/>
                                            <p:tgtEl>
                                              <p:spTgt spid="35"/>
                                            </p:tgtEl>
                                            <p:attrNameLst>
                                              <p:attrName>ppt_w</p:attrName>
                                            </p:attrNameLst>
                                          </p:cBhvr>
                                          <p:tavLst>
                                            <p:tav tm="0">
                                              <p:val>
                                                <p:strVal val="#ppt_w+.3"/>
                                              </p:val>
                                            </p:tav>
                                            <p:tav tm="100000">
                                              <p:val>
                                                <p:strVal val="#ppt_w"/>
                                              </p:val>
                                            </p:tav>
                                          </p:tavLst>
                                        </p:anim>
                                        <p:anim calcmode="lin" valueType="num">
                                          <p:cBhvr>
                                            <p:cTn id="72" dur="1000" fill="hold"/>
                                            <p:tgtEl>
                                              <p:spTgt spid="35"/>
                                            </p:tgtEl>
                                            <p:attrNameLst>
                                              <p:attrName>ppt_h</p:attrName>
                                            </p:attrNameLst>
                                          </p:cBhvr>
                                          <p:tavLst>
                                            <p:tav tm="0">
                                              <p:val>
                                                <p:strVal val="#ppt_h"/>
                                              </p:val>
                                            </p:tav>
                                            <p:tav tm="100000">
                                              <p:val>
                                                <p:strVal val="#ppt_h"/>
                                              </p:val>
                                            </p:tav>
                                          </p:tavLst>
                                        </p:anim>
                                        <p:animEffect transition="in" filter="fade">
                                          <p:cBhvr>
                                            <p:cTn id="73"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P spid="32" grpId="0"/>
          <p:bldP spid="33" grpId="0"/>
          <p:bldP spid="34" grpId="0"/>
          <p:bldP spid="35"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任意多边形 97"/>
          <p:cNvSpPr/>
          <p:nvPr/>
        </p:nvSpPr>
        <p:spPr>
          <a:xfrm>
            <a:off x="5524218" y="1795007"/>
            <a:ext cx="1832082" cy="1878542"/>
          </a:xfrm>
          <a:custGeom>
            <a:avLst/>
            <a:gdLst>
              <a:gd name="connsiteX0" fmla="*/ 0 w 1768701"/>
              <a:gd name="connsiteY0" fmla="*/ 0 h 1819275"/>
              <a:gd name="connsiteX1" fmla="*/ 1239837 w 1768701"/>
              <a:gd name="connsiteY1" fmla="*/ 0 h 1819275"/>
              <a:gd name="connsiteX2" fmla="*/ 1425575 w 1768701"/>
              <a:gd name="connsiteY2" fmla="*/ 1819275 h 1819275"/>
              <a:gd name="connsiteX3" fmla="*/ 1217011 w 1768701"/>
              <a:gd name="connsiteY3" fmla="*/ 1151279 h 1819275"/>
              <a:gd name="connsiteX4" fmla="*/ 1120532 w 1768701"/>
              <a:gd name="connsiteY4" fmla="*/ 960656 h 1819275"/>
              <a:gd name="connsiteX5" fmla="*/ 1125218 w 1768701"/>
              <a:gd name="connsiteY5" fmla="*/ 962449 h 1819275"/>
              <a:gd name="connsiteX6" fmla="*/ 1087312 w 1768701"/>
              <a:gd name="connsiteY6" fmla="*/ 895020 h 1819275"/>
              <a:gd name="connsiteX7" fmla="*/ 1067594 w 1768701"/>
              <a:gd name="connsiteY7" fmla="*/ 856060 h 1819275"/>
              <a:gd name="connsiteX8" fmla="*/ 1044723 w 1768701"/>
              <a:gd name="connsiteY8" fmla="*/ 819259 h 1819275"/>
              <a:gd name="connsiteX9" fmla="*/ 1032247 w 1768701"/>
              <a:gd name="connsiteY9" fmla="*/ 797066 h 1819275"/>
              <a:gd name="connsiteX10" fmla="*/ 1011074 w 1768701"/>
              <a:gd name="connsiteY10" fmla="*/ 765115 h 1819275"/>
              <a:gd name="connsiteX11" fmla="*/ 976419 w 1768701"/>
              <a:gd name="connsiteY11" fmla="*/ 709350 h 1819275"/>
              <a:gd name="connsiteX12" fmla="*/ 949071 w 1768701"/>
              <a:gd name="connsiteY12" fmla="*/ 671548 h 1819275"/>
              <a:gd name="connsiteX13" fmla="*/ 932625 w 1768701"/>
              <a:gd name="connsiteY13" fmla="*/ 646730 h 1819275"/>
              <a:gd name="connsiteX14" fmla="*/ 911183 w 1768701"/>
              <a:gd name="connsiteY14" fmla="*/ 619176 h 1819275"/>
              <a:gd name="connsiteX15" fmla="*/ 873826 w 1768701"/>
              <a:gd name="connsiteY15" fmla="*/ 567538 h 1819275"/>
              <a:gd name="connsiteX16" fmla="*/ 842456 w 1768701"/>
              <a:gd name="connsiteY16" fmla="*/ 530859 h 1819275"/>
              <a:gd name="connsiteX17" fmla="*/ 827460 w 1768701"/>
              <a:gd name="connsiteY17" fmla="*/ 511589 h 1819275"/>
              <a:gd name="connsiteX18" fmla="*/ 804660 w 1768701"/>
              <a:gd name="connsiteY18" fmla="*/ 486667 h 1819275"/>
              <a:gd name="connsiteX19" fmla="*/ 759485 w 1768701"/>
              <a:gd name="connsiteY19" fmla="*/ 433846 h 1819275"/>
              <a:gd name="connsiteX20" fmla="*/ 732019 w 1768701"/>
              <a:gd name="connsiteY20" fmla="*/ 407265 h 1819275"/>
              <a:gd name="connsiteX21" fmla="*/ 717863 w 1768701"/>
              <a:gd name="connsiteY21" fmla="*/ 391791 h 1819275"/>
              <a:gd name="connsiteX22" fmla="*/ 677622 w 1768701"/>
              <a:gd name="connsiteY22" fmla="*/ 354620 h 1819275"/>
              <a:gd name="connsiteX23" fmla="*/ 633065 w 1768701"/>
              <a:gd name="connsiteY23" fmla="*/ 311498 h 1819275"/>
              <a:gd name="connsiteX24" fmla="*/ 619739 w 1768701"/>
              <a:gd name="connsiteY24" fmla="*/ 301151 h 1819275"/>
              <a:gd name="connsiteX25" fmla="*/ 604942 w 1768701"/>
              <a:gd name="connsiteY25" fmla="*/ 287483 h 1819275"/>
              <a:gd name="connsiteX26" fmla="*/ 29334 w 1768701"/>
              <a:gd name="connsiteY26" fmla="*/ 3471 h 1819275"/>
              <a:gd name="connsiteX27" fmla="*/ 7152 w 1768701"/>
              <a:gd name="connsiteY27" fmla="*/ 1798 h 1819275"/>
              <a:gd name="connsiteX0-1" fmla="*/ 0 w 1768701"/>
              <a:gd name="connsiteY0-2" fmla="*/ 0 h 1819275"/>
              <a:gd name="connsiteX1-3" fmla="*/ 1239837 w 1768701"/>
              <a:gd name="connsiteY1-4" fmla="*/ 0 h 1819275"/>
              <a:gd name="connsiteX2-5" fmla="*/ 1425575 w 1768701"/>
              <a:gd name="connsiteY2-6" fmla="*/ 1819275 h 1819275"/>
              <a:gd name="connsiteX3-7" fmla="*/ 1217011 w 1768701"/>
              <a:gd name="connsiteY3-8" fmla="*/ 1151279 h 1819275"/>
              <a:gd name="connsiteX4-9" fmla="*/ 1120532 w 1768701"/>
              <a:gd name="connsiteY4-10" fmla="*/ 960656 h 1819275"/>
              <a:gd name="connsiteX5-11" fmla="*/ 1125218 w 1768701"/>
              <a:gd name="connsiteY5-12" fmla="*/ 962449 h 1819275"/>
              <a:gd name="connsiteX6-13" fmla="*/ 1087312 w 1768701"/>
              <a:gd name="connsiteY6-14" fmla="*/ 895020 h 1819275"/>
              <a:gd name="connsiteX7-15" fmla="*/ 1067594 w 1768701"/>
              <a:gd name="connsiteY7-16" fmla="*/ 856060 h 1819275"/>
              <a:gd name="connsiteX8-17" fmla="*/ 1044723 w 1768701"/>
              <a:gd name="connsiteY8-18" fmla="*/ 819259 h 1819275"/>
              <a:gd name="connsiteX9-19" fmla="*/ 1032247 w 1768701"/>
              <a:gd name="connsiteY9-20" fmla="*/ 797066 h 1819275"/>
              <a:gd name="connsiteX10-21" fmla="*/ 1011074 w 1768701"/>
              <a:gd name="connsiteY10-22" fmla="*/ 765115 h 1819275"/>
              <a:gd name="connsiteX11-23" fmla="*/ 976419 w 1768701"/>
              <a:gd name="connsiteY11-24" fmla="*/ 709350 h 1819275"/>
              <a:gd name="connsiteX12-25" fmla="*/ 949071 w 1768701"/>
              <a:gd name="connsiteY12-26" fmla="*/ 671548 h 1819275"/>
              <a:gd name="connsiteX13-27" fmla="*/ 932625 w 1768701"/>
              <a:gd name="connsiteY13-28" fmla="*/ 646730 h 1819275"/>
              <a:gd name="connsiteX14-29" fmla="*/ 911183 w 1768701"/>
              <a:gd name="connsiteY14-30" fmla="*/ 619176 h 1819275"/>
              <a:gd name="connsiteX15-31" fmla="*/ 873826 w 1768701"/>
              <a:gd name="connsiteY15-32" fmla="*/ 567538 h 1819275"/>
              <a:gd name="connsiteX16-33" fmla="*/ 842456 w 1768701"/>
              <a:gd name="connsiteY16-34" fmla="*/ 530859 h 1819275"/>
              <a:gd name="connsiteX17-35" fmla="*/ 827460 w 1768701"/>
              <a:gd name="connsiteY17-36" fmla="*/ 511589 h 1819275"/>
              <a:gd name="connsiteX18-37" fmla="*/ 804660 w 1768701"/>
              <a:gd name="connsiteY18-38" fmla="*/ 486667 h 1819275"/>
              <a:gd name="connsiteX19-39" fmla="*/ 759485 w 1768701"/>
              <a:gd name="connsiteY19-40" fmla="*/ 433846 h 1819275"/>
              <a:gd name="connsiteX20-41" fmla="*/ 732019 w 1768701"/>
              <a:gd name="connsiteY20-42" fmla="*/ 407265 h 1819275"/>
              <a:gd name="connsiteX21-43" fmla="*/ 717863 w 1768701"/>
              <a:gd name="connsiteY21-44" fmla="*/ 391791 h 1819275"/>
              <a:gd name="connsiteX22-45" fmla="*/ 677622 w 1768701"/>
              <a:gd name="connsiteY22-46" fmla="*/ 354620 h 1819275"/>
              <a:gd name="connsiteX23-47" fmla="*/ 633065 w 1768701"/>
              <a:gd name="connsiteY23-48" fmla="*/ 311498 h 1819275"/>
              <a:gd name="connsiteX24-49" fmla="*/ 619739 w 1768701"/>
              <a:gd name="connsiteY24-50" fmla="*/ 301151 h 1819275"/>
              <a:gd name="connsiteX25-51" fmla="*/ 604942 w 1768701"/>
              <a:gd name="connsiteY25-52" fmla="*/ 287483 h 1819275"/>
              <a:gd name="connsiteX26-53" fmla="*/ 29334 w 1768701"/>
              <a:gd name="connsiteY26-54" fmla="*/ 3471 h 1819275"/>
              <a:gd name="connsiteX27-55" fmla="*/ 7152 w 1768701"/>
              <a:gd name="connsiteY27-56" fmla="*/ 1798 h 1819275"/>
              <a:gd name="connsiteX28" fmla="*/ 0 w 1768701"/>
              <a:gd name="connsiteY28" fmla="*/ 0 h 1819275"/>
              <a:gd name="connsiteX0-57" fmla="*/ 0 w 1774058"/>
              <a:gd name="connsiteY0-58" fmla="*/ 0 h 1819275"/>
              <a:gd name="connsiteX1-59" fmla="*/ 1239837 w 1774058"/>
              <a:gd name="connsiteY1-60" fmla="*/ 0 h 1819275"/>
              <a:gd name="connsiteX2-61" fmla="*/ 1425575 w 1774058"/>
              <a:gd name="connsiteY2-62" fmla="*/ 1819275 h 1819275"/>
              <a:gd name="connsiteX3-63" fmla="*/ 1217011 w 1774058"/>
              <a:gd name="connsiteY3-64" fmla="*/ 1151279 h 1819275"/>
              <a:gd name="connsiteX4-65" fmla="*/ 1120532 w 1774058"/>
              <a:gd name="connsiteY4-66" fmla="*/ 960656 h 1819275"/>
              <a:gd name="connsiteX5-67" fmla="*/ 1125218 w 1774058"/>
              <a:gd name="connsiteY5-68" fmla="*/ 962449 h 1819275"/>
              <a:gd name="connsiteX6-69" fmla="*/ 1087312 w 1774058"/>
              <a:gd name="connsiteY6-70" fmla="*/ 895020 h 1819275"/>
              <a:gd name="connsiteX7-71" fmla="*/ 1067594 w 1774058"/>
              <a:gd name="connsiteY7-72" fmla="*/ 856060 h 1819275"/>
              <a:gd name="connsiteX8-73" fmla="*/ 1044723 w 1774058"/>
              <a:gd name="connsiteY8-74" fmla="*/ 819259 h 1819275"/>
              <a:gd name="connsiteX9-75" fmla="*/ 1032247 w 1774058"/>
              <a:gd name="connsiteY9-76" fmla="*/ 797066 h 1819275"/>
              <a:gd name="connsiteX10-77" fmla="*/ 1011074 w 1774058"/>
              <a:gd name="connsiteY10-78" fmla="*/ 765115 h 1819275"/>
              <a:gd name="connsiteX11-79" fmla="*/ 976419 w 1774058"/>
              <a:gd name="connsiteY11-80" fmla="*/ 709350 h 1819275"/>
              <a:gd name="connsiteX12-81" fmla="*/ 949071 w 1774058"/>
              <a:gd name="connsiteY12-82" fmla="*/ 671548 h 1819275"/>
              <a:gd name="connsiteX13-83" fmla="*/ 932625 w 1774058"/>
              <a:gd name="connsiteY13-84" fmla="*/ 646730 h 1819275"/>
              <a:gd name="connsiteX14-85" fmla="*/ 911183 w 1774058"/>
              <a:gd name="connsiteY14-86" fmla="*/ 619176 h 1819275"/>
              <a:gd name="connsiteX15-87" fmla="*/ 873826 w 1774058"/>
              <a:gd name="connsiteY15-88" fmla="*/ 567538 h 1819275"/>
              <a:gd name="connsiteX16-89" fmla="*/ 842456 w 1774058"/>
              <a:gd name="connsiteY16-90" fmla="*/ 530859 h 1819275"/>
              <a:gd name="connsiteX17-91" fmla="*/ 827460 w 1774058"/>
              <a:gd name="connsiteY17-92" fmla="*/ 511589 h 1819275"/>
              <a:gd name="connsiteX18-93" fmla="*/ 804660 w 1774058"/>
              <a:gd name="connsiteY18-94" fmla="*/ 486667 h 1819275"/>
              <a:gd name="connsiteX19-95" fmla="*/ 759485 w 1774058"/>
              <a:gd name="connsiteY19-96" fmla="*/ 433846 h 1819275"/>
              <a:gd name="connsiteX20-97" fmla="*/ 732019 w 1774058"/>
              <a:gd name="connsiteY20-98" fmla="*/ 407265 h 1819275"/>
              <a:gd name="connsiteX21-99" fmla="*/ 717863 w 1774058"/>
              <a:gd name="connsiteY21-100" fmla="*/ 391791 h 1819275"/>
              <a:gd name="connsiteX22-101" fmla="*/ 677622 w 1774058"/>
              <a:gd name="connsiteY22-102" fmla="*/ 354620 h 1819275"/>
              <a:gd name="connsiteX23-103" fmla="*/ 633065 w 1774058"/>
              <a:gd name="connsiteY23-104" fmla="*/ 311498 h 1819275"/>
              <a:gd name="connsiteX24-105" fmla="*/ 619739 w 1774058"/>
              <a:gd name="connsiteY24-106" fmla="*/ 301151 h 1819275"/>
              <a:gd name="connsiteX25-107" fmla="*/ 604942 w 1774058"/>
              <a:gd name="connsiteY25-108" fmla="*/ 287483 h 1819275"/>
              <a:gd name="connsiteX26-109" fmla="*/ 29334 w 1774058"/>
              <a:gd name="connsiteY26-110" fmla="*/ 3471 h 1819275"/>
              <a:gd name="connsiteX27-111" fmla="*/ 7152 w 1774058"/>
              <a:gd name="connsiteY27-112" fmla="*/ 1798 h 1819275"/>
              <a:gd name="connsiteX28-113" fmla="*/ 0 w 1774058"/>
              <a:gd name="connsiteY28-114" fmla="*/ 0 h 1819275"/>
              <a:gd name="connsiteX0-115" fmla="*/ 0 w 1775399"/>
              <a:gd name="connsiteY0-116" fmla="*/ 0 h 1819275"/>
              <a:gd name="connsiteX1-117" fmla="*/ 1239837 w 1775399"/>
              <a:gd name="connsiteY1-118" fmla="*/ 0 h 1819275"/>
              <a:gd name="connsiteX2-119" fmla="*/ 1425575 w 1775399"/>
              <a:gd name="connsiteY2-120" fmla="*/ 1819275 h 1819275"/>
              <a:gd name="connsiteX3-121" fmla="*/ 1217011 w 1775399"/>
              <a:gd name="connsiteY3-122" fmla="*/ 1151279 h 1819275"/>
              <a:gd name="connsiteX4-123" fmla="*/ 1120532 w 1775399"/>
              <a:gd name="connsiteY4-124" fmla="*/ 960656 h 1819275"/>
              <a:gd name="connsiteX5-125" fmla="*/ 1125218 w 1775399"/>
              <a:gd name="connsiteY5-126" fmla="*/ 962449 h 1819275"/>
              <a:gd name="connsiteX6-127" fmla="*/ 1087312 w 1775399"/>
              <a:gd name="connsiteY6-128" fmla="*/ 895020 h 1819275"/>
              <a:gd name="connsiteX7-129" fmla="*/ 1067594 w 1775399"/>
              <a:gd name="connsiteY7-130" fmla="*/ 856060 h 1819275"/>
              <a:gd name="connsiteX8-131" fmla="*/ 1044723 w 1775399"/>
              <a:gd name="connsiteY8-132" fmla="*/ 819259 h 1819275"/>
              <a:gd name="connsiteX9-133" fmla="*/ 1032247 w 1775399"/>
              <a:gd name="connsiteY9-134" fmla="*/ 797066 h 1819275"/>
              <a:gd name="connsiteX10-135" fmla="*/ 1011074 w 1775399"/>
              <a:gd name="connsiteY10-136" fmla="*/ 765115 h 1819275"/>
              <a:gd name="connsiteX11-137" fmla="*/ 976419 w 1775399"/>
              <a:gd name="connsiteY11-138" fmla="*/ 709350 h 1819275"/>
              <a:gd name="connsiteX12-139" fmla="*/ 949071 w 1775399"/>
              <a:gd name="connsiteY12-140" fmla="*/ 671548 h 1819275"/>
              <a:gd name="connsiteX13-141" fmla="*/ 932625 w 1775399"/>
              <a:gd name="connsiteY13-142" fmla="*/ 646730 h 1819275"/>
              <a:gd name="connsiteX14-143" fmla="*/ 911183 w 1775399"/>
              <a:gd name="connsiteY14-144" fmla="*/ 619176 h 1819275"/>
              <a:gd name="connsiteX15-145" fmla="*/ 873826 w 1775399"/>
              <a:gd name="connsiteY15-146" fmla="*/ 567538 h 1819275"/>
              <a:gd name="connsiteX16-147" fmla="*/ 842456 w 1775399"/>
              <a:gd name="connsiteY16-148" fmla="*/ 530859 h 1819275"/>
              <a:gd name="connsiteX17-149" fmla="*/ 827460 w 1775399"/>
              <a:gd name="connsiteY17-150" fmla="*/ 511589 h 1819275"/>
              <a:gd name="connsiteX18-151" fmla="*/ 804660 w 1775399"/>
              <a:gd name="connsiteY18-152" fmla="*/ 486667 h 1819275"/>
              <a:gd name="connsiteX19-153" fmla="*/ 759485 w 1775399"/>
              <a:gd name="connsiteY19-154" fmla="*/ 433846 h 1819275"/>
              <a:gd name="connsiteX20-155" fmla="*/ 732019 w 1775399"/>
              <a:gd name="connsiteY20-156" fmla="*/ 407265 h 1819275"/>
              <a:gd name="connsiteX21-157" fmla="*/ 717863 w 1775399"/>
              <a:gd name="connsiteY21-158" fmla="*/ 391791 h 1819275"/>
              <a:gd name="connsiteX22-159" fmla="*/ 677622 w 1775399"/>
              <a:gd name="connsiteY22-160" fmla="*/ 354620 h 1819275"/>
              <a:gd name="connsiteX23-161" fmla="*/ 633065 w 1775399"/>
              <a:gd name="connsiteY23-162" fmla="*/ 311498 h 1819275"/>
              <a:gd name="connsiteX24-163" fmla="*/ 619739 w 1775399"/>
              <a:gd name="connsiteY24-164" fmla="*/ 301151 h 1819275"/>
              <a:gd name="connsiteX25-165" fmla="*/ 604942 w 1775399"/>
              <a:gd name="connsiteY25-166" fmla="*/ 287483 h 1819275"/>
              <a:gd name="connsiteX26-167" fmla="*/ 29334 w 1775399"/>
              <a:gd name="connsiteY26-168" fmla="*/ 3471 h 1819275"/>
              <a:gd name="connsiteX27-169" fmla="*/ 7152 w 1775399"/>
              <a:gd name="connsiteY27-170" fmla="*/ 1798 h 1819275"/>
              <a:gd name="connsiteX28-171" fmla="*/ 0 w 1775399"/>
              <a:gd name="connsiteY28-172" fmla="*/ 0 h 18192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113" y="connsiteY28-114"/>
              </a:cxn>
            </a:cxnLst>
            <a:rect l="l" t="t" r="r" b="b"/>
            <a:pathLst>
              <a:path w="1775399" h="1819275">
                <a:moveTo>
                  <a:pt x="0" y="0"/>
                </a:moveTo>
                <a:lnTo>
                  <a:pt x="1239837" y="0"/>
                </a:lnTo>
                <a:cubicBezTo>
                  <a:pt x="1820863" y="101600"/>
                  <a:pt x="1997075" y="942975"/>
                  <a:pt x="1425575" y="1819275"/>
                </a:cubicBezTo>
                <a:cubicBezTo>
                  <a:pt x="1410692" y="1702594"/>
                  <a:pt x="1345133" y="1441252"/>
                  <a:pt x="1217011" y="1151279"/>
                </a:cubicBezTo>
                <a:lnTo>
                  <a:pt x="1120532" y="960656"/>
                </a:lnTo>
                <a:lnTo>
                  <a:pt x="1125218" y="962449"/>
                </a:lnTo>
                <a:lnTo>
                  <a:pt x="1087312" y="895020"/>
                </a:lnTo>
                <a:lnTo>
                  <a:pt x="1067594" y="856060"/>
                </a:lnTo>
                <a:lnTo>
                  <a:pt x="1044723" y="819259"/>
                </a:lnTo>
                <a:lnTo>
                  <a:pt x="1032247" y="797066"/>
                </a:lnTo>
                <a:lnTo>
                  <a:pt x="1011074" y="765115"/>
                </a:lnTo>
                <a:lnTo>
                  <a:pt x="976419" y="709350"/>
                </a:lnTo>
                <a:lnTo>
                  <a:pt x="949071" y="671548"/>
                </a:lnTo>
                <a:lnTo>
                  <a:pt x="932625" y="646730"/>
                </a:lnTo>
                <a:lnTo>
                  <a:pt x="911183" y="619176"/>
                </a:lnTo>
                <a:lnTo>
                  <a:pt x="873826" y="567538"/>
                </a:lnTo>
                <a:lnTo>
                  <a:pt x="842456" y="530859"/>
                </a:lnTo>
                <a:lnTo>
                  <a:pt x="827460" y="511589"/>
                </a:lnTo>
                <a:lnTo>
                  <a:pt x="804660" y="486667"/>
                </a:lnTo>
                <a:lnTo>
                  <a:pt x="759485" y="433846"/>
                </a:lnTo>
                <a:lnTo>
                  <a:pt x="732019" y="407265"/>
                </a:lnTo>
                <a:lnTo>
                  <a:pt x="717863" y="391791"/>
                </a:lnTo>
                <a:lnTo>
                  <a:pt x="677622" y="354620"/>
                </a:lnTo>
                <a:lnTo>
                  <a:pt x="633065" y="311498"/>
                </a:lnTo>
                <a:lnTo>
                  <a:pt x="619739" y="301151"/>
                </a:lnTo>
                <a:lnTo>
                  <a:pt x="604942" y="287483"/>
                </a:lnTo>
                <a:cubicBezTo>
                  <a:pt x="414589" y="126628"/>
                  <a:pt x="215013" y="30932"/>
                  <a:pt x="29334" y="3471"/>
                </a:cubicBezTo>
                <a:lnTo>
                  <a:pt x="7152" y="1798"/>
                </a:lnTo>
                <a:lnTo>
                  <a:pt x="0" y="0"/>
                </a:lnTo>
                <a:close/>
              </a:path>
            </a:pathLst>
          </a:custGeom>
          <a:gradFill>
            <a:gsLst>
              <a:gs pos="0">
                <a:srgbClr val="002060"/>
              </a:gs>
              <a:gs pos="100000">
                <a:srgbClr val="0070C0"/>
              </a:gs>
            </a:gsLst>
            <a:lin ang="2700000" scaled="1"/>
          </a:gradFill>
          <a:ln w="3175">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chemeClr val="tx1"/>
              </a:solidFill>
              <a:latin typeface="Impact" panose="020B0806030902050204" pitchFamily="34" charset="0"/>
              <a:ea typeface="微软雅黑" panose="020B0503020204020204" pitchFamily="34" charset="-122"/>
              <a:cs typeface="+mn-ea"/>
              <a:sym typeface="Impact" panose="020B0806030902050204" pitchFamily="34" charset="0"/>
            </a:endParaRPr>
          </a:p>
        </p:txBody>
      </p:sp>
      <p:sp>
        <p:nvSpPr>
          <p:cNvPr id="99" name="任意多边形 98"/>
          <p:cNvSpPr/>
          <p:nvPr/>
        </p:nvSpPr>
        <p:spPr>
          <a:xfrm rot="18018922">
            <a:off x="4683923" y="1861667"/>
            <a:ext cx="1824002" cy="1876522"/>
          </a:xfrm>
          <a:custGeom>
            <a:avLst/>
            <a:gdLst>
              <a:gd name="connsiteX0" fmla="*/ 0 w 1768701"/>
              <a:gd name="connsiteY0" fmla="*/ 0 h 1819275"/>
              <a:gd name="connsiteX1" fmla="*/ 1239837 w 1768701"/>
              <a:gd name="connsiteY1" fmla="*/ 0 h 1819275"/>
              <a:gd name="connsiteX2" fmla="*/ 1425575 w 1768701"/>
              <a:gd name="connsiteY2" fmla="*/ 1819275 h 1819275"/>
              <a:gd name="connsiteX3" fmla="*/ 1217011 w 1768701"/>
              <a:gd name="connsiteY3" fmla="*/ 1151279 h 1819275"/>
              <a:gd name="connsiteX4" fmla="*/ 1120532 w 1768701"/>
              <a:gd name="connsiteY4" fmla="*/ 960656 h 1819275"/>
              <a:gd name="connsiteX5" fmla="*/ 1125218 w 1768701"/>
              <a:gd name="connsiteY5" fmla="*/ 962449 h 1819275"/>
              <a:gd name="connsiteX6" fmla="*/ 1087312 w 1768701"/>
              <a:gd name="connsiteY6" fmla="*/ 895020 h 1819275"/>
              <a:gd name="connsiteX7" fmla="*/ 1067594 w 1768701"/>
              <a:gd name="connsiteY7" fmla="*/ 856060 h 1819275"/>
              <a:gd name="connsiteX8" fmla="*/ 1044723 w 1768701"/>
              <a:gd name="connsiteY8" fmla="*/ 819259 h 1819275"/>
              <a:gd name="connsiteX9" fmla="*/ 1032247 w 1768701"/>
              <a:gd name="connsiteY9" fmla="*/ 797066 h 1819275"/>
              <a:gd name="connsiteX10" fmla="*/ 1011074 w 1768701"/>
              <a:gd name="connsiteY10" fmla="*/ 765115 h 1819275"/>
              <a:gd name="connsiteX11" fmla="*/ 976419 w 1768701"/>
              <a:gd name="connsiteY11" fmla="*/ 709350 h 1819275"/>
              <a:gd name="connsiteX12" fmla="*/ 949071 w 1768701"/>
              <a:gd name="connsiteY12" fmla="*/ 671548 h 1819275"/>
              <a:gd name="connsiteX13" fmla="*/ 932625 w 1768701"/>
              <a:gd name="connsiteY13" fmla="*/ 646730 h 1819275"/>
              <a:gd name="connsiteX14" fmla="*/ 911183 w 1768701"/>
              <a:gd name="connsiteY14" fmla="*/ 619176 h 1819275"/>
              <a:gd name="connsiteX15" fmla="*/ 873826 w 1768701"/>
              <a:gd name="connsiteY15" fmla="*/ 567538 h 1819275"/>
              <a:gd name="connsiteX16" fmla="*/ 842456 w 1768701"/>
              <a:gd name="connsiteY16" fmla="*/ 530859 h 1819275"/>
              <a:gd name="connsiteX17" fmla="*/ 827460 w 1768701"/>
              <a:gd name="connsiteY17" fmla="*/ 511589 h 1819275"/>
              <a:gd name="connsiteX18" fmla="*/ 804660 w 1768701"/>
              <a:gd name="connsiteY18" fmla="*/ 486667 h 1819275"/>
              <a:gd name="connsiteX19" fmla="*/ 759485 w 1768701"/>
              <a:gd name="connsiteY19" fmla="*/ 433846 h 1819275"/>
              <a:gd name="connsiteX20" fmla="*/ 732019 w 1768701"/>
              <a:gd name="connsiteY20" fmla="*/ 407265 h 1819275"/>
              <a:gd name="connsiteX21" fmla="*/ 717863 w 1768701"/>
              <a:gd name="connsiteY21" fmla="*/ 391791 h 1819275"/>
              <a:gd name="connsiteX22" fmla="*/ 677622 w 1768701"/>
              <a:gd name="connsiteY22" fmla="*/ 354620 h 1819275"/>
              <a:gd name="connsiteX23" fmla="*/ 633065 w 1768701"/>
              <a:gd name="connsiteY23" fmla="*/ 311498 h 1819275"/>
              <a:gd name="connsiteX24" fmla="*/ 619739 w 1768701"/>
              <a:gd name="connsiteY24" fmla="*/ 301151 h 1819275"/>
              <a:gd name="connsiteX25" fmla="*/ 604942 w 1768701"/>
              <a:gd name="connsiteY25" fmla="*/ 287483 h 1819275"/>
              <a:gd name="connsiteX26" fmla="*/ 29334 w 1768701"/>
              <a:gd name="connsiteY26" fmla="*/ 3471 h 1819275"/>
              <a:gd name="connsiteX27" fmla="*/ 7152 w 1768701"/>
              <a:gd name="connsiteY27" fmla="*/ 1798 h 181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68701" h="1819275">
                <a:moveTo>
                  <a:pt x="0" y="0"/>
                </a:moveTo>
                <a:lnTo>
                  <a:pt x="1239837" y="0"/>
                </a:lnTo>
                <a:cubicBezTo>
                  <a:pt x="1820863" y="101600"/>
                  <a:pt x="1981200" y="942975"/>
                  <a:pt x="1425575" y="1819275"/>
                </a:cubicBezTo>
                <a:cubicBezTo>
                  <a:pt x="1410692" y="1702594"/>
                  <a:pt x="1345133" y="1441252"/>
                  <a:pt x="1217011" y="1151279"/>
                </a:cubicBezTo>
                <a:lnTo>
                  <a:pt x="1120532" y="960656"/>
                </a:lnTo>
                <a:lnTo>
                  <a:pt x="1125218" y="962449"/>
                </a:lnTo>
                <a:lnTo>
                  <a:pt x="1087312" y="895020"/>
                </a:lnTo>
                <a:lnTo>
                  <a:pt x="1067594" y="856060"/>
                </a:lnTo>
                <a:lnTo>
                  <a:pt x="1044723" y="819259"/>
                </a:lnTo>
                <a:lnTo>
                  <a:pt x="1032247" y="797066"/>
                </a:lnTo>
                <a:lnTo>
                  <a:pt x="1011074" y="765115"/>
                </a:lnTo>
                <a:lnTo>
                  <a:pt x="976419" y="709350"/>
                </a:lnTo>
                <a:lnTo>
                  <a:pt x="949071" y="671548"/>
                </a:lnTo>
                <a:lnTo>
                  <a:pt x="932625" y="646730"/>
                </a:lnTo>
                <a:lnTo>
                  <a:pt x="911183" y="619176"/>
                </a:lnTo>
                <a:lnTo>
                  <a:pt x="873826" y="567538"/>
                </a:lnTo>
                <a:lnTo>
                  <a:pt x="842456" y="530859"/>
                </a:lnTo>
                <a:lnTo>
                  <a:pt x="827460" y="511589"/>
                </a:lnTo>
                <a:lnTo>
                  <a:pt x="804660" y="486667"/>
                </a:lnTo>
                <a:lnTo>
                  <a:pt x="759485" y="433846"/>
                </a:lnTo>
                <a:lnTo>
                  <a:pt x="732019" y="407265"/>
                </a:lnTo>
                <a:lnTo>
                  <a:pt x="717863" y="391791"/>
                </a:lnTo>
                <a:lnTo>
                  <a:pt x="677622" y="354620"/>
                </a:lnTo>
                <a:lnTo>
                  <a:pt x="633065" y="311498"/>
                </a:lnTo>
                <a:lnTo>
                  <a:pt x="619739" y="301151"/>
                </a:lnTo>
                <a:lnTo>
                  <a:pt x="604942" y="287483"/>
                </a:lnTo>
                <a:cubicBezTo>
                  <a:pt x="414589" y="126628"/>
                  <a:pt x="215013" y="30932"/>
                  <a:pt x="29334" y="3471"/>
                </a:cubicBezTo>
                <a:lnTo>
                  <a:pt x="7152" y="1798"/>
                </a:lnTo>
                <a:close/>
              </a:path>
            </a:pathLst>
          </a:custGeom>
          <a:solidFill>
            <a:srgbClr val="00B0F0"/>
          </a:solidFill>
          <a:ln w="3175">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chemeClr val="tx1"/>
              </a:solidFill>
              <a:latin typeface="Impact" panose="020B0806030902050204" pitchFamily="34" charset="0"/>
              <a:ea typeface="微软雅黑" panose="020B0503020204020204" pitchFamily="34" charset="-122"/>
              <a:cs typeface="+mn-ea"/>
              <a:sym typeface="Impact" panose="020B0806030902050204" pitchFamily="34" charset="0"/>
            </a:endParaRPr>
          </a:p>
        </p:txBody>
      </p:sp>
      <p:sp>
        <p:nvSpPr>
          <p:cNvPr id="141" name="任意多边形 140"/>
          <p:cNvSpPr/>
          <p:nvPr/>
        </p:nvSpPr>
        <p:spPr>
          <a:xfrm rot="14427225">
            <a:off x="4311246" y="2616114"/>
            <a:ext cx="1824002" cy="1878541"/>
          </a:xfrm>
          <a:custGeom>
            <a:avLst/>
            <a:gdLst>
              <a:gd name="connsiteX0" fmla="*/ 0 w 1768701"/>
              <a:gd name="connsiteY0" fmla="*/ 0 h 1819275"/>
              <a:gd name="connsiteX1" fmla="*/ 1239837 w 1768701"/>
              <a:gd name="connsiteY1" fmla="*/ 0 h 1819275"/>
              <a:gd name="connsiteX2" fmla="*/ 1425575 w 1768701"/>
              <a:gd name="connsiteY2" fmla="*/ 1819275 h 1819275"/>
              <a:gd name="connsiteX3" fmla="*/ 1217011 w 1768701"/>
              <a:gd name="connsiteY3" fmla="*/ 1151279 h 1819275"/>
              <a:gd name="connsiteX4" fmla="*/ 1120532 w 1768701"/>
              <a:gd name="connsiteY4" fmla="*/ 960656 h 1819275"/>
              <a:gd name="connsiteX5" fmla="*/ 1125218 w 1768701"/>
              <a:gd name="connsiteY5" fmla="*/ 962449 h 1819275"/>
              <a:gd name="connsiteX6" fmla="*/ 1087312 w 1768701"/>
              <a:gd name="connsiteY6" fmla="*/ 895020 h 1819275"/>
              <a:gd name="connsiteX7" fmla="*/ 1067594 w 1768701"/>
              <a:gd name="connsiteY7" fmla="*/ 856060 h 1819275"/>
              <a:gd name="connsiteX8" fmla="*/ 1044723 w 1768701"/>
              <a:gd name="connsiteY8" fmla="*/ 819259 h 1819275"/>
              <a:gd name="connsiteX9" fmla="*/ 1032247 w 1768701"/>
              <a:gd name="connsiteY9" fmla="*/ 797066 h 1819275"/>
              <a:gd name="connsiteX10" fmla="*/ 1011074 w 1768701"/>
              <a:gd name="connsiteY10" fmla="*/ 765115 h 1819275"/>
              <a:gd name="connsiteX11" fmla="*/ 976419 w 1768701"/>
              <a:gd name="connsiteY11" fmla="*/ 709350 h 1819275"/>
              <a:gd name="connsiteX12" fmla="*/ 949071 w 1768701"/>
              <a:gd name="connsiteY12" fmla="*/ 671548 h 1819275"/>
              <a:gd name="connsiteX13" fmla="*/ 932625 w 1768701"/>
              <a:gd name="connsiteY13" fmla="*/ 646730 h 1819275"/>
              <a:gd name="connsiteX14" fmla="*/ 911183 w 1768701"/>
              <a:gd name="connsiteY14" fmla="*/ 619176 h 1819275"/>
              <a:gd name="connsiteX15" fmla="*/ 873826 w 1768701"/>
              <a:gd name="connsiteY15" fmla="*/ 567538 h 1819275"/>
              <a:gd name="connsiteX16" fmla="*/ 842456 w 1768701"/>
              <a:gd name="connsiteY16" fmla="*/ 530859 h 1819275"/>
              <a:gd name="connsiteX17" fmla="*/ 827460 w 1768701"/>
              <a:gd name="connsiteY17" fmla="*/ 511589 h 1819275"/>
              <a:gd name="connsiteX18" fmla="*/ 804660 w 1768701"/>
              <a:gd name="connsiteY18" fmla="*/ 486667 h 1819275"/>
              <a:gd name="connsiteX19" fmla="*/ 759485 w 1768701"/>
              <a:gd name="connsiteY19" fmla="*/ 433846 h 1819275"/>
              <a:gd name="connsiteX20" fmla="*/ 732019 w 1768701"/>
              <a:gd name="connsiteY20" fmla="*/ 407265 h 1819275"/>
              <a:gd name="connsiteX21" fmla="*/ 717863 w 1768701"/>
              <a:gd name="connsiteY21" fmla="*/ 391791 h 1819275"/>
              <a:gd name="connsiteX22" fmla="*/ 677622 w 1768701"/>
              <a:gd name="connsiteY22" fmla="*/ 354620 h 1819275"/>
              <a:gd name="connsiteX23" fmla="*/ 633065 w 1768701"/>
              <a:gd name="connsiteY23" fmla="*/ 311498 h 1819275"/>
              <a:gd name="connsiteX24" fmla="*/ 619739 w 1768701"/>
              <a:gd name="connsiteY24" fmla="*/ 301151 h 1819275"/>
              <a:gd name="connsiteX25" fmla="*/ 604942 w 1768701"/>
              <a:gd name="connsiteY25" fmla="*/ 287483 h 1819275"/>
              <a:gd name="connsiteX26" fmla="*/ 29334 w 1768701"/>
              <a:gd name="connsiteY26" fmla="*/ 3471 h 1819275"/>
              <a:gd name="connsiteX27" fmla="*/ 7152 w 1768701"/>
              <a:gd name="connsiteY27" fmla="*/ 1798 h 181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68701" h="1819275">
                <a:moveTo>
                  <a:pt x="0" y="0"/>
                </a:moveTo>
                <a:lnTo>
                  <a:pt x="1239837" y="0"/>
                </a:lnTo>
                <a:cubicBezTo>
                  <a:pt x="1820863" y="101600"/>
                  <a:pt x="1981200" y="942975"/>
                  <a:pt x="1425575" y="1819275"/>
                </a:cubicBezTo>
                <a:cubicBezTo>
                  <a:pt x="1410692" y="1702594"/>
                  <a:pt x="1345133" y="1441252"/>
                  <a:pt x="1217011" y="1151279"/>
                </a:cubicBezTo>
                <a:lnTo>
                  <a:pt x="1120532" y="960656"/>
                </a:lnTo>
                <a:lnTo>
                  <a:pt x="1125218" y="962449"/>
                </a:lnTo>
                <a:lnTo>
                  <a:pt x="1087312" y="895020"/>
                </a:lnTo>
                <a:lnTo>
                  <a:pt x="1067594" y="856060"/>
                </a:lnTo>
                <a:lnTo>
                  <a:pt x="1044723" y="819259"/>
                </a:lnTo>
                <a:lnTo>
                  <a:pt x="1032247" y="797066"/>
                </a:lnTo>
                <a:lnTo>
                  <a:pt x="1011074" y="765115"/>
                </a:lnTo>
                <a:lnTo>
                  <a:pt x="976419" y="709350"/>
                </a:lnTo>
                <a:lnTo>
                  <a:pt x="949071" y="671548"/>
                </a:lnTo>
                <a:lnTo>
                  <a:pt x="932625" y="646730"/>
                </a:lnTo>
                <a:lnTo>
                  <a:pt x="911183" y="619176"/>
                </a:lnTo>
                <a:lnTo>
                  <a:pt x="873826" y="567538"/>
                </a:lnTo>
                <a:lnTo>
                  <a:pt x="842456" y="530859"/>
                </a:lnTo>
                <a:lnTo>
                  <a:pt x="827460" y="511589"/>
                </a:lnTo>
                <a:lnTo>
                  <a:pt x="804660" y="486667"/>
                </a:lnTo>
                <a:lnTo>
                  <a:pt x="759485" y="433846"/>
                </a:lnTo>
                <a:lnTo>
                  <a:pt x="732019" y="407265"/>
                </a:lnTo>
                <a:lnTo>
                  <a:pt x="717863" y="391791"/>
                </a:lnTo>
                <a:lnTo>
                  <a:pt x="677622" y="354620"/>
                </a:lnTo>
                <a:lnTo>
                  <a:pt x="633065" y="311498"/>
                </a:lnTo>
                <a:lnTo>
                  <a:pt x="619739" y="301151"/>
                </a:lnTo>
                <a:lnTo>
                  <a:pt x="604942" y="287483"/>
                </a:lnTo>
                <a:cubicBezTo>
                  <a:pt x="414589" y="126628"/>
                  <a:pt x="215013" y="30932"/>
                  <a:pt x="29334" y="3471"/>
                </a:cubicBezTo>
                <a:lnTo>
                  <a:pt x="7152" y="1798"/>
                </a:lnTo>
                <a:close/>
              </a:path>
            </a:pathLst>
          </a:custGeom>
          <a:gradFill>
            <a:gsLst>
              <a:gs pos="0">
                <a:srgbClr val="0070C0"/>
              </a:gs>
              <a:gs pos="100000">
                <a:srgbClr val="00B0F0"/>
              </a:gs>
            </a:gsLst>
            <a:lin ang="2700000" scaled="1"/>
          </a:gradFill>
          <a:ln w="3175">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chemeClr val="tx1"/>
              </a:solidFill>
              <a:latin typeface="Impact" panose="020B0806030902050204" pitchFamily="34" charset="0"/>
              <a:ea typeface="微软雅黑" panose="020B0503020204020204" pitchFamily="34" charset="-122"/>
              <a:cs typeface="+mn-ea"/>
              <a:sym typeface="Impact" panose="020B0806030902050204" pitchFamily="34" charset="0"/>
            </a:endParaRPr>
          </a:p>
        </p:txBody>
      </p:sp>
      <p:sp>
        <p:nvSpPr>
          <p:cNvPr id="142" name="任意多边形 141"/>
          <p:cNvSpPr/>
          <p:nvPr/>
        </p:nvSpPr>
        <p:spPr>
          <a:xfrm rot="10859581">
            <a:off x="4778860" y="3324099"/>
            <a:ext cx="1826022" cy="1878542"/>
          </a:xfrm>
          <a:custGeom>
            <a:avLst/>
            <a:gdLst>
              <a:gd name="connsiteX0" fmla="*/ 0 w 1768701"/>
              <a:gd name="connsiteY0" fmla="*/ 0 h 1819275"/>
              <a:gd name="connsiteX1" fmla="*/ 1239837 w 1768701"/>
              <a:gd name="connsiteY1" fmla="*/ 0 h 1819275"/>
              <a:gd name="connsiteX2" fmla="*/ 1425575 w 1768701"/>
              <a:gd name="connsiteY2" fmla="*/ 1819275 h 1819275"/>
              <a:gd name="connsiteX3" fmla="*/ 1217011 w 1768701"/>
              <a:gd name="connsiteY3" fmla="*/ 1151279 h 1819275"/>
              <a:gd name="connsiteX4" fmla="*/ 1120532 w 1768701"/>
              <a:gd name="connsiteY4" fmla="*/ 960656 h 1819275"/>
              <a:gd name="connsiteX5" fmla="*/ 1125218 w 1768701"/>
              <a:gd name="connsiteY5" fmla="*/ 962449 h 1819275"/>
              <a:gd name="connsiteX6" fmla="*/ 1087312 w 1768701"/>
              <a:gd name="connsiteY6" fmla="*/ 895020 h 1819275"/>
              <a:gd name="connsiteX7" fmla="*/ 1067594 w 1768701"/>
              <a:gd name="connsiteY7" fmla="*/ 856060 h 1819275"/>
              <a:gd name="connsiteX8" fmla="*/ 1044723 w 1768701"/>
              <a:gd name="connsiteY8" fmla="*/ 819259 h 1819275"/>
              <a:gd name="connsiteX9" fmla="*/ 1032247 w 1768701"/>
              <a:gd name="connsiteY9" fmla="*/ 797066 h 1819275"/>
              <a:gd name="connsiteX10" fmla="*/ 1011074 w 1768701"/>
              <a:gd name="connsiteY10" fmla="*/ 765115 h 1819275"/>
              <a:gd name="connsiteX11" fmla="*/ 976419 w 1768701"/>
              <a:gd name="connsiteY11" fmla="*/ 709350 h 1819275"/>
              <a:gd name="connsiteX12" fmla="*/ 949071 w 1768701"/>
              <a:gd name="connsiteY12" fmla="*/ 671548 h 1819275"/>
              <a:gd name="connsiteX13" fmla="*/ 932625 w 1768701"/>
              <a:gd name="connsiteY13" fmla="*/ 646730 h 1819275"/>
              <a:gd name="connsiteX14" fmla="*/ 911183 w 1768701"/>
              <a:gd name="connsiteY14" fmla="*/ 619176 h 1819275"/>
              <a:gd name="connsiteX15" fmla="*/ 873826 w 1768701"/>
              <a:gd name="connsiteY15" fmla="*/ 567538 h 1819275"/>
              <a:gd name="connsiteX16" fmla="*/ 842456 w 1768701"/>
              <a:gd name="connsiteY16" fmla="*/ 530859 h 1819275"/>
              <a:gd name="connsiteX17" fmla="*/ 827460 w 1768701"/>
              <a:gd name="connsiteY17" fmla="*/ 511589 h 1819275"/>
              <a:gd name="connsiteX18" fmla="*/ 804660 w 1768701"/>
              <a:gd name="connsiteY18" fmla="*/ 486667 h 1819275"/>
              <a:gd name="connsiteX19" fmla="*/ 759485 w 1768701"/>
              <a:gd name="connsiteY19" fmla="*/ 433846 h 1819275"/>
              <a:gd name="connsiteX20" fmla="*/ 732019 w 1768701"/>
              <a:gd name="connsiteY20" fmla="*/ 407265 h 1819275"/>
              <a:gd name="connsiteX21" fmla="*/ 717863 w 1768701"/>
              <a:gd name="connsiteY21" fmla="*/ 391791 h 1819275"/>
              <a:gd name="connsiteX22" fmla="*/ 677622 w 1768701"/>
              <a:gd name="connsiteY22" fmla="*/ 354620 h 1819275"/>
              <a:gd name="connsiteX23" fmla="*/ 633065 w 1768701"/>
              <a:gd name="connsiteY23" fmla="*/ 311498 h 1819275"/>
              <a:gd name="connsiteX24" fmla="*/ 619739 w 1768701"/>
              <a:gd name="connsiteY24" fmla="*/ 301151 h 1819275"/>
              <a:gd name="connsiteX25" fmla="*/ 604942 w 1768701"/>
              <a:gd name="connsiteY25" fmla="*/ 287483 h 1819275"/>
              <a:gd name="connsiteX26" fmla="*/ 29334 w 1768701"/>
              <a:gd name="connsiteY26" fmla="*/ 3471 h 1819275"/>
              <a:gd name="connsiteX27" fmla="*/ 7152 w 1768701"/>
              <a:gd name="connsiteY27" fmla="*/ 1798 h 181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68701" h="1819275">
                <a:moveTo>
                  <a:pt x="0" y="0"/>
                </a:moveTo>
                <a:lnTo>
                  <a:pt x="1239837" y="0"/>
                </a:lnTo>
                <a:cubicBezTo>
                  <a:pt x="1820863" y="101600"/>
                  <a:pt x="1981200" y="942975"/>
                  <a:pt x="1425575" y="1819275"/>
                </a:cubicBezTo>
                <a:cubicBezTo>
                  <a:pt x="1410692" y="1702594"/>
                  <a:pt x="1345133" y="1441252"/>
                  <a:pt x="1217011" y="1151279"/>
                </a:cubicBezTo>
                <a:lnTo>
                  <a:pt x="1120532" y="960656"/>
                </a:lnTo>
                <a:lnTo>
                  <a:pt x="1125218" y="962449"/>
                </a:lnTo>
                <a:lnTo>
                  <a:pt x="1087312" y="895020"/>
                </a:lnTo>
                <a:lnTo>
                  <a:pt x="1067594" y="856060"/>
                </a:lnTo>
                <a:lnTo>
                  <a:pt x="1044723" y="819259"/>
                </a:lnTo>
                <a:lnTo>
                  <a:pt x="1032247" y="797066"/>
                </a:lnTo>
                <a:lnTo>
                  <a:pt x="1011074" y="765115"/>
                </a:lnTo>
                <a:lnTo>
                  <a:pt x="976419" y="709350"/>
                </a:lnTo>
                <a:lnTo>
                  <a:pt x="949071" y="671548"/>
                </a:lnTo>
                <a:lnTo>
                  <a:pt x="932625" y="646730"/>
                </a:lnTo>
                <a:lnTo>
                  <a:pt x="911183" y="619176"/>
                </a:lnTo>
                <a:lnTo>
                  <a:pt x="873826" y="567538"/>
                </a:lnTo>
                <a:lnTo>
                  <a:pt x="842456" y="530859"/>
                </a:lnTo>
                <a:lnTo>
                  <a:pt x="827460" y="511589"/>
                </a:lnTo>
                <a:lnTo>
                  <a:pt x="804660" y="486667"/>
                </a:lnTo>
                <a:lnTo>
                  <a:pt x="759485" y="433846"/>
                </a:lnTo>
                <a:lnTo>
                  <a:pt x="732019" y="407265"/>
                </a:lnTo>
                <a:lnTo>
                  <a:pt x="717863" y="391791"/>
                </a:lnTo>
                <a:lnTo>
                  <a:pt x="677622" y="354620"/>
                </a:lnTo>
                <a:lnTo>
                  <a:pt x="633065" y="311498"/>
                </a:lnTo>
                <a:lnTo>
                  <a:pt x="619739" y="301151"/>
                </a:lnTo>
                <a:lnTo>
                  <a:pt x="604942" y="287483"/>
                </a:lnTo>
                <a:cubicBezTo>
                  <a:pt x="414589" y="126628"/>
                  <a:pt x="215013" y="30932"/>
                  <a:pt x="29334" y="3471"/>
                </a:cubicBezTo>
                <a:lnTo>
                  <a:pt x="7152" y="1798"/>
                </a:lnTo>
                <a:close/>
              </a:path>
            </a:pathLst>
          </a:custGeom>
          <a:solidFill>
            <a:srgbClr val="00B0F0"/>
          </a:solidFill>
          <a:ln w="3175">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chemeClr val="tx1"/>
              </a:solidFill>
              <a:latin typeface="Impact" panose="020B0806030902050204" pitchFamily="34" charset="0"/>
              <a:ea typeface="微软雅黑" panose="020B0503020204020204" pitchFamily="34" charset="-122"/>
              <a:cs typeface="+mn-ea"/>
              <a:sym typeface="Impact" panose="020B0806030902050204" pitchFamily="34" charset="0"/>
            </a:endParaRPr>
          </a:p>
        </p:txBody>
      </p:sp>
      <p:sp>
        <p:nvSpPr>
          <p:cNvPr id="144" name="任意多边形 143"/>
          <p:cNvSpPr/>
          <p:nvPr/>
        </p:nvSpPr>
        <p:spPr>
          <a:xfrm rot="3662163">
            <a:off x="5991834" y="2519156"/>
            <a:ext cx="1824002" cy="1878541"/>
          </a:xfrm>
          <a:custGeom>
            <a:avLst/>
            <a:gdLst>
              <a:gd name="connsiteX0" fmla="*/ 0 w 1768701"/>
              <a:gd name="connsiteY0" fmla="*/ 0 h 1819275"/>
              <a:gd name="connsiteX1" fmla="*/ 1239837 w 1768701"/>
              <a:gd name="connsiteY1" fmla="*/ 0 h 1819275"/>
              <a:gd name="connsiteX2" fmla="*/ 1425575 w 1768701"/>
              <a:gd name="connsiteY2" fmla="*/ 1819275 h 1819275"/>
              <a:gd name="connsiteX3" fmla="*/ 1217011 w 1768701"/>
              <a:gd name="connsiteY3" fmla="*/ 1151279 h 1819275"/>
              <a:gd name="connsiteX4" fmla="*/ 1120532 w 1768701"/>
              <a:gd name="connsiteY4" fmla="*/ 960656 h 1819275"/>
              <a:gd name="connsiteX5" fmla="*/ 1125218 w 1768701"/>
              <a:gd name="connsiteY5" fmla="*/ 962449 h 1819275"/>
              <a:gd name="connsiteX6" fmla="*/ 1087312 w 1768701"/>
              <a:gd name="connsiteY6" fmla="*/ 895020 h 1819275"/>
              <a:gd name="connsiteX7" fmla="*/ 1067594 w 1768701"/>
              <a:gd name="connsiteY7" fmla="*/ 856060 h 1819275"/>
              <a:gd name="connsiteX8" fmla="*/ 1044723 w 1768701"/>
              <a:gd name="connsiteY8" fmla="*/ 819259 h 1819275"/>
              <a:gd name="connsiteX9" fmla="*/ 1032247 w 1768701"/>
              <a:gd name="connsiteY9" fmla="*/ 797066 h 1819275"/>
              <a:gd name="connsiteX10" fmla="*/ 1011074 w 1768701"/>
              <a:gd name="connsiteY10" fmla="*/ 765115 h 1819275"/>
              <a:gd name="connsiteX11" fmla="*/ 976419 w 1768701"/>
              <a:gd name="connsiteY11" fmla="*/ 709350 h 1819275"/>
              <a:gd name="connsiteX12" fmla="*/ 949071 w 1768701"/>
              <a:gd name="connsiteY12" fmla="*/ 671548 h 1819275"/>
              <a:gd name="connsiteX13" fmla="*/ 932625 w 1768701"/>
              <a:gd name="connsiteY13" fmla="*/ 646730 h 1819275"/>
              <a:gd name="connsiteX14" fmla="*/ 911183 w 1768701"/>
              <a:gd name="connsiteY14" fmla="*/ 619176 h 1819275"/>
              <a:gd name="connsiteX15" fmla="*/ 873826 w 1768701"/>
              <a:gd name="connsiteY15" fmla="*/ 567538 h 1819275"/>
              <a:gd name="connsiteX16" fmla="*/ 842456 w 1768701"/>
              <a:gd name="connsiteY16" fmla="*/ 530859 h 1819275"/>
              <a:gd name="connsiteX17" fmla="*/ 827460 w 1768701"/>
              <a:gd name="connsiteY17" fmla="*/ 511589 h 1819275"/>
              <a:gd name="connsiteX18" fmla="*/ 804660 w 1768701"/>
              <a:gd name="connsiteY18" fmla="*/ 486667 h 1819275"/>
              <a:gd name="connsiteX19" fmla="*/ 759485 w 1768701"/>
              <a:gd name="connsiteY19" fmla="*/ 433846 h 1819275"/>
              <a:gd name="connsiteX20" fmla="*/ 732019 w 1768701"/>
              <a:gd name="connsiteY20" fmla="*/ 407265 h 1819275"/>
              <a:gd name="connsiteX21" fmla="*/ 717863 w 1768701"/>
              <a:gd name="connsiteY21" fmla="*/ 391791 h 1819275"/>
              <a:gd name="connsiteX22" fmla="*/ 677622 w 1768701"/>
              <a:gd name="connsiteY22" fmla="*/ 354620 h 1819275"/>
              <a:gd name="connsiteX23" fmla="*/ 633065 w 1768701"/>
              <a:gd name="connsiteY23" fmla="*/ 311498 h 1819275"/>
              <a:gd name="connsiteX24" fmla="*/ 619739 w 1768701"/>
              <a:gd name="connsiteY24" fmla="*/ 301151 h 1819275"/>
              <a:gd name="connsiteX25" fmla="*/ 604942 w 1768701"/>
              <a:gd name="connsiteY25" fmla="*/ 287483 h 1819275"/>
              <a:gd name="connsiteX26" fmla="*/ 29334 w 1768701"/>
              <a:gd name="connsiteY26" fmla="*/ 3471 h 1819275"/>
              <a:gd name="connsiteX27" fmla="*/ 7152 w 1768701"/>
              <a:gd name="connsiteY27" fmla="*/ 1798 h 181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68701" h="1819275">
                <a:moveTo>
                  <a:pt x="0" y="0"/>
                </a:moveTo>
                <a:lnTo>
                  <a:pt x="1239837" y="0"/>
                </a:lnTo>
                <a:cubicBezTo>
                  <a:pt x="1820863" y="101600"/>
                  <a:pt x="1981200" y="942975"/>
                  <a:pt x="1425575" y="1819275"/>
                </a:cubicBezTo>
                <a:cubicBezTo>
                  <a:pt x="1410692" y="1702594"/>
                  <a:pt x="1345133" y="1441252"/>
                  <a:pt x="1217011" y="1151279"/>
                </a:cubicBezTo>
                <a:lnTo>
                  <a:pt x="1120532" y="960656"/>
                </a:lnTo>
                <a:lnTo>
                  <a:pt x="1125218" y="962449"/>
                </a:lnTo>
                <a:lnTo>
                  <a:pt x="1087312" y="895020"/>
                </a:lnTo>
                <a:lnTo>
                  <a:pt x="1067594" y="856060"/>
                </a:lnTo>
                <a:lnTo>
                  <a:pt x="1044723" y="819259"/>
                </a:lnTo>
                <a:lnTo>
                  <a:pt x="1032247" y="797066"/>
                </a:lnTo>
                <a:lnTo>
                  <a:pt x="1011074" y="765115"/>
                </a:lnTo>
                <a:lnTo>
                  <a:pt x="976419" y="709350"/>
                </a:lnTo>
                <a:lnTo>
                  <a:pt x="949071" y="671548"/>
                </a:lnTo>
                <a:lnTo>
                  <a:pt x="932625" y="646730"/>
                </a:lnTo>
                <a:lnTo>
                  <a:pt x="911183" y="619176"/>
                </a:lnTo>
                <a:lnTo>
                  <a:pt x="873826" y="567538"/>
                </a:lnTo>
                <a:lnTo>
                  <a:pt x="842456" y="530859"/>
                </a:lnTo>
                <a:lnTo>
                  <a:pt x="827460" y="511589"/>
                </a:lnTo>
                <a:lnTo>
                  <a:pt x="804660" y="486667"/>
                </a:lnTo>
                <a:lnTo>
                  <a:pt x="759485" y="433846"/>
                </a:lnTo>
                <a:lnTo>
                  <a:pt x="732019" y="407265"/>
                </a:lnTo>
                <a:lnTo>
                  <a:pt x="717863" y="391791"/>
                </a:lnTo>
                <a:lnTo>
                  <a:pt x="677622" y="354620"/>
                </a:lnTo>
                <a:lnTo>
                  <a:pt x="633065" y="311498"/>
                </a:lnTo>
                <a:lnTo>
                  <a:pt x="619739" y="301151"/>
                </a:lnTo>
                <a:lnTo>
                  <a:pt x="604942" y="287483"/>
                </a:lnTo>
                <a:cubicBezTo>
                  <a:pt x="414589" y="126628"/>
                  <a:pt x="215013" y="30932"/>
                  <a:pt x="29334" y="3471"/>
                </a:cubicBezTo>
                <a:lnTo>
                  <a:pt x="7152" y="1798"/>
                </a:lnTo>
                <a:close/>
              </a:path>
            </a:pathLst>
          </a:custGeom>
          <a:gradFill>
            <a:gsLst>
              <a:gs pos="0">
                <a:srgbClr val="0070C0"/>
              </a:gs>
              <a:gs pos="100000">
                <a:srgbClr val="00B0F0"/>
              </a:gs>
            </a:gsLst>
            <a:lin ang="2700000" scaled="1"/>
          </a:gradFill>
          <a:ln w="3175">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chemeClr val="tx1"/>
              </a:solidFill>
              <a:latin typeface="Impact" panose="020B0806030902050204" pitchFamily="34" charset="0"/>
              <a:ea typeface="微软雅黑" panose="020B0503020204020204" pitchFamily="34" charset="-122"/>
              <a:cs typeface="+mn-ea"/>
              <a:sym typeface="Impact" panose="020B0806030902050204" pitchFamily="34" charset="0"/>
            </a:endParaRPr>
          </a:p>
        </p:txBody>
      </p:sp>
      <p:sp>
        <p:nvSpPr>
          <p:cNvPr id="145" name="任意多边形 144"/>
          <p:cNvSpPr/>
          <p:nvPr/>
        </p:nvSpPr>
        <p:spPr>
          <a:xfrm flipH="1">
            <a:off x="3356382" y="1704109"/>
            <a:ext cx="1464455" cy="525183"/>
          </a:xfrm>
          <a:custGeom>
            <a:avLst/>
            <a:gdLst>
              <a:gd name="connsiteX0" fmla="*/ 0 w 2286000"/>
              <a:gd name="connsiteY0" fmla="*/ 472440 h 472440"/>
              <a:gd name="connsiteX1" fmla="*/ 472440 w 2286000"/>
              <a:gd name="connsiteY1" fmla="*/ 0 h 472440"/>
              <a:gd name="connsiteX2" fmla="*/ 2286000 w 2286000"/>
              <a:gd name="connsiteY2" fmla="*/ 0 h 472440"/>
            </a:gdLst>
            <a:ahLst/>
            <a:cxnLst>
              <a:cxn ang="0">
                <a:pos x="connsiteX0" y="connsiteY0"/>
              </a:cxn>
              <a:cxn ang="0">
                <a:pos x="connsiteX1" y="connsiteY1"/>
              </a:cxn>
              <a:cxn ang="0">
                <a:pos x="connsiteX2" y="connsiteY2"/>
              </a:cxn>
            </a:cxnLst>
            <a:rect l="l" t="t" r="r" b="b"/>
            <a:pathLst>
              <a:path w="2286000" h="472440">
                <a:moveTo>
                  <a:pt x="0" y="472440"/>
                </a:moveTo>
                <a:lnTo>
                  <a:pt x="472440" y="0"/>
                </a:lnTo>
                <a:lnTo>
                  <a:pt x="2286000" y="0"/>
                </a:lnTo>
              </a:path>
            </a:pathLst>
          </a:custGeom>
          <a:noFill/>
          <a:ln w="6350" cap="flat" cmpd="sng" algn="ctr">
            <a:solidFill>
              <a:schemeClr val="bg1">
                <a:lumMod val="50000"/>
              </a:schemeClr>
            </a:solidFill>
            <a:prstDash val="sysDot"/>
            <a:miter lim="800000"/>
            <a:headEnd type="oval" w="sm" len="sm"/>
            <a:tailEnd type="oval" w="sm" len="sm"/>
          </a:ln>
          <a:effectLst/>
        </p:spPr>
        <p:txBody>
          <a:bodyPr anchor="ctr"/>
          <a:lstStyle/>
          <a:p>
            <a:pPr algn="ctr">
              <a:defRPr/>
            </a:pPr>
            <a:endParaRPr lang="zh-CN" altLang="en-US" sz="1600" kern="0">
              <a:latin typeface="Impact" panose="020B0806030902050204" pitchFamily="34" charset="0"/>
              <a:ea typeface="微软雅黑" panose="020B0503020204020204" pitchFamily="34" charset="-122"/>
              <a:cs typeface="+mn-ea"/>
              <a:sym typeface="Impact" panose="020B0806030902050204" pitchFamily="34" charset="0"/>
            </a:endParaRPr>
          </a:p>
        </p:txBody>
      </p:sp>
      <p:sp>
        <p:nvSpPr>
          <p:cNvPr id="146" name="任意多边形 145"/>
          <p:cNvSpPr/>
          <p:nvPr/>
        </p:nvSpPr>
        <p:spPr>
          <a:xfrm>
            <a:off x="7296021" y="1704109"/>
            <a:ext cx="1464456" cy="525183"/>
          </a:xfrm>
          <a:custGeom>
            <a:avLst/>
            <a:gdLst>
              <a:gd name="connsiteX0" fmla="*/ 0 w 2286000"/>
              <a:gd name="connsiteY0" fmla="*/ 472440 h 472440"/>
              <a:gd name="connsiteX1" fmla="*/ 472440 w 2286000"/>
              <a:gd name="connsiteY1" fmla="*/ 0 h 472440"/>
              <a:gd name="connsiteX2" fmla="*/ 2286000 w 2286000"/>
              <a:gd name="connsiteY2" fmla="*/ 0 h 472440"/>
            </a:gdLst>
            <a:ahLst/>
            <a:cxnLst>
              <a:cxn ang="0">
                <a:pos x="connsiteX0" y="connsiteY0"/>
              </a:cxn>
              <a:cxn ang="0">
                <a:pos x="connsiteX1" y="connsiteY1"/>
              </a:cxn>
              <a:cxn ang="0">
                <a:pos x="connsiteX2" y="connsiteY2"/>
              </a:cxn>
            </a:cxnLst>
            <a:rect l="l" t="t" r="r" b="b"/>
            <a:pathLst>
              <a:path w="2286000" h="472440">
                <a:moveTo>
                  <a:pt x="0" y="472440"/>
                </a:moveTo>
                <a:lnTo>
                  <a:pt x="472440" y="0"/>
                </a:lnTo>
                <a:lnTo>
                  <a:pt x="2286000" y="0"/>
                </a:lnTo>
              </a:path>
            </a:pathLst>
          </a:custGeom>
          <a:noFill/>
          <a:ln w="6350" cap="flat" cmpd="sng" algn="ctr">
            <a:solidFill>
              <a:schemeClr val="bg1">
                <a:lumMod val="50000"/>
              </a:schemeClr>
            </a:solidFill>
            <a:prstDash val="sysDot"/>
            <a:miter lim="800000"/>
            <a:headEnd type="oval" w="sm" len="sm"/>
            <a:tailEnd type="oval" w="sm" len="sm"/>
          </a:ln>
          <a:effectLst/>
        </p:spPr>
        <p:txBody>
          <a:bodyPr anchor="ctr"/>
          <a:lstStyle/>
          <a:p>
            <a:pPr algn="ctr">
              <a:defRPr/>
            </a:pPr>
            <a:endParaRPr lang="zh-CN" altLang="en-US" sz="1600" kern="0">
              <a:latin typeface="Impact" panose="020B0806030902050204" pitchFamily="34" charset="0"/>
              <a:ea typeface="微软雅黑" panose="020B0503020204020204" pitchFamily="34" charset="-122"/>
              <a:cs typeface="+mn-ea"/>
              <a:sym typeface="Impact" panose="020B0806030902050204" pitchFamily="34" charset="0"/>
            </a:endParaRPr>
          </a:p>
        </p:txBody>
      </p:sp>
      <p:sp>
        <p:nvSpPr>
          <p:cNvPr id="147" name="任意多边形 146"/>
          <p:cNvSpPr/>
          <p:nvPr/>
        </p:nvSpPr>
        <p:spPr>
          <a:xfrm flipH="1" flipV="1">
            <a:off x="3356382" y="4818851"/>
            <a:ext cx="1464455" cy="525183"/>
          </a:xfrm>
          <a:custGeom>
            <a:avLst/>
            <a:gdLst>
              <a:gd name="connsiteX0" fmla="*/ 0 w 2286000"/>
              <a:gd name="connsiteY0" fmla="*/ 472440 h 472440"/>
              <a:gd name="connsiteX1" fmla="*/ 472440 w 2286000"/>
              <a:gd name="connsiteY1" fmla="*/ 0 h 472440"/>
              <a:gd name="connsiteX2" fmla="*/ 2286000 w 2286000"/>
              <a:gd name="connsiteY2" fmla="*/ 0 h 472440"/>
            </a:gdLst>
            <a:ahLst/>
            <a:cxnLst>
              <a:cxn ang="0">
                <a:pos x="connsiteX0" y="connsiteY0"/>
              </a:cxn>
              <a:cxn ang="0">
                <a:pos x="connsiteX1" y="connsiteY1"/>
              </a:cxn>
              <a:cxn ang="0">
                <a:pos x="connsiteX2" y="connsiteY2"/>
              </a:cxn>
            </a:cxnLst>
            <a:rect l="l" t="t" r="r" b="b"/>
            <a:pathLst>
              <a:path w="2286000" h="472440">
                <a:moveTo>
                  <a:pt x="0" y="472440"/>
                </a:moveTo>
                <a:lnTo>
                  <a:pt x="472440" y="0"/>
                </a:lnTo>
                <a:lnTo>
                  <a:pt x="2286000" y="0"/>
                </a:lnTo>
              </a:path>
            </a:pathLst>
          </a:custGeom>
          <a:noFill/>
          <a:ln w="6350" cap="flat" cmpd="sng" algn="ctr">
            <a:solidFill>
              <a:schemeClr val="bg1">
                <a:lumMod val="50000"/>
              </a:schemeClr>
            </a:solidFill>
            <a:prstDash val="sysDot"/>
            <a:miter lim="800000"/>
            <a:headEnd type="oval" w="sm" len="sm"/>
            <a:tailEnd type="oval" w="sm" len="sm"/>
          </a:ln>
          <a:effectLst/>
        </p:spPr>
        <p:txBody>
          <a:bodyPr anchor="ctr"/>
          <a:lstStyle/>
          <a:p>
            <a:pPr algn="ctr">
              <a:defRPr/>
            </a:pPr>
            <a:endParaRPr lang="zh-CN" altLang="en-US" sz="1600" kern="0">
              <a:latin typeface="Impact" panose="020B0806030902050204" pitchFamily="34" charset="0"/>
              <a:ea typeface="微软雅黑" panose="020B0503020204020204" pitchFamily="34" charset="-122"/>
              <a:cs typeface="+mn-ea"/>
              <a:sym typeface="Impact" panose="020B0806030902050204" pitchFamily="34" charset="0"/>
            </a:endParaRPr>
          </a:p>
        </p:txBody>
      </p:sp>
      <p:sp>
        <p:nvSpPr>
          <p:cNvPr id="148" name="任意多边形 147"/>
          <p:cNvSpPr/>
          <p:nvPr/>
        </p:nvSpPr>
        <p:spPr>
          <a:xfrm flipV="1">
            <a:off x="7296021" y="4818851"/>
            <a:ext cx="1464456" cy="525183"/>
          </a:xfrm>
          <a:custGeom>
            <a:avLst/>
            <a:gdLst>
              <a:gd name="connsiteX0" fmla="*/ 0 w 2286000"/>
              <a:gd name="connsiteY0" fmla="*/ 472440 h 472440"/>
              <a:gd name="connsiteX1" fmla="*/ 472440 w 2286000"/>
              <a:gd name="connsiteY1" fmla="*/ 0 h 472440"/>
              <a:gd name="connsiteX2" fmla="*/ 2286000 w 2286000"/>
              <a:gd name="connsiteY2" fmla="*/ 0 h 472440"/>
            </a:gdLst>
            <a:ahLst/>
            <a:cxnLst>
              <a:cxn ang="0">
                <a:pos x="connsiteX0" y="connsiteY0"/>
              </a:cxn>
              <a:cxn ang="0">
                <a:pos x="connsiteX1" y="connsiteY1"/>
              </a:cxn>
              <a:cxn ang="0">
                <a:pos x="connsiteX2" y="connsiteY2"/>
              </a:cxn>
            </a:cxnLst>
            <a:rect l="l" t="t" r="r" b="b"/>
            <a:pathLst>
              <a:path w="2286000" h="472440">
                <a:moveTo>
                  <a:pt x="0" y="472440"/>
                </a:moveTo>
                <a:lnTo>
                  <a:pt x="472440" y="0"/>
                </a:lnTo>
                <a:lnTo>
                  <a:pt x="2286000" y="0"/>
                </a:lnTo>
              </a:path>
            </a:pathLst>
          </a:custGeom>
          <a:noFill/>
          <a:ln w="6350" cap="flat" cmpd="sng" algn="ctr">
            <a:solidFill>
              <a:schemeClr val="bg1">
                <a:lumMod val="50000"/>
              </a:schemeClr>
            </a:solidFill>
            <a:prstDash val="sysDot"/>
            <a:miter lim="800000"/>
            <a:headEnd type="oval" w="sm" len="sm"/>
            <a:tailEnd type="oval" w="sm" len="sm"/>
          </a:ln>
          <a:effectLst/>
        </p:spPr>
        <p:txBody>
          <a:bodyPr anchor="ctr"/>
          <a:lstStyle/>
          <a:p>
            <a:pPr algn="ctr">
              <a:defRPr/>
            </a:pPr>
            <a:endParaRPr lang="zh-CN" altLang="en-US" sz="1600" kern="0">
              <a:latin typeface="Impact" panose="020B0806030902050204" pitchFamily="34" charset="0"/>
              <a:ea typeface="微软雅黑" panose="020B0503020204020204" pitchFamily="34" charset="-122"/>
              <a:cs typeface="+mn-ea"/>
              <a:sym typeface="Impact" panose="020B0806030902050204" pitchFamily="34" charset="0"/>
            </a:endParaRPr>
          </a:p>
        </p:txBody>
      </p:sp>
      <p:cxnSp>
        <p:nvCxnSpPr>
          <p:cNvPr id="150" name="直接箭头连接符 149"/>
          <p:cNvCxnSpPr/>
          <p:nvPr/>
        </p:nvCxnSpPr>
        <p:spPr>
          <a:xfrm flipH="1">
            <a:off x="3356380" y="3578614"/>
            <a:ext cx="618685" cy="1"/>
          </a:xfrm>
          <a:prstGeom prst="straightConnector1">
            <a:avLst/>
          </a:prstGeom>
          <a:noFill/>
          <a:ln w="19050" cap="flat" cmpd="sng" algn="ctr">
            <a:noFill/>
            <a:prstDash val="sysDot"/>
            <a:miter lim="800000"/>
            <a:headEnd type="oval" w="sm" len="sm"/>
            <a:tailEnd type="oval" w="sm" len="sm"/>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cxnSp>
      <p:sp>
        <p:nvSpPr>
          <p:cNvPr id="151" name="文本框 75"/>
          <p:cNvSpPr txBox="1"/>
          <p:nvPr/>
        </p:nvSpPr>
        <p:spPr>
          <a:xfrm>
            <a:off x="8861240" y="1100918"/>
            <a:ext cx="2242777" cy="1200329"/>
          </a:xfrm>
          <a:prstGeom prst="rect">
            <a:avLst/>
          </a:prstGeom>
          <a:noFill/>
        </p:spPr>
        <p:txBody>
          <a:bodyPr wrap="square" anchor="ctr">
            <a:spAutoFit/>
          </a:bodyPr>
          <a:lstStyle/>
          <a:p>
            <a:pPr fontAlgn="base"/>
            <a:r>
              <a:rPr lang="zh-CN" altLang="en-US" dirty="0"/>
              <a:t>内部故障</a:t>
            </a:r>
            <a:r>
              <a:rPr lang="en-US" altLang="zh-CN" dirty="0"/>
              <a:t>(</a:t>
            </a:r>
            <a:r>
              <a:rPr lang="zh-CN" altLang="en-US" dirty="0"/>
              <a:t>如行故障</a:t>
            </a:r>
            <a:r>
              <a:rPr lang="en-US" altLang="zh-CN" dirty="0"/>
              <a:t>)</a:t>
            </a:r>
            <a:r>
              <a:rPr lang="zh-CN" altLang="en-US" dirty="0"/>
              <a:t>和外部故障</a:t>
            </a:r>
            <a:r>
              <a:rPr lang="en-US" altLang="zh-CN" dirty="0"/>
              <a:t>(</a:t>
            </a:r>
            <a:r>
              <a:rPr lang="zh-CN" altLang="en-US" dirty="0"/>
              <a:t>如引脚故障</a:t>
            </a:r>
            <a:r>
              <a:rPr lang="en-US" altLang="zh-CN" dirty="0"/>
              <a:t>)</a:t>
            </a:r>
            <a:r>
              <a:rPr lang="zh-CN" altLang="en-US" dirty="0"/>
              <a:t>的故障率曲线存在显著差异</a:t>
            </a:r>
          </a:p>
        </p:txBody>
      </p:sp>
      <p:sp>
        <p:nvSpPr>
          <p:cNvPr id="153" name="文本框 77"/>
          <p:cNvSpPr txBox="1"/>
          <p:nvPr/>
        </p:nvSpPr>
        <p:spPr>
          <a:xfrm>
            <a:off x="8787563" y="5094592"/>
            <a:ext cx="2704491" cy="1200329"/>
          </a:xfrm>
          <a:prstGeom prst="rect">
            <a:avLst/>
          </a:prstGeom>
          <a:noFill/>
        </p:spPr>
        <p:txBody>
          <a:bodyPr wrap="square" anchor="ctr">
            <a:spAutoFit/>
          </a:bodyPr>
          <a:lstStyle/>
          <a:p>
            <a:pPr lvl="1" fontAlgn="base"/>
            <a:r>
              <a:rPr lang="zh-CN" altLang="en-US" dirty="0"/>
              <a:t>仅校正限定故障的</a:t>
            </a:r>
            <a:r>
              <a:rPr lang="en-US" altLang="zh-CN" dirty="0"/>
              <a:t>ECC</a:t>
            </a:r>
            <a:r>
              <a:rPr lang="zh-CN" altLang="en-US" dirty="0"/>
              <a:t>可能会增加导致不可纠正错误的故障率</a:t>
            </a:r>
          </a:p>
        </p:txBody>
      </p:sp>
      <p:sp>
        <p:nvSpPr>
          <p:cNvPr id="155" name="文本框 79"/>
          <p:cNvSpPr txBox="1"/>
          <p:nvPr/>
        </p:nvSpPr>
        <p:spPr>
          <a:xfrm>
            <a:off x="999062" y="1546240"/>
            <a:ext cx="2171444" cy="923330"/>
          </a:xfrm>
          <a:prstGeom prst="rect">
            <a:avLst/>
          </a:prstGeom>
          <a:noFill/>
        </p:spPr>
        <p:txBody>
          <a:bodyPr wrap="square" anchor="ctr">
            <a:spAutoFit/>
          </a:bodyPr>
          <a:lstStyle/>
          <a:p>
            <a:pPr fontAlgn="base"/>
            <a:r>
              <a:rPr lang="zh-CN" altLang="en-US" dirty="0"/>
              <a:t>约</a:t>
            </a:r>
            <a:r>
              <a:rPr lang="en-US" altLang="zh-CN" dirty="0"/>
              <a:t>45%</a:t>
            </a:r>
            <a:r>
              <a:rPr lang="zh-CN" altLang="en-US" dirty="0"/>
              <a:t>的故障影响多位，与</a:t>
            </a:r>
            <a:r>
              <a:rPr lang="en-US" altLang="zh-CN" dirty="0"/>
              <a:t>DDR3</a:t>
            </a:r>
            <a:r>
              <a:rPr lang="zh-CN" altLang="en-US" dirty="0"/>
              <a:t>相比有显著变化</a:t>
            </a:r>
          </a:p>
        </p:txBody>
      </p:sp>
      <p:sp>
        <p:nvSpPr>
          <p:cNvPr id="156" name="文本框 80"/>
          <p:cNvSpPr txBox="1"/>
          <p:nvPr/>
        </p:nvSpPr>
        <p:spPr>
          <a:xfrm>
            <a:off x="767288" y="5090370"/>
            <a:ext cx="2533715" cy="1200329"/>
          </a:xfrm>
          <a:prstGeom prst="rect">
            <a:avLst/>
          </a:prstGeom>
          <a:noFill/>
        </p:spPr>
        <p:txBody>
          <a:bodyPr wrap="square" anchor="ctr">
            <a:spAutoFit/>
          </a:bodyPr>
          <a:lstStyle/>
          <a:p>
            <a:pPr fontAlgn="base"/>
            <a:r>
              <a:rPr lang="zh-CN" altLang="en-US" dirty="0"/>
              <a:t>发现了</a:t>
            </a:r>
            <a:r>
              <a:rPr lang="en-US" altLang="zh-CN" dirty="0"/>
              <a:t>16</a:t>
            </a:r>
            <a:r>
              <a:rPr lang="zh-CN" altLang="en-US" dirty="0"/>
              <a:t>种独特的故障模式，包括影响</a:t>
            </a:r>
            <a:r>
              <a:rPr lang="en-US" altLang="zh-CN" dirty="0"/>
              <a:t>DRAM</a:t>
            </a:r>
            <a:r>
              <a:rPr lang="zh-CN" altLang="en-US" dirty="0"/>
              <a:t>设备四分之一、一半和全部的故障</a:t>
            </a:r>
          </a:p>
        </p:txBody>
      </p:sp>
      <p:sp>
        <p:nvSpPr>
          <p:cNvPr id="157" name="文本框 3"/>
          <p:cNvSpPr txBox="1"/>
          <p:nvPr/>
        </p:nvSpPr>
        <p:spPr>
          <a:xfrm>
            <a:off x="5520077" y="3047918"/>
            <a:ext cx="1074053" cy="1025911"/>
          </a:xfrm>
          <a:prstGeom prst="rect">
            <a:avLst/>
          </a:prstGeom>
          <a:noFill/>
        </p:spPr>
        <p:txBody>
          <a:bodyPr wrap="none" rtlCol="0">
            <a:spAutoFit/>
          </a:bodyPr>
          <a:lstStyle/>
          <a:p>
            <a:pPr algn="ctr">
              <a:defRPr/>
            </a:pPr>
            <a:r>
              <a:rPr lang="en-US" altLang="zh-CN" sz="3035" dirty="0">
                <a:solidFill>
                  <a:schemeClr val="tx1">
                    <a:lumMod val="65000"/>
                    <a:lumOff val="35000"/>
                  </a:schemeClr>
                </a:solidFill>
                <a:latin typeface="Impact" panose="020B0806030902050204" pitchFamily="34" charset="0"/>
                <a:ea typeface="微软雅黑" panose="020B0503020204020204" pitchFamily="34" charset="-122"/>
                <a:cs typeface="+mn-ea"/>
                <a:sym typeface="Impact" panose="020B0806030902050204" pitchFamily="34" charset="0"/>
              </a:rPr>
              <a:t>YOUR </a:t>
            </a:r>
          </a:p>
          <a:p>
            <a:pPr algn="ctr">
              <a:defRPr/>
            </a:pPr>
            <a:r>
              <a:rPr lang="en-US" altLang="zh-CN" sz="3035" dirty="0">
                <a:solidFill>
                  <a:schemeClr val="tx1">
                    <a:lumMod val="65000"/>
                    <a:lumOff val="35000"/>
                  </a:schemeClr>
                </a:solidFill>
                <a:latin typeface="Impact" panose="020B0806030902050204" pitchFamily="34" charset="0"/>
                <a:ea typeface="微软雅黑" panose="020B0503020204020204" pitchFamily="34" charset="-122"/>
                <a:cs typeface="+mn-ea"/>
                <a:sym typeface="Impact" panose="020B0806030902050204" pitchFamily="34" charset="0"/>
              </a:rPr>
              <a:t>TITLE</a:t>
            </a:r>
            <a:endParaRPr lang="zh-CN" altLang="en-US" sz="3035" dirty="0">
              <a:solidFill>
                <a:schemeClr val="tx1">
                  <a:lumMod val="65000"/>
                  <a:lumOff val="35000"/>
                </a:schemeClr>
              </a:solidFill>
              <a:latin typeface="Impact" panose="020B0806030902050204" pitchFamily="34" charset="0"/>
              <a:ea typeface="微软雅黑" panose="020B0503020204020204" pitchFamily="34" charset="-122"/>
              <a:cs typeface="+mn-ea"/>
              <a:sym typeface="Impact" panose="020B0806030902050204" pitchFamily="34" charset="0"/>
            </a:endParaRPr>
          </a:p>
        </p:txBody>
      </p:sp>
      <p:sp>
        <p:nvSpPr>
          <p:cNvPr id="24" name="TextBox 19"/>
          <p:cNvSpPr txBox="1">
            <a:spLocks noChangeArrowheads="1"/>
          </p:cNvSpPr>
          <p:nvPr/>
        </p:nvSpPr>
        <p:spPr bwMode="auto">
          <a:xfrm>
            <a:off x="1136872" y="1121710"/>
            <a:ext cx="2100224" cy="41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4354" tIns="62177" rIns="124354" bIns="62177"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r>
              <a:rPr lang="zh-CN" altLang="en-US" sz="1895" dirty="0">
                <a:solidFill>
                  <a:schemeClr val="tx1">
                    <a:lumMod val="65000"/>
                    <a:lumOff val="35000"/>
                  </a:schemeClr>
                </a:solidFill>
                <a:latin typeface="Impact" panose="020B0806030902050204" pitchFamily="34" charset="0"/>
                <a:ea typeface="微软雅黑" panose="020B0503020204020204" pitchFamily="34" charset="-122"/>
                <a:cs typeface="+mn-ea"/>
                <a:sym typeface="Impact" panose="020B0806030902050204" pitchFamily="34" charset="0"/>
              </a:rPr>
              <a:t>多位故障</a:t>
            </a:r>
          </a:p>
        </p:txBody>
      </p:sp>
      <p:sp>
        <p:nvSpPr>
          <p:cNvPr id="25" name="TextBox 19"/>
          <p:cNvSpPr txBox="1">
            <a:spLocks noChangeArrowheads="1"/>
          </p:cNvSpPr>
          <p:nvPr/>
        </p:nvSpPr>
        <p:spPr bwMode="auto">
          <a:xfrm>
            <a:off x="1113004" y="4649918"/>
            <a:ext cx="2100224" cy="41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4354" tIns="62177" rIns="124354" bIns="62177"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r>
              <a:rPr lang="zh-CN" altLang="en-US" dirty="0"/>
              <a:t>多种故障模式</a:t>
            </a:r>
            <a:endParaRPr lang="zh-CN" altLang="en-US" sz="1895" dirty="0">
              <a:solidFill>
                <a:schemeClr val="tx1">
                  <a:lumMod val="65000"/>
                  <a:lumOff val="35000"/>
                </a:schemeClr>
              </a:solidFill>
              <a:latin typeface="Impact" panose="020B0806030902050204" pitchFamily="34" charset="0"/>
              <a:ea typeface="微软雅黑" panose="020B0503020204020204" pitchFamily="34" charset="-122"/>
              <a:cs typeface="+mn-ea"/>
              <a:sym typeface="Impact" panose="020B0806030902050204" pitchFamily="34" charset="0"/>
            </a:endParaRPr>
          </a:p>
        </p:txBody>
      </p:sp>
      <p:sp>
        <p:nvSpPr>
          <p:cNvPr id="28" name="TextBox 19"/>
          <p:cNvSpPr txBox="1">
            <a:spLocks noChangeArrowheads="1"/>
          </p:cNvSpPr>
          <p:nvPr/>
        </p:nvSpPr>
        <p:spPr bwMode="auto">
          <a:xfrm>
            <a:off x="8732650" y="4603302"/>
            <a:ext cx="2559058" cy="41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4354" tIns="62177" rIns="124354" bIns="62177"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zh-CN" dirty="0"/>
              <a:t>比较不同的</a:t>
            </a:r>
            <a:r>
              <a:rPr lang="en-US" altLang="zh-CN" dirty="0"/>
              <a:t>ECC</a:t>
            </a:r>
            <a:r>
              <a:rPr lang="zh-CN" altLang="zh-CN" dirty="0"/>
              <a:t>方案</a:t>
            </a:r>
            <a:endParaRPr lang="zh-CN" altLang="zh-CN" sz="2000" dirty="0">
              <a:effectLst/>
            </a:endParaRPr>
          </a:p>
        </p:txBody>
      </p:sp>
      <p:sp>
        <p:nvSpPr>
          <p:cNvPr id="143" name="任意多边形 142"/>
          <p:cNvSpPr/>
          <p:nvPr/>
        </p:nvSpPr>
        <p:spPr>
          <a:xfrm rot="7267884">
            <a:off x="5616123" y="3270572"/>
            <a:ext cx="1826023" cy="1876522"/>
          </a:xfrm>
          <a:custGeom>
            <a:avLst/>
            <a:gdLst>
              <a:gd name="connsiteX0" fmla="*/ 0 w 1768701"/>
              <a:gd name="connsiteY0" fmla="*/ 0 h 1819275"/>
              <a:gd name="connsiteX1" fmla="*/ 1239837 w 1768701"/>
              <a:gd name="connsiteY1" fmla="*/ 0 h 1819275"/>
              <a:gd name="connsiteX2" fmla="*/ 1425575 w 1768701"/>
              <a:gd name="connsiteY2" fmla="*/ 1819275 h 1819275"/>
              <a:gd name="connsiteX3" fmla="*/ 1217011 w 1768701"/>
              <a:gd name="connsiteY3" fmla="*/ 1151279 h 1819275"/>
              <a:gd name="connsiteX4" fmla="*/ 1120532 w 1768701"/>
              <a:gd name="connsiteY4" fmla="*/ 960656 h 1819275"/>
              <a:gd name="connsiteX5" fmla="*/ 1125218 w 1768701"/>
              <a:gd name="connsiteY5" fmla="*/ 962449 h 1819275"/>
              <a:gd name="connsiteX6" fmla="*/ 1087312 w 1768701"/>
              <a:gd name="connsiteY6" fmla="*/ 895020 h 1819275"/>
              <a:gd name="connsiteX7" fmla="*/ 1067594 w 1768701"/>
              <a:gd name="connsiteY7" fmla="*/ 856060 h 1819275"/>
              <a:gd name="connsiteX8" fmla="*/ 1044723 w 1768701"/>
              <a:gd name="connsiteY8" fmla="*/ 819259 h 1819275"/>
              <a:gd name="connsiteX9" fmla="*/ 1032247 w 1768701"/>
              <a:gd name="connsiteY9" fmla="*/ 797066 h 1819275"/>
              <a:gd name="connsiteX10" fmla="*/ 1011074 w 1768701"/>
              <a:gd name="connsiteY10" fmla="*/ 765115 h 1819275"/>
              <a:gd name="connsiteX11" fmla="*/ 976419 w 1768701"/>
              <a:gd name="connsiteY11" fmla="*/ 709350 h 1819275"/>
              <a:gd name="connsiteX12" fmla="*/ 949071 w 1768701"/>
              <a:gd name="connsiteY12" fmla="*/ 671548 h 1819275"/>
              <a:gd name="connsiteX13" fmla="*/ 932625 w 1768701"/>
              <a:gd name="connsiteY13" fmla="*/ 646730 h 1819275"/>
              <a:gd name="connsiteX14" fmla="*/ 911183 w 1768701"/>
              <a:gd name="connsiteY14" fmla="*/ 619176 h 1819275"/>
              <a:gd name="connsiteX15" fmla="*/ 873826 w 1768701"/>
              <a:gd name="connsiteY15" fmla="*/ 567538 h 1819275"/>
              <a:gd name="connsiteX16" fmla="*/ 842456 w 1768701"/>
              <a:gd name="connsiteY16" fmla="*/ 530859 h 1819275"/>
              <a:gd name="connsiteX17" fmla="*/ 827460 w 1768701"/>
              <a:gd name="connsiteY17" fmla="*/ 511589 h 1819275"/>
              <a:gd name="connsiteX18" fmla="*/ 804660 w 1768701"/>
              <a:gd name="connsiteY18" fmla="*/ 486667 h 1819275"/>
              <a:gd name="connsiteX19" fmla="*/ 759485 w 1768701"/>
              <a:gd name="connsiteY19" fmla="*/ 433846 h 1819275"/>
              <a:gd name="connsiteX20" fmla="*/ 732019 w 1768701"/>
              <a:gd name="connsiteY20" fmla="*/ 407265 h 1819275"/>
              <a:gd name="connsiteX21" fmla="*/ 717863 w 1768701"/>
              <a:gd name="connsiteY21" fmla="*/ 391791 h 1819275"/>
              <a:gd name="connsiteX22" fmla="*/ 677622 w 1768701"/>
              <a:gd name="connsiteY22" fmla="*/ 354620 h 1819275"/>
              <a:gd name="connsiteX23" fmla="*/ 633065 w 1768701"/>
              <a:gd name="connsiteY23" fmla="*/ 311498 h 1819275"/>
              <a:gd name="connsiteX24" fmla="*/ 619739 w 1768701"/>
              <a:gd name="connsiteY24" fmla="*/ 301151 h 1819275"/>
              <a:gd name="connsiteX25" fmla="*/ 604942 w 1768701"/>
              <a:gd name="connsiteY25" fmla="*/ 287483 h 1819275"/>
              <a:gd name="connsiteX26" fmla="*/ 29334 w 1768701"/>
              <a:gd name="connsiteY26" fmla="*/ 3471 h 1819275"/>
              <a:gd name="connsiteX27" fmla="*/ 7152 w 1768701"/>
              <a:gd name="connsiteY27" fmla="*/ 1798 h 181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68701" h="1819275">
                <a:moveTo>
                  <a:pt x="0" y="0"/>
                </a:moveTo>
                <a:lnTo>
                  <a:pt x="1239837" y="0"/>
                </a:lnTo>
                <a:cubicBezTo>
                  <a:pt x="1820863" y="101600"/>
                  <a:pt x="1981200" y="942975"/>
                  <a:pt x="1425575" y="1819275"/>
                </a:cubicBezTo>
                <a:cubicBezTo>
                  <a:pt x="1410692" y="1702594"/>
                  <a:pt x="1345133" y="1441252"/>
                  <a:pt x="1217011" y="1151279"/>
                </a:cubicBezTo>
                <a:lnTo>
                  <a:pt x="1120532" y="960656"/>
                </a:lnTo>
                <a:lnTo>
                  <a:pt x="1125218" y="962449"/>
                </a:lnTo>
                <a:lnTo>
                  <a:pt x="1087312" y="895020"/>
                </a:lnTo>
                <a:lnTo>
                  <a:pt x="1067594" y="856060"/>
                </a:lnTo>
                <a:lnTo>
                  <a:pt x="1044723" y="819259"/>
                </a:lnTo>
                <a:lnTo>
                  <a:pt x="1032247" y="797066"/>
                </a:lnTo>
                <a:lnTo>
                  <a:pt x="1011074" y="765115"/>
                </a:lnTo>
                <a:lnTo>
                  <a:pt x="976419" y="709350"/>
                </a:lnTo>
                <a:lnTo>
                  <a:pt x="949071" y="671548"/>
                </a:lnTo>
                <a:lnTo>
                  <a:pt x="932625" y="646730"/>
                </a:lnTo>
                <a:lnTo>
                  <a:pt x="911183" y="619176"/>
                </a:lnTo>
                <a:lnTo>
                  <a:pt x="873826" y="567538"/>
                </a:lnTo>
                <a:lnTo>
                  <a:pt x="842456" y="530859"/>
                </a:lnTo>
                <a:lnTo>
                  <a:pt x="827460" y="511589"/>
                </a:lnTo>
                <a:lnTo>
                  <a:pt x="804660" y="486667"/>
                </a:lnTo>
                <a:lnTo>
                  <a:pt x="759485" y="433846"/>
                </a:lnTo>
                <a:lnTo>
                  <a:pt x="732019" y="407265"/>
                </a:lnTo>
                <a:lnTo>
                  <a:pt x="717863" y="391791"/>
                </a:lnTo>
                <a:lnTo>
                  <a:pt x="677622" y="354620"/>
                </a:lnTo>
                <a:lnTo>
                  <a:pt x="633065" y="311498"/>
                </a:lnTo>
                <a:lnTo>
                  <a:pt x="619739" y="301151"/>
                </a:lnTo>
                <a:lnTo>
                  <a:pt x="604942" y="287483"/>
                </a:lnTo>
                <a:cubicBezTo>
                  <a:pt x="414589" y="126628"/>
                  <a:pt x="215013" y="30932"/>
                  <a:pt x="29334" y="3471"/>
                </a:cubicBezTo>
                <a:lnTo>
                  <a:pt x="7152" y="1798"/>
                </a:lnTo>
                <a:close/>
              </a:path>
            </a:pathLst>
          </a:custGeom>
          <a:gradFill>
            <a:gsLst>
              <a:gs pos="0">
                <a:srgbClr val="002060"/>
              </a:gs>
              <a:gs pos="100000">
                <a:srgbClr val="0070C0"/>
              </a:gs>
            </a:gsLst>
            <a:lin ang="2700000" scaled="1"/>
          </a:gradFill>
          <a:ln w="3175">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chemeClr val="tx1"/>
              </a:solidFill>
              <a:latin typeface="Impact" panose="020B0806030902050204" pitchFamily="34" charset="0"/>
              <a:ea typeface="微软雅黑" panose="020B0503020204020204" pitchFamily="34" charset="-122"/>
              <a:cs typeface="+mn-ea"/>
              <a:sym typeface="Impact" panose="020B0806030902050204" pitchFamily="34" charset="0"/>
            </a:endParaRPr>
          </a:p>
        </p:txBody>
      </p:sp>
      <p:sp>
        <p:nvSpPr>
          <p:cNvPr id="2" name="文本框 1">
            <a:extLst>
              <a:ext uri="{FF2B5EF4-FFF2-40B4-BE49-F238E27FC236}">
                <a16:creationId xmlns:a16="http://schemas.microsoft.com/office/drawing/2014/main" id="{1639DB39-69FC-DE87-30BA-F599CE1DA833}"/>
              </a:ext>
            </a:extLst>
          </p:cNvPr>
          <p:cNvSpPr txBox="1"/>
          <p:nvPr/>
        </p:nvSpPr>
        <p:spPr>
          <a:xfrm>
            <a:off x="2089522" y="312889"/>
            <a:ext cx="2533715" cy="369332"/>
          </a:xfrm>
          <a:prstGeom prst="rect">
            <a:avLst/>
          </a:prstGeom>
          <a:noFill/>
        </p:spPr>
        <p:txBody>
          <a:bodyPr wrap="square" rtlCol="0">
            <a:spAutoFit/>
          </a:bodyPr>
          <a:lstStyle/>
          <a:p>
            <a:r>
              <a:rPr lang="zh-CN" altLang="en-US" dirty="0"/>
              <a:t>结果</a:t>
            </a:r>
          </a:p>
        </p:txBody>
      </p:sp>
    </p:spTree>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2000"/>
                                        <p:tgtEl>
                                          <p:spTgt spid="99"/>
                                        </p:tgtEl>
                                      </p:cBhvr>
                                    </p:animEffect>
                                    <p:anim calcmode="lin" valueType="num">
                                      <p:cBhvr>
                                        <p:cTn id="8" dur="2000" fill="hold"/>
                                        <p:tgtEl>
                                          <p:spTgt spid="99"/>
                                        </p:tgtEl>
                                        <p:attrNameLst>
                                          <p:attrName>style.rotation</p:attrName>
                                        </p:attrNameLst>
                                      </p:cBhvr>
                                      <p:tavLst>
                                        <p:tav tm="0">
                                          <p:val>
                                            <p:fltVal val="720"/>
                                          </p:val>
                                        </p:tav>
                                        <p:tav tm="100000">
                                          <p:val>
                                            <p:fltVal val="0"/>
                                          </p:val>
                                        </p:tav>
                                      </p:tavLst>
                                    </p:anim>
                                    <p:anim calcmode="lin" valueType="num">
                                      <p:cBhvr>
                                        <p:cTn id="9" dur="2000" fill="hold"/>
                                        <p:tgtEl>
                                          <p:spTgt spid="99"/>
                                        </p:tgtEl>
                                        <p:attrNameLst>
                                          <p:attrName>ppt_h</p:attrName>
                                        </p:attrNameLst>
                                      </p:cBhvr>
                                      <p:tavLst>
                                        <p:tav tm="0">
                                          <p:val>
                                            <p:fltVal val="0"/>
                                          </p:val>
                                        </p:tav>
                                        <p:tav tm="100000">
                                          <p:val>
                                            <p:strVal val="#ppt_h"/>
                                          </p:val>
                                        </p:tav>
                                      </p:tavLst>
                                    </p:anim>
                                    <p:anim calcmode="lin" valueType="num">
                                      <p:cBhvr>
                                        <p:cTn id="10" dur="2000" fill="hold"/>
                                        <p:tgtEl>
                                          <p:spTgt spid="99"/>
                                        </p:tgtEl>
                                        <p:attrNameLst>
                                          <p:attrName>ppt_w</p:attrName>
                                        </p:attrNameLst>
                                      </p:cBhvr>
                                      <p:tavLst>
                                        <p:tav tm="0">
                                          <p:val>
                                            <p:fltVal val="0"/>
                                          </p:val>
                                        </p:tav>
                                        <p:tav tm="100000">
                                          <p:val>
                                            <p:strVal val="#ppt_w"/>
                                          </p:val>
                                        </p:tav>
                                      </p:tavLst>
                                    </p:anim>
                                  </p:childTnLst>
                                </p:cTn>
                              </p:par>
                              <p:par>
                                <p:cTn id="11" presetID="35" presetClass="entr" presetSubtype="0" fill="hold" grpId="0" nodeType="withEffect">
                                  <p:stCondLst>
                                    <p:cond delay="0"/>
                                  </p:stCondLst>
                                  <p:childTnLst>
                                    <p:set>
                                      <p:cBhvr>
                                        <p:cTn id="12" dur="1" fill="hold">
                                          <p:stCondLst>
                                            <p:cond delay="0"/>
                                          </p:stCondLst>
                                        </p:cTn>
                                        <p:tgtEl>
                                          <p:spTgt spid="98"/>
                                        </p:tgtEl>
                                        <p:attrNameLst>
                                          <p:attrName>style.visibility</p:attrName>
                                        </p:attrNameLst>
                                      </p:cBhvr>
                                      <p:to>
                                        <p:strVal val="visible"/>
                                      </p:to>
                                    </p:set>
                                    <p:animEffect transition="in" filter="fade">
                                      <p:cBhvr>
                                        <p:cTn id="13" dur="2000"/>
                                        <p:tgtEl>
                                          <p:spTgt spid="98"/>
                                        </p:tgtEl>
                                      </p:cBhvr>
                                    </p:animEffect>
                                    <p:anim calcmode="lin" valueType="num">
                                      <p:cBhvr>
                                        <p:cTn id="14" dur="2000" fill="hold"/>
                                        <p:tgtEl>
                                          <p:spTgt spid="98"/>
                                        </p:tgtEl>
                                        <p:attrNameLst>
                                          <p:attrName>style.rotation</p:attrName>
                                        </p:attrNameLst>
                                      </p:cBhvr>
                                      <p:tavLst>
                                        <p:tav tm="0">
                                          <p:val>
                                            <p:fltVal val="720"/>
                                          </p:val>
                                        </p:tav>
                                        <p:tav tm="100000">
                                          <p:val>
                                            <p:fltVal val="0"/>
                                          </p:val>
                                        </p:tav>
                                      </p:tavLst>
                                    </p:anim>
                                    <p:anim calcmode="lin" valueType="num">
                                      <p:cBhvr>
                                        <p:cTn id="15" dur="2000" fill="hold"/>
                                        <p:tgtEl>
                                          <p:spTgt spid="98"/>
                                        </p:tgtEl>
                                        <p:attrNameLst>
                                          <p:attrName>ppt_h</p:attrName>
                                        </p:attrNameLst>
                                      </p:cBhvr>
                                      <p:tavLst>
                                        <p:tav tm="0">
                                          <p:val>
                                            <p:fltVal val="0"/>
                                          </p:val>
                                        </p:tav>
                                        <p:tav tm="100000">
                                          <p:val>
                                            <p:strVal val="#ppt_h"/>
                                          </p:val>
                                        </p:tav>
                                      </p:tavLst>
                                    </p:anim>
                                    <p:anim calcmode="lin" valueType="num">
                                      <p:cBhvr>
                                        <p:cTn id="16" dur="2000" fill="hold"/>
                                        <p:tgtEl>
                                          <p:spTgt spid="98"/>
                                        </p:tgtEl>
                                        <p:attrNameLst>
                                          <p:attrName>ppt_w</p:attrName>
                                        </p:attrNameLst>
                                      </p:cBhvr>
                                      <p:tavLst>
                                        <p:tav tm="0">
                                          <p:val>
                                            <p:fltVal val="0"/>
                                          </p:val>
                                        </p:tav>
                                        <p:tav tm="100000">
                                          <p:val>
                                            <p:strVal val="#ppt_w"/>
                                          </p:val>
                                        </p:tav>
                                      </p:tavLst>
                                    </p:anim>
                                  </p:childTnLst>
                                </p:cTn>
                              </p:par>
                              <p:par>
                                <p:cTn id="17" presetID="35" presetClass="entr" presetSubtype="0" fill="hold" grpId="0" nodeType="withEffect">
                                  <p:stCondLst>
                                    <p:cond delay="0"/>
                                  </p:stCondLst>
                                  <p:childTnLst>
                                    <p:set>
                                      <p:cBhvr>
                                        <p:cTn id="18" dur="1" fill="hold">
                                          <p:stCondLst>
                                            <p:cond delay="0"/>
                                          </p:stCondLst>
                                        </p:cTn>
                                        <p:tgtEl>
                                          <p:spTgt spid="144"/>
                                        </p:tgtEl>
                                        <p:attrNameLst>
                                          <p:attrName>style.visibility</p:attrName>
                                        </p:attrNameLst>
                                      </p:cBhvr>
                                      <p:to>
                                        <p:strVal val="visible"/>
                                      </p:to>
                                    </p:set>
                                    <p:animEffect transition="in" filter="fade">
                                      <p:cBhvr>
                                        <p:cTn id="19" dur="2000"/>
                                        <p:tgtEl>
                                          <p:spTgt spid="144"/>
                                        </p:tgtEl>
                                      </p:cBhvr>
                                    </p:animEffect>
                                    <p:anim calcmode="lin" valueType="num">
                                      <p:cBhvr>
                                        <p:cTn id="20" dur="2000" fill="hold"/>
                                        <p:tgtEl>
                                          <p:spTgt spid="144"/>
                                        </p:tgtEl>
                                        <p:attrNameLst>
                                          <p:attrName>style.rotation</p:attrName>
                                        </p:attrNameLst>
                                      </p:cBhvr>
                                      <p:tavLst>
                                        <p:tav tm="0">
                                          <p:val>
                                            <p:fltVal val="720"/>
                                          </p:val>
                                        </p:tav>
                                        <p:tav tm="100000">
                                          <p:val>
                                            <p:fltVal val="0"/>
                                          </p:val>
                                        </p:tav>
                                      </p:tavLst>
                                    </p:anim>
                                    <p:anim calcmode="lin" valueType="num">
                                      <p:cBhvr>
                                        <p:cTn id="21" dur="2000" fill="hold"/>
                                        <p:tgtEl>
                                          <p:spTgt spid="144"/>
                                        </p:tgtEl>
                                        <p:attrNameLst>
                                          <p:attrName>ppt_h</p:attrName>
                                        </p:attrNameLst>
                                      </p:cBhvr>
                                      <p:tavLst>
                                        <p:tav tm="0">
                                          <p:val>
                                            <p:fltVal val="0"/>
                                          </p:val>
                                        </p:tav>
                                        <p:tav tm="100000">
                                          <p:val>
                                            <p:strVal val="#ppt_h"/>
                                          </p:val>
                                        </p:tav>
                                      </p:tavLst>
                                    </p:anim>
                                    <p:anim calcmode="lin" valueType="num">
                                      <p:cBhvr>
                                        <p:cTn id="22" dur="2000" fill="hold"/>
                                        <p:tgtEl>
                                          <p:spTgt spid="144"/>
                                        </p:tgtEl>
                                        <p:attrNameLst>
                                          <p:attrName>ppt_w</p:attrName>
                                        </p:attrNameLst>
                                      </p:cBhvr>
                                      <p:tavLst>
                                        <p:tav tm="0">
                                          <p:val>
                                            <p:fltVal val="0"/>
                                          </p:val>
                                        </p:tav>
                                        <p:tav tm="100000">
                                          <p:val>
                                            <p:strVal val="#ppt_w"/>
                                          </p:val>
                                        </p:tav>
                                      </p:tavLst>
                                    </p:anim>
                                  </p:childTnLst>
                                </p:cTn>
                              </p:par>
                              <p:par>
                                <p:cTn id="23" presetID="35" presetClass="entr" presetSubtype="0" fill="hold" grpId="0" nodeType="withEffect">
                                  <p:stCondLst>
                                    <p:cond delay="0"/>
                                  </p:stCondLst>
                                  <p:childTnLst>
                                    <p:set>
                                      <p:cBhvr>
                                        <p:cTn id="24" dur="1" fill="hold">
                                          <p:stCondLst>
                                            <p:cond delay="0"/>
                                          </p:stCondLst>
                                        </p:cTn>
                                        <p:tgtEl>
                                          <p:spTgt spid="143"/>
                                        </p:tgtEl>
                                        <p:attrNameLst>
                                          <p:attrName>style.visibility</p:attrName>
                                        </p:attrNameLst>
                                      </p:cBhvr>
                                      <p:to>
                                        <p:strVal val="visible"/>
                                      </p:to>
                                    </p:set>
                                    <p:animEffect transition="in" filter="fade">
                                      <p:cBhvr>
                                        <p:cTn id="25" dur="2000"/>
                                        <p:tgtEl>
                                          <p:spTgt spid="143"/>
                                        </p:tgtEl>
                                      </p:cBhvr>
                                    </p:animEffect>
                                    <p:anim calcmode="lin" valueType="num">
                                      <p:cBhvr>
                                        <p:cTn id="26" dur="2000" fill="hold"/>
                                        <p:tgtEl>
                                          <p:spTgt spid="143"/>
                                        </p:tgtEl>
                                        <p:attrNameLst>
                                          <p:attrName>style.rotation</p:attrName>
                                        </p:attrNameLst>
                                      </p:cBhvr>
                                      <p:tavLst>
                                        <p:tav tm="0">
                                          <p:val>
                                            <p:fltVal val="720"/>
                                          </p:val>
                                        </p:tav>
                                        <p:tav tm="100000">
                                          <p:val>
                                            <p:fltVal val="0"/>
                                          </p:val>
                                        </p:tav>
                                      </p:tavLst>
                                    </p:anim>
                                    <p:anim calcmode="lin" valueType="num">
                                      <p:cBhvr>
                                        <p:cTn id="27" dur="2000" fill="hold"/>
                                        <p:tgtEl>
                                          <p:spTgt spid="143"/>
                                        </p:tgtEl>
                                        <p:attrNameLst>
                                          <p:attrName>ppt_h</p:attrName>
                                        </p:attrNameLst>
                                      </p:cBhvr>
                                      <p:tavLst>
                                        <p:tav tm="0">
                                          <p:val>
                                            <p:fltVal val="0"/>
                                          </p:val>
                                        </p:tav>
                                        <p:tav tm="100000">
                                          <p:val>
                                            <p:strVal val="#ppt_h"/>
                                          </p:val>
                                        </p:tav>
                                      </p:tavLst>
                                    </p:anim>
                                    <p:anim calcmode="lin" valueType="num">
                                      <p:cBhvr>
                                        <p:cTn id="28" dur="2000" fill="hold"/>
                                        <p:tgtEl>
                                          <p:spTgt spid="143"/>
                                        </p:tgtEl>
                                        <p:attrNameLst>
                                          <p:attrName>ppt_w</p:attrName>
                                        </p:attrNameLst>
                                      </p:cBhvr>
                                      <p:tavLst>
                                        <p:tav tm="0">
                                          <p:val>
                                            <p:fltVal val="0"/>
                                          </p:val>
                                        </p:tav>
                                        <p:tav tm="100000">
                                          <p:val>
                                            <p:strVal val="#ppt_w"/>
                                          </p:val>
                                        </p:tav>
                                      </p:tavLst>
                                    </p:anim>
                                  </p:childTnLst>
                                </p:cTn>
                              </p:par>
                              <p:par>
                                <p:cTn id="29" presetID="35" presetClass="entr" presetSubtype="0" fill="hold" grpId="0" nodeType="withEffect">
                                  <p:stCondLst>
                                    <p:cond delay="0"/>
                                  </p:stCondLst>
                                  <p:childTnLst>
                                    <p:set>
                                      <p:cBhvr>
                                        <p:cTn id="30" dur="1" fill="hold">
                                          <p:stCondLst>
                                            <p:cond delay="0"/>
                                          </p:stCondLst>
                                        </p:cTn>
                                        <p:tgtEl>
                                          <p:spTgt spid="142"/>
                                        </p:tgtEl>
                                        <p:attrNameLst>
                                          <p:attrName>style.visibility</p:attrName>
                                        </p:attrNameLst>
                                      </p:cBhvr>
                                      <p:to>
                                        <p:strVal val="visible"/>
                                      </p:to>
                                    </p:set>
                                    <p:animEffect transition="in" filter="fade">
                                      <p:cBhvr>
                                        <p:cTn id="31" dur="2000"/>
                                        <p:tgtEl>
                                          <p:spTgt spid="142"/>
                                        </p:tgtEl>
                                      </p:cBhvr>
                                    </p:animEffect>
                                    <p:anim calcmode="lin" valueType="num">
                                      <p:cBhvr>
                                        <p:cTn id="32" dur="2000" fill="hold"/>
                                        <p:tgtEl>
                                          <p:spTgt spid="142"/>
                                        </p:tgtEl>
                                        <p:attrNameLst>
                                          <p:attrName>style.rotation</p:attrName>
                                        </p:attrNameLst>
                                      </p:cBhvr>
                                      <p:tavLst>
                                        <p:tav tm="0">
                                          <p:val>
                                            <p:fltVal val="720"/>
                                          </p:val>
                                        </p:tav>
                                        <p:tav tm="100000">
                                          <p:val>
                                            <p:fltVal val="0"/>
                                          </p:val>
                                        </p:tav>
                                      </p:tavLst>
                                    </p:anim>
                                    <p:anim calcmode="lin" valueType="num">
                                      <p:cBhvr>
                                        <p:cTn id="33" dur="2000" fill="hold"/>
                                        <p:tgtEl>
                                          <p:spTgt spid="142"/>
                                        </p:tgtEl>
                                        <p:attrNameLst>
                                          <p:attrName>ppt_h</p:attrName>
                                        </p:attrNameLst>
                                      </p:cBhvr>
                                      <p:tavLst>
                                        <p:tav tm="0">
                                          <p:val>
                                            <p:fltVal val="0"/>
                                          </p:val>
                                        </p:tav>
                                        <p:tav tm="100000">
                                          <p:val>
                                            <p:strVal val="#ppt_h"/>
                                          </p:val>
                                        </p:tav>
                                      </p:tavLst>
                                    </p:anim>
                                    <p:anim calcmode="lin" valueType="num">
                                      <p:cBhvr>
                                        <p:cTn id="34" dur="2000" fill="hold"/>
                                        <p:tgtEl>
                                          <p:spTgt spid="142"/>
                                        </p:tgtEl>
                                        <p:attrNameLst>
                                          <p:attrName>ppt_w</p:attrName>
                                        </p:attrNameLst>
                                      </p:cBhvr>
                                      <p:tavLst>
                                        <p:tav tm="0">
                                          <p:val>
                                            <p:fltVal val="0"/>
                                          </p:val>
                                        </p:tav>
                                        <p:tav tm="100000">
                                          <p:val>
                                            <p:strVal val="#ppt_w"/>
                                          </p:val>
                                        </p:tav>
                                      </p:tavLst>
                                    </p:anim>
                                  </p:childTnLst>
                                </p:cTn>
                              </p:par>
                              <p:par>
                                <p:cTn id="35" presetID="35" presetClass="entr" presetSubtype="0" fill="hold" grpId="0" nodeType="withEffect">
                                  <p:stCondLst>
                                    <p:cond delay="0"/>
                                  </p:stCondLst>
                                  <p:childTnLst>
                                    <p:set>
                                      <p:cBhvr>
                                        <p:cTn id="36" dur="1" fill="hold">
                                          <p:stCondLst>
                                            <p:cond delay="0"/>
                                          </p:stCondLst>
                                        </p:cTn>
                                        <p:tgtEl>
                                          <p:spTgt spid="141"/>
                                        </p:tgtEl>
                                        <p:attrNameLst>
                                          <p:attrName>style.visibility</p:attrName>
                                        </p:attrNameLst>
                                      </p:cBhvr>
                                      <p:to>
                                        <p:strVal val="visible"/>
                                      </p:to>
                                    </p:set>
                                    <p:animEffect transition="in" filter="fade">
                                      <p:cBhvr>
                                        <p:cTn id="37" dur="2000"/>
                                        <p:tgtEl>
                                          <p:spTgt spid="141"/>
                                        </p:tgtEl>
                                      </p:cBhvr>
                                    </p:animEffect>
                                    <p:anim calcmode="lin" valueType="num">
                                      <p:cBhvr>
                                        <p:cTn id="38" dur="2000" fill="hold"/>
                                        <p:tgtEl>
                                          <p:spTgt spid="141"/>
                                        </p:tgtEl>
                                        <p:attrNameLst>
                                          <p:attrName>style.rotation</p:attrName>
                                        </p:attrNameLst>
                                      </p:cBhvr>
                                      <p:tavLst>
                                        <p:tav tm="0">
                                          <p:val>
                                            <p:fltVal val="720"/>
                                          </p:val>
                                        </p:tav>
                                        <p:tav tm="100000">
                                          <p:val>
                                            <p:fltVal val="0"/>
                                          </p:val>
                                        </p:tav>
                                      </p:tavLst>
                                    </p:anim>
                                    <p:anim calcmode="lin" valueType="num">
                                      <p:cBhvr>
                                        <p:cTn id="39" dur="2000" fill="hold"/>
                                        <p:tgtEl>
                                          <p:spTgt spid="141"/>
                                        </p:tgtEl>
                                        <p:attrNameLst>
                                          <p:attrName>ppt_h</p:attrName>
                                        </p:attrNameLst>
                                      </p:cBhvr>
                                      <p:tavLst>
                                        <p:tav tm="0">
                                          <p:val>
                                            <p:fltVal val="0"/>
                                          </p:val>
                                        </p:tav>
                                        <p:tav tm="100000">
                                          <p:val>
                                            <p:strVal val="#ppt_h"/>
                                          </p:val>
                                        </p:tav>
                                      </p:tavLst>
                                    </p:anim>
                                    <p:anim calcmode="lin" valueType="num">
                                      <p:cBhvr>
                                        <p:cTn id="40" dur="2000" fill="hold"/>
                                        <p:tgtEl>
                                          <p:spTgt spid="141"/>
                                        </p:tgtEl>
                                        <p:attrNameLst>
                                          <p:attrName>ppt_w</p:attrName>
                                        </p:attrNameLst>
                                      </p:cBhvr>
                                      <p:tavLst>
                                        <p:tav tm="0">
                                          <p:val>
                                            <p:fltVal val="0"/>
                                          </p:val>
                                        </p:tav>
                                        <p:tav tm="100000">
                                          <p:val>
                                            <p:strVal val="#ppt_w"/>
                                          </p:val>
                                        </p:tav>
                                      </p:tavLst>
                                    </p:anim>
                                  </p:childTnLst>
                                </p:cTn>
                              </p:par>
                            </p:childTnLst>
                          </p:cTn>
                        </p:par>
                        <p:par>
                          <p:cTn id="41" fill="hold">
                            <p:stCondLst>
                              <p:cond delay="2000"/>
                            </p:stCondLst>
                            <p:childTnLst>
                              <p:par>
                                <p:cTn id="42" presetID="14" presetClass="entr" presetSubtype="10" fill="hold" grpId="0" nodeType="afterEffect">
                                  <p:stCondLst>
                                    <p:cond delay="0"/>
                                  </p:stCondLst>
                                  <p:childTnLst>
                                    <p:set>
                                      <p:cBhvr>
                                        <p:cTn id="43" dur="1" fill="hold">
                                          <p:stCondLst>
                                            <p:cond delay="0"/>
                                          </p:stCondLst>
                                        </p:cTn>
                                        <p:tgtEl>
                                          <p:spTgt spid="157"/>
                                        </p:tgtEl>
                                        <p:attrNameLst>
                                          <p:attrName>style.visibility</p:attrName>
                                        </p:attrNameLst>
                                      </p:cBhvr>
                                      <p:to>
                                        <p:strVal val="visible"/>
                                      </p:to>
                                    </p:set>
                                    <p:animEffect transition="in" filter="randombar(horizontal)">
                                      <p:cBhvr>
                                        <p:cTn id="44" dur="500"/>
                                        <p:tgtEl>
                                          <p:spTgt spid="157"/>
                                        </p:tgtEl>
                                      </p:cBhvr>
                                    </p:animEffect>
                                  </p:childTnLst>
                                </p:cTn>
                              </p:par>
                            </p:childTnLst>
                          </p:cTn>
                        </p:par>
                        <p:par>
                          <p:cTn id="45" fill="hold">
                            <p:stCondLst>
                              <p:cond delay="2500"/>
                            </p:stCondLst>
                            <p:childTnLst>
                              <p:par>
                                <p:cTn id="46" presetID="22" presetClass="entr" presetSubtype="2" fill="hold" grpId="0" nodeType="afterEffect">
                                  <p:stCondLst>
                                    <p:cond delay="0"/>
                                  </p:stCondLst>
                                  <p:childTnLst>
                                    <p:set>
                                      <p:cBhvr>
                                        <p:cTn id="47" dur="1" fill="hold">
                                          <p:stCondLst>
                                            <p:cond delay="0"/>
                                          </p:stCondLst>
                                        </p:cTn>
                                        <p:tgtEl>
                                          <p:spTgt spid="145"/>
                                        </p:tgtEl>
                                        <p:attrNameLst>
                                          <p:attrName>style.visibility</p:attrName>
                                        </p:attrNameLst>
                                      </p:cBhvr>
                                      <p:to>
                                        <p:strVal val="visible"/>
                                      </p:to>
                                    </p:set>
                                    <p:animEffect transition="in" filter="wipe(right)">
                                      <p:cBhvr>
                                        <p:cTn id="48" dur="500"/>
                                        <p:tgtEl>
                                          <p:spTgt spid="145"/>
                                        </p:tgtEl>
                                      </p:cBhvr>
                                    </p:animEffect>
                                  </p:childTnLst>
                                </p:cTn>
                              </p:par>
                            </p:childTnLst>
                          </p:cTn>
                        </p:par>
                        <p:par>
                          <p:cTn id="49" fill="hold">
                            <p:stCondLst>
                              <p:cond delay="3000"/>
                            </p:stCondLst>
                            <p:childTnLst>
                              <p:par>
                                <p:cTn id="50" presetID="22" presetClass="entr" presetSubtype="8" fill="hold" grpId="0" nodeType="afterEffect">
                                  <p:stCondLst>
                                    <p:cond delay="0"/>
                                  </p:stCondLst>
                                  <p:childTnLst>
                                    <p:set>
                                      <p:cBhvr>
                                        <p:cTn id="51" dur="1" fill="hold">
                                          <p:stCondLst>
                                            <p:cond delay="0"/>
                                          </p:stCondLst>
                                        </p:cTn>
                                        <p:tgtEl>
                                          <p:spTgt spid="146"/>
                                        </p:tgtEl>
                                        <p:attrNameLst>
                                          <p:attrName>style.visibility</p:attrName>
                                        </p:attrNameLst>
                                      </p:cBhvr>
                                      <p:to>
                                        <p:strVal val="visible"/>
                                      </p:to>
                                    </p:set>
                                    <p:animEffect transition="in" filter="wipe(left)">
                                      <p:cBhvr>
                                        <p:cTn id="52" dur="500"/>
                                        <p:tgtEl>
                                          <p:spTgt spid="146"/>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151"/>
                                        </p:tgtEl>
                                        <p:attrNameLst>
                                          <p:attrName>style.visibility</p:attrName>
                                        </p:attrNameLst>
                                      </p:cBhvr>
                                      <p:to>
                                        <p:strVal val="visible"/>
                                      </p:to>
                                    </p:set>
                                    <p:animEffect transition="in" filter="wipe(down)">
                                      <p:cBhvr>
                                        <p:cTn id="55" dur="500"/>
                                        <p:tgtEl>
                                          <p:spTgt spid="151"/>
                                        </p:tgtEl>
                                      </p:cBhvr>
                                    </p:animEffect>
                                  </p:childTnLst>
                                </p:cTn>
                              </p:par>
                            </p:childTnLst>
                          </p:cTn>
                        </p:par>
                        <p:par>
                          <p:cTn id="56" fill="hold">
                            <p:stCondLst>
                              <p:cond delay="3500"/>
                            </p:stCondLst>
                            <p:childTnLst>
                              <p:par>
                                <p:cTn id="57" presetID="47" presetClass="entr" presetSubtype="0"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anim calcmode="lin" valueType="num">
                                      <p:cBhvr>
                                        <p:cTn id="60" dur="500" fill="hold"/>
                                        <p:tgtEl>
                                          <p:spTgt spid="24"/>
                                        </p:tgtEl>
                                        <p:attrNameLst>
                                          <p:attrName>ppt_x</p:attrName>
                                        </p:attrNameLst>
                                      </p:cBhvr>
                                      <p:tavLst>
                                        <p:tav tm="0">
                                          <p:val>
                                            <p:strVal val="#ppt_x"/>
                                          </p:val>
                                        </p:tav>
                                        <p:tav tm="100000">
                                          <p:val>
                                            <p:strVal val="#ppt_x"/>
                                          </p:val>
                                        </p:tav>
                                      </p:tavLst>
                                    </p:anim>
                                    <p:anim calcmode="lin" valueType="num">
                                      <p:cBhvr>
                                        <p:cTn id="61" dur="500" fill="hold"/>
                                        <p:tgtEl>
                                          <p:spTgt spid="24"/>
                                        </p:tgtEl>
                                        <p:attrNameLst>
                                          <p:attrName>ppt_y</p:attrName>
                                        </p:attrNameLst>
                                      </p:cBhvr>
                                      <p:tavLst>
                                        <p:tav tm="0">
                                          <p:val>
                                            <p:strVal val="#ppt_y-.1"/>
                                          </p:val>
                                        </p:tav>
                                        <p:tav tm="100000">
                                          <p:val>
                                            <p:strVal val="#ppt_y"/>
                                          </p:val>
                                        </p:tav>
                                      </p:tavLst>
                                    </p:anim>
                                  </p:childTnLst>
                                </p:cTn>
                              </p:par>
                              <p:par>
                                <p:cTn id="62" presetID="22" presetClass="entr" presetSubtype="4" fill="hold" grpId="0" nodeType="withEffect">
                                  <p:stCondLst>
                                    <p:cond delay="0"/>
                                  </p:stCondLst>
                                  <p:childTnLst>
                                    <p:set>
                                      <p:cBhvr>
                                        <p:cTn id="63" dur="1" fill="hold">
                                          <p:stCondLst>
                                            <p:cond delay="0"/>
                                          </p:stCondLst>
                                        </p:cTn>
                                        <p:tgtEl>
                                          <p:spTgt spid="155"/>
                                        </p:tgtEl>
                                        <p:attrNameLst>
                                          <p:attrName>style.visibility</p:attrName>
                                        </p:attrNameLst>
                                      </p:cBhvr>
                                      <p:to>
                                        <p:strVal val="visible"/>
                                      </p:to>
                                    </p:set>
                                    <p:animEffect transition="in" filter="wipe(down)">
                                      <p:cBhvr>
                                        <p:cTn id="64" dur="500"/>
                                        <p:tgtEl>
                                          <p:spTgt spid="155"/>
                                        </p:tgtEl>
                                      </p:cBhvr>
                                    </p:animEffect>
                                  </p:childTnLst>
                                </p:cTn>
                              </p:par>
                            </p:childTnLst>
                          </p:cTn>
                        </p:par>
                        <p:par>
                          <p:cTn id="65" fill="hold">
                            <p:stCondLst>
                              <p:cond delay="4000"/>
                            </p:stCondLst>
                            <p:childTnLst>
                              <p:par>
                                <p:cTn id="66" presetID="22" presetClass="entr" presetSubtype="2" fill="hold" grpId="0" nodeType="afterEffect">
                                  <p:stCondLst>
                                    <p:cond delay="0"/>
                                  </p:stCondLst>
                                  <p:childTnLst>
                                    <p:set>
                                      <p:cBhvr>
                                        <p:cTn id="67" dur="1" fill="hold">
                                          <p:stCondLst>
                                            <p:cond delay="0"/>
                                          </p:stCondLst>
                                        </p:cTn>
                                        <p:tgtEl>
                                          <p:spTgt spid="147"/>
                                        </p:tgtEl>
                                        <p:attrNameLst>
                                          <p:attrName>style.visibility</p:attrName>
                                        </p:attrNameLst>
                                      </p:cBhvr>
                                      <p:to>
                                        <p:strVal val="visible"/>
                                      </p:to>
                                    </p:set>
                                    <p:animEffect transition="in" filter="wipe(right)">
                                      <p:cBhvr>
                                        <p:cTn id="68" dur="500"/>
                                        <p:tgtEl>
                                          <p:spTgt spid="147"/>
                                        </p:tgtEl>
                                      </p:cBhvr>
                                    </p:animEffect>
                                  </p:childTnLst>
                                </p:cTn>
                              </p:par>
                            </p:childTnLst>
                          </p:cTn>
                        </p:par>
                        <p:par>
                          <p:cTn id="69" fill="hold">
                            <p:stCondLst>
                              <p:cond delay="4500"/>
                            </p:stCondLst>
                            <p:childTnLst>
                              <p:par>
                                <p:cTn id="70" presetID="47" presetClass="entr" presetSubtype="0" fill="hold" grpId="0" nodeType="after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anim calcmode="lin" valueType="num">
                                      <p:cBhvr>
                                        <p:cTn id="73" dur="500" fill="hold"/>
                                        <p:tgtEl>
                                          <p:spTgt spid="25"/>
                                        </p:tgtEl>
                                        <p:attrNameLst>
                                          <p:attrName>ppt_x</p:attrName>
                                        </p:attrNameLst>
                                      </p:cBhvr>
                                      <p:tavLst>
                                        <p:tav tm="0">
                                          <p:val>
                                            <p:strVal val="#ppt_x"/>
                                          </p:val>
                                        </p:tav>
                                        <p:tav tm="100000">
                                          <p:val>
                                            <p:strVal val="#ppt_x"/>
                                          </p:val>
                                        </p:tav>
                                      </p:tavLst>
                                    </p:anim>
                                    <p:anim calcmode="lin" valueType="num">
                                      <p:cBhvr>
                                        <p:cTn id="74" dur="500" fill="hold"/>
                                        <p:tgtEl>
                                          <p:spTgt spid="25"/>
                                        </p:tgtEl>
                                        <p:attrNameLst>
                                          <p:attrName>ppt_y</p:attrName>
                                        </p:attrNameLst>
                                      </p:cBhvr>
                                      <p:tavLst>
                                        <p:tav tm="0">
                                          <p:val>
                                            <p:strVal val="#ppt_y-.1"/>
                                          </p:val>
                                        </p:tav>
                                        <p:tav tm="100000">
                                          <p:val>
                                            <p:strVal val="#ppt_y"/>
                                          </p:val>
                                        </p:tav>
                                      </p:tavLst>
                                    </p:anim>
                                  </p:childTnLst>
                                </p:cTn>
                              </p:par>
                              <p:par>
                                <p:cTn id="75" presetID="22" presetClass="entr" presetSubtype="4" fill="hold" grpId="0" nodeType="withEffect">
                                  <p:stCondLst>
                                    <p:cond delay="0"/>
                                  </p:stCondLst>
                                  <p:childTnLst>
                                    <p:set>
                                      <p:cBhvr>
                                        <p:cTn id="76" dur="1" fill="hold">
                                          <p:stCondLst>
                                            <p:cond delay="0"/>
                                          </p:stCondLst>
                                        </p:cTn>
                                        <p:tgtEl>
                                          <p:spTgt spid="156"/>
                                        </p:tgtEl>
                                        <p:attrNameLst>
                                          <p:attrName>style.visibility</p:attrName>
                                        </p:attrNameLst>
                                      </p:cBhvr>
                                      <p:to>
                                        <p:strVal val="visible"/>
                                      </p:to>
                                    </p:set>
                                    <p:animEffect transition="in" filter="wipe(down)">
                                      <p:cBhvr>
                                        <p:cTn id="77" dur="500"/>
                                        <p:tgtEl>
                                          <p:spTgt spid="156"/>
                                        </p:tgtEl>
                                      </p:cBhvr>
                                    </p:animEffect>
                                  </p:childTnLst>
                                </p:cTn>
                              </p:par>
                            </p:childTnLst>
                          </p:cTn>
                        </p:par>
                        <p:par>
                          <p:cTn id="78" fill="hold">
                            <p:stCondLst>
                              <p:cond delay="5000"/>
                            </p:stCondLst>
                            <p:childTnLst>
                              <p:par>
                                <p:cTn id="79" presetID="22" presetClass="entr" presetSubtype="8" fill="hold" grpId="0" nodeType="afterEffect">
                                  <p:stCondLst>
                                    <p:cond delay="0"/>
                                  </p:stCondLst>
                                  <p:childTnLst>
                                    <p:set>
                                      <p:cBhvr>
                                        <p:cTn id="80" dur="1" fill="hold">
                                          <p:stCondLst>
                                            <p:cond delay="0"/>
                                          </p:stCondLst>
                                        </p:cTn>
                                        <p:tgtEl>
                                          <p:spTgt spid="148"/>
                                        </p:tgtEl>
                                        <p:attrNameLst>
                                          <p:attrName>style.visibility</p:attrName>
                                        </p:attrNameLst>
                                      </p:cBhvr>
                                      <p:to>
                                        <p:strVal val="visible"/>
                                      </p:to>
                                    </p:set>
                                    <p:animEffect transition="in" filter="wipe(left)">
                                      <p:cBhvr>
                                        <p:cTn id="81" dur="500"/>
                                        <p:tgtEl>
                                          <p:spTgt spid="148"/>
                                        </p:tgtEl>
                                      </p:cBhvr>
                                    </p:animEffect>
                                  </p:childTnLst>
                                </p:cTn>
                              </p:par>
                            </p:childTnLst>
                          </p:cTn>
                        </p:par>
                        <p:par>
                          <p:cTn id="82" fill="hold">
                            <p:stCondLst>
                              <p:cond delay="5500"/>
                            </p:stCondLst>
                            <p:childTnLst>
                              <p:par>
                                <p:cTn id="83" presetID="47" presetClass="entr" presetSubtype="0" fill="hold" grpId="0" nodeType="after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anim calcmode="lin" valueType="num">
                                      <p:cBhvr>
                                        <p:cTn id="86" dur="500" fill="hold"/>
                                        <p:tgtEl>
                                          <p:spTgt spid="28"/>
                                        </p:tgtEl>
                                        <p:attrNameLst>
                                          <p:attrName>ppt_x</p:attrName>
                                        </p:attrNameLst>
                                      </p:cBhvr>
                                      <p:tavLst>
                                        <p:tav tm="0">
                                          <p:val>
                                            <p:strVal val="#ppt_x"/>
                                          </p:val>
                                        </p:tav>
                                        <p:tav tm="100000">
                                          <p:val>
                                            <p:strVal val="#ppt_x"/>
                                          </p:val>
                                        </p:tav>
                                      </p:tavLst>
                                    </p:anim>
                                    <p:anim calcmode="lin" valueType="num">
                                      <p:cBhvr>
                                        <p:cTn id="87" dur="500" fill="hold"/>
                                        <p:tgtEl>
                                          <p:spTgt spid="28"/>
                                        </p:tgtEl>
                                        <p:attrNameLst>
                                          <p:attrName>ppt_y</p:attrName>
                                        </p:attrNameLst>
                                      </p:cBhvr>
                                      <p:tavLst>
                                        <p:tav tm="0">
                                          <p:val>
                                            <p:strVal val="#ppt_y-.1"/>
                                          </p:val>
                                        </p:tav>
                                        <p:tav tm="100000">
                                          <p:val>
                                            <p:strVal val="#ppt_y"/>
                                          </p:val>
                                        </p:tav>
                                      </p:tavLst>
                                    </p:anim>
                                  </p:childTnLst>
                                </p:cTn>
                              </p:par>
                              <p:par>
                                <p:cTn id="88" presetID="22" presetClass="entr" presetSubtype="4" fill="hold" grpId="0" nodeType="withEffect">
                                  <p:stCondLst>
                                    <p:cond delay="0"/>
                                  </p:stCondLst>
                                  <p:childTnLst>
                                    <p:set>
                                      <p:cBhvr>
                                        <p:cTn id="89" dur="1" fill="hold">
                                          <p:stCondLst>
                                            <p:cond delay="0"/>
                                          </p:stCondLst>
                                        </p:cTn>
                                        <p:tgtEl>
                                          <p:spTgt spid="153"/>
                                        </p:tgtEl>
                                        <p:attrNameLst>
                                          <p:attrName>style.visibility</p:attrName>
                                        </p:attrNameLst>
                                      </p:cBhvr>
                                      <p:to>
                                        <p:strVal val="visible"/>
                                      </p:to>
                                    </p:set>
                                    <p:animEffect transition="in" filter="wipe(down)">
                                      <p:cBhvr>
                                        <p:cTn id="90"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P spid="99" grpId="0" animBg="1"/>
      <p:bldP spid="141" grpId="0" animBg="1"/>
      <p:bldP spid="142" grpId="0" animBg="1"/>
      <p:bldP spid="144" grpId="0" animBg="1"/>
      <p:bldP spid="145" grpId="0" animBg="1"/>
      <p:bldP spid="146" grpId="0" animBg="1"/>
      <p:bldP spid="147" grpId="0" animBg="1"/>
      <p:bldP spid="148" grpId="0" animBg="1"/>
      <p:bldP spid="151" grpId="0"/>
      <p:bldP spid="153" grpId="0"/>
      <p:bldP spid="155" grpId="0"/>
      <p:bldP spid="156" grpId="0"/>
      <p:bldP spid="157" grpId="0"/>
      <p:bldP spid="24" grpId="0"/>
      <p:bldP spid="25" grpId="0"/>
      <p:bldP spid="28" grpId="0"/>
      <p:bldP spid="14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192159" y="105179"/>
            <a:ext cx="2306160" cy="523112"/>
          </a:xfrm>
          <a:prstGeom prst="roundRect">
            <a:avLst>
              <a:gd name="adj" fmla="val 9976"/>
            </a:avLst>
          </a:prstGeom>
          <a:solidFill>
            <a:srgbClr val="00B0F0"/>
          </a:solidFill>
          <a:ln w="2540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grpSp>
        <p:nvGrpSpPr>
          <p:cNvPr id="8" name="组合 7"/>
          <p:cNvGrpSpPr/>
          <p:nvPr/>
        </p:nvGrpSpPr>
        <p:grpSpPr>
          <a:xfrm>
            <a:off x="310597" y="287729"/>
            <a:ext cx="158011" cy="158012"/>
            <a:chOff x="4486616" y="3001075"/>
            <a:chExt cx="274695" cy="274699"/>
          </a:xfrm>
        </p:grpSpPr>
        <p:sp>
          <p:nvSpPr>
            <p:cNvPr id="9" name="椭圆 8"/>
            <p:cNvSpPr/>
            <p:nvPr/>
          </p:nvSpPr>
          <p:spPr>
            <a:xfrm rot="16200000">
              <a:off x="4486614" y="3001077"/>
              <a:ext cx="274699" cy="274695"/>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0" name="椭圆 9"/>
            <p:cNvSpPr/>
            <p:nvPr/>
          </p:nvSpPr>
          <p:spPr>
            <a:xfrm rot="16200000">
              <a:off x="4511585" y="3026055"/>
              <a:ext cx="224753" cy="22475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grpSp>
        <p:nvGrpSpPr>
          <p:cNvPr id="11" name="组合 10"/>
          <p:cNvGrpSpPr/>
          <p:nvPr/>
        </p:nvGrpSpPr>
        <p:grpSpPr>
          <a:xfrm>
            <a:off x="0" y="332611"/>
            <a:ext cx="384317" cy="61431"/>
            <a:chOff x="4318304" y="3089060"/>
            <a:chExt cx="384317" cy="61430"/>
          </a:xfrm>
        </p:grpSpPr>
        <p:sp>
          <p:nvSpPr>
            <p:cNvPr id="12" name="圆角矩形 11"/>
            <p:cNvSpPr/>
            <p:nvPr/>
          </p:nvSpPr>
          <p:spPr>
            <a:xfrm rot="16200000">
              <a:off x="4499257" y="2947128"/>
              <a:ext cx="22409" cy="384316"/>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9525">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3" name="圆角矩形 12"/>
            <p:cNvSpPr/>
            <p:nvPr/>
          </p:nvSpPr>
          <p:spPr>
            <a:xfrm rot="16200000">
              <a:off x="4499258" y="2908107"/>
              <a:ext cx="22409" cy="384316"/>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9525">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sp>
        <p:nvSpPr>
          <p:cNvPr id="14" name="文本框 13"/>
          <p:cNvSpPr txBox="1"/>
          <p:nvPr/>
        </p:nvSpPr>
        <p:spPr>
          <a:xfrm>
            <a:off x="324960" y="141033"/>
            <a:ext cx="2173357" cy="420564"/>
          </a:xfrm>
          <a:prstGeom prst="rect">
            <a:avLst/>
          </a:prstGeom>
          <a:noFill/>
        </p:spPr>
        <p:txBody>
          <a:bodyPr wrap="square" rtlCol="0">
            <a:spAutoFit/>
          </a:bodyPr>
          <a:lstStyle/>
          <a:p>
            <a:pPr algn="ctr"/>
            <a:r>
              <a:rPr lang="zh-CN" altLang="en-US" sz="2135" dirty="0">
                <a:solidFill>
                  <a:schemeClr val="bg1"/>
                </a:solidFill>
                <a:cs typeface="+mn-ea"/>
                <a:sym typeface="+mn-lt"/>
              </a:rPr>
              <a:t>结论</a:t>
            </a:r>
          </a:p>
        </p:txBody>
      </p:sp>
      <p:grpSp>
        <p:nvGrpSpPr>
          <p:cNvPr id="15" name="组合 14"/>
          <p:cNvGrpSpPr/>
          <p:nvPr/>
        </p:nvGrpSpPr>
        <p:grpSpPr>
          <a:xfrm>
            <a:off x="752619" y="4444422"/>
            <a:ext cx="1634584" cy="2045196"/>
            <a:chOff x="3295850" y="1895995"/>
            <a:chExt cx="3725149" cy="4660916"/>
          </a:xfrm>
        </p:grpSpPr>
        <p:sp>
          <p:nvSpPr>
            <p:cNvPr id="16" name="圆角矩形 15"/>
            <p:cNvSpPr/>
            <p:nvPr/>
          </p:nvSpPr>
          <p:spPr>
            <a:xfrm rot="2760000">
              <a:off x="3086007" y="2621919"/>
              <a:ext cx="4660916" cy="3209068"/>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7" name="Freeform 5"/>
            <p:cNvSpPr/>
            <p:nvPr/>
          </p:nvSpPr>
          <p:spPr bwMode="auto">
            <a:xfrm rot="10800000">
              <a:off x="3295850" y="2263222"/>
              <a:ext cx="2643765" cy="234315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gs>
                <a:gs pos="73000">
                  <a:srgbClr val="ECECEC"/>
                </a:gs>
                <a:gs pos="100000">
                  <a:srgbClr val="D9D9D9"/>
                </a:gs>
              </a:gsLst>
              <a:lin ang="2700000" scaled="1"/>
              <a:tileRect/>
            </a:gradFill>
            <a:ln w="25400">
              <a:gradFill flip="none" rotWithShape="1">
                <a:gsLst>
                  <a:gs pos="29000">
                    <a:srgbClr val="E0E0E0"/>
                  </a:gs>
                  <a:gs pos="0">
                    <a:srgbClr val="999999"/>
                  </a:gs>
                  <a:gs pos="83000">
                    <a:schemeClr val="bg1"/>
                  </a:gs>
                </a:gsLst>
                <a:lin ang="2700000" scaled="1"/>
                <a:tileRect/>
              </a:grad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sp>
          <p:nvSpPr>
            <p:cNvPr id="18" name="圆角矩形 17"/>
            <p:cNvSpPr/>
            <p:nvPr/>
          </p:nvSpPr>
          <p:spPr>
            <a:xfrm rot="2760000">
              <a:off x="3384391" y="2878566"/>
              <a:ext cx="3953506" cy="2592561"/>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9" name="Freeform 5"/>
            <p:cNvSpPr/>
            <p:nvPr/>
          </p:nvSpPr>
          <p:spPr bwMode="auto">
            <a:xfrm rot="10800000">
              <a:off x="3589408" y="2523401"/>
              <a:ext cx="2056648" cy="1822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rgbClr val="0070C0"/>
                </a:gs>
                <a:gs pos="100000">
                  <a:srgbClr val="002060"/>
                </a:gs>
              </a:gsLst>
              <a:lin ang="2700000" scaled="1"/>
              <a:tileRect/>
            </a:gradFill>
            <a:ln w="25400">
              <a:gradFill flip="none" rotWithShape="1">
                <a:gsLst>
                  <a:gs pos="0">
                    <a:srgbClr val="002060"/>
                  </a:gs>
                  <a:gs pos="100000">
                    <a:srgbClr val="0070C0"/>
                  </a:gs>
                </a:gsLst>
                <a:lin ang="2700000" scaled="1"/>
                <a:tileRect/>
              </a:gradFill>
            </a:ln>
            <a:effectLst>
              <a:outerShdw blurRad="254000" dist="114300" dir="2700000" algn="tl" rotWithShape="0">
                <a:prstClr val="black">
                  <a:alpha val="25000"/>
                </a:prst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grpSp>
      <p:grpSp>
        <p:nvGrpSpPr>
          <p:cNvPr id="20" name="组合 19"/>
          <p:cNvGrpSpPr/>
          <p:nvPr/>
        </p:nvGrpSpPr>
        <p:grpSpPr>
          <a:xfrm>
            <a:off x="863733" y="1015512"/>
            <a:ext cx="1634584" cy="2045196"/>
            <a:chOff x="3295850" y="1895995"/>
            <a:chExt cx="3725149" cy="4660916"/>
          </a:xfrm>
        </p:grpSpPr>
        <p:sp>
          <p:nvSpPr>
            <p:cNvPr id="21" name="圆角矩形 20"/>
            <p:cNvSpPr/>
            <p:nvPr/>
          </p:nvSpPr>
          <p:spPr>
            <a:xfrm rot="2760000">
              <a:off x="3086007" y="2621919"/>
              <a:ext cx="4660916" cy="3209068"/>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22" name="Freeform 5"/>
            <p:cNvSpPr/>
            <p:nvPr/>
          </p:nvSpPr>
          <p:spPr bwMode="auto">
            <a:xfrm rot="10800000">
              <a:off x="3295850" y="2263222"/>
              <a:ext cx="2643765" cy="234315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gs>
                <a:gs pos="73000">
                  <a:srgbClr val="ECECEC"/>
                </a:gs>
                <a:gs pos="100000">
                  <a:srgbClr val="D9D9D9"/>
                </a:gs>
              </a:gsLst>
              <a:lin ang="2700000" scaled="1"/>
              <a:tileRect/>
            </a:gradFill>
            <a:ln w="25400">
              <a:gradFill flip="none" rotWithShape="1">
                <a:gsLst>
                  <a:gs pos="29000">
                    <a:srgbClr val="E0E0E0"/>
                  </a:gs>
                  <a:gs pos="0">
                    <a:srgbClr val="999999"/>
                  </a:gs>
                  <a:gs pos="83000">
                    <a:schemeClr val="bg1"/>
                  </a:gs>
                </a:gsLst>
                <a:lin ang="2700000" scaled="1"/>
                <a:tileRect/>
              </a:grad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sp>
          <p:nvSpPr>
            <p:cNvPr id="23" name="圆角矩形 22"/>
            <p:cNvSpPr/>
            <p:nvPr/>
          </p:nvSpPr>
          <p:spPr>
            <a:xfrm rot="2760000">
              <a:off x="3371510" y="2878566"/>
              <a:ext cx="3953505" cy="2592561"/>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24" name="Freeform 5"/>
            <p:cNvSpPr/>
            <p:nvPr/>
          </p:nvSpPr>
          <p:spPr bwMode="auto">
            <a:xfrm rot="10800000">
              <a:off x="3589408" y="2523401"/>
              <a:ext cx="2056648" cy="1822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rgbClr val="00B0F0"/>
                </a:gs>
                <a:gs pos="100000">
                  <a:srgbClr val="0070C0"/>
                </a:gs>
              </a:gsLst>
              <a:lin ang="2700000" scaled="1"/>
              <a:tileRect/>
            </a:gradFill>
            <a:ln w="25400">
              <a:gradFill flip="none" rotWithShape="1">
                <a:gsLst>
                  <a:gs pos="0">
                    <a:srgbClr val="0070C0"/>
                  </a:gs>
                  <a:gs pos="100000">
                    <a:srgbClr val="00B0F0"/>
                  </a:gs>
                </a:gsLst>
                <a:lin ang="2700000" scaled="1"/>
                <a:tileRect/>
              </a:gradFill>
            </a:ln>
            <a:effectLst>
              <a:outerShdw blurRad="254000" dist="114300" dir="2700000" algn="tl" rotWithShape="0">
                <a:prstClr val="black">
                  <a:alpha val="25000"/>
                </a:prst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grpSp>
      <p:sp>
        <p:nvSpPr>
          <p:cNvPr id="40" name="文本框 39"/>
          <p:cNvSpPr txBox="1"/>
          <p:nvPr/>
        </p:nvSpPr>
        <p:spPr>
          <a:xfrm>
            <a:off x="1443769" y="4425299"/>
            <a:ext cx="7960238" cy="1698350"/>
          </a:xfrm>
          <a:prstGeom prst="rect">
            <a:avLst/>
          </a:prstGeom>
          <a:noFill/>
        </p:spPr>
        <p:txBody>
          <a:bodyPr wrap="square" rtlCol="0">
            <a:spAutoFit/>
          </a:bodyPr>
          <a:lstStyle/>
          <a:p>
            <a:pPr algn="ctr">
              <a:lnSpc>
                <a:spcPct val="150000"/>
              </a:lnSpc>
            </a:pPr>
            <a:r>
              <a:rPr lang="en-US" altLang="zh-CN" dirty="0">
                <a:solidFill>
                  <a:prstClr val="black">
                    <a:lumMod val="50000"/>
                    <a:lumOff val="50000"/>
                  </a:prstClr>
                </a:solidFill>
                <a:cs typeface="+mn-ea"/>
                <a:sym typeface="+mn-lt"/>
              </a:rPr>
              <a:t>our hope is that this work will help to influence </a:t>
            </a:r>
          </a:p>
          <a:p>
            <a:pPr algn="ctr">
              <a:lnSpc>
                <a:spcPct val="150000"/>
              </a:lnSpc>
            </a:pPr>
            <a:r>
              <a:rPr lang="en-US" altLang="zh-CN" dirty="0">
                <a:solidFill>
                  <a:prstClr val="black">
                    <a:lumMod val="50000"/>
                    <a:lumOff val="50000"/>
                  </a:prstClr>
                </a:solidFill>
                <a:cs typeface="+mn-ea"/>
                <a:sym typeface="+mn-lt"/>
              </a:rPr>
              <a:t>the industry to continue improving DRAM reliability to </a:t>
            </a:r>
          </a:p>
          <a:p>
            <a:pPr algn="ctr">
              <a:lnSpc>
                <a:spcPct val="150000"/>
              </a:lnSpc>
            </a:pPr>
            <a:r>
              <a:rPr lang="en-US" altLang="zh-CN" dirty="0">
                <a:solidFill>
                  <a:prstClr val="black">
                    <a:lumMod val="50000"/>
                    <a:lumOff val="50000"/>
                  </a:prstClr>
                </a:solidFill>
                <a:cs typeface="+mn-ea"/>
                <a:sym typeface="+mn-lt"/>
              </a:rPr>
              <a:t>ensure that DRAM technologies continue to be appropriate </a:t>
            </a:r>
          </a:p>
          <a:p>
            <a:pPr algn="ctr">
              <a:lnSpc>
                <a:spcPct val="150000"/>
              </a:lnSpc>
            </a:pPr>
            <a:r>
              <a:rPr lang="en-US" altLang="zh-CN" dirty="0">
                <a:solidFill>
                  <a:prstClr val="black">
                    <a:lumMod val="50000"/>
                    <a:lumOff val="50000"/>
                  </a:prstClr>
                </a:solidFill>
                <a:cs typeface="+mn-ea"/>
                <a:sym typeface="+mn-lt"/>
              </a:rPr>
              <a:t>for mission-critical server applications.</a:t>
            </a:r>
            <a:endParaRPr lang="zh-CN" altLang="en-US" dirty="0">
              <a:cs typeface="+mn-ea"/>
              <a:sym typeface="+mn-lt"/>
            </a:endParaRPr>
          </a:p>
        </p:txBody>
      </p:sp>
      <p:pic>
        <p:nvPicPr>
          <p:cNvPr id="41" name="Picture 13" descr="camera.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02746" y="1449710"/>
            <a:ext cx="482047" cy="482047"/>
          </a:xfrm>
          <a:prstGeom prst="rect">
            <a:avLst/>
          </a:prstGeom>
        </p:spPr>
      </p:pic>
      <p:pic>
        <p:nvPicPr>
          <p:cNvPr id="42" name="Picture 14" descr="cinema.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8184" y="4879541"/>
            <a:ext cx="448945" cy="448945"/>
          </a:xfrm>
          <a:prstGeom prst="rect">
            <a:avLst/>
          </a:prstGeom>
        </p:spPr>
      </p:pic>
      <p:grpSp>
        <p:nvGrpSpPr>
          <p:cNvPr id="43" name="组合 42"/>
          <p:cNvGrpSpPr/>
          <p:nvPr/>
        </p:nvGrpSpPr>
        <p:grpSpPr>
          <a:xfrm>
            <a:off x="2152621" y="818244"/>
            <a:ext cx="8359144" cy="2290535"/>
            <a:chOff x="473924" y="2044717"/>
            <a:chExt cx="8359141" cy="2290537"/>
          </a:xfrm>
        </p:grpSpPr>
        <p:sp>
          <p:nvSpPr>
            <p:cNvPr id="44" name="文本框 43"/>
            <p:cNvSpPr txBox="1"/>
            <p:nvPr/>
          </p:nvSpPr>
          <p:spPr>
            <a:xfrm>
              <a:off x="1678200" y="2044717"/>
              <a:ext cx="2465354" cy="400110"/>
            </a:xfrm>
            <a:prstGeom prst="rect">
              <a:avLst/>
            </a:prstGeom>
            <a:noFill/>
          </p:spPr>
          <p:txBody>
            <a:bodyPr wrap="square" rtlCol="0">
              <a:spAutoFit/>
            </a:bodyPr>
            <a:lstStyle/>
            <a:p>
              <a:endParaRPr lang="zh-CN" altLang="en-US" sz="2000" dirty="0">
                <a:solidFill>
                  <a:srgbClr val="00B0F0"/>
                </a:solidFill>
                <a:cs typeface="+mn-ea"/>
                <a:sym typeface="+mn-lt"/>
              </a:endParaRPr>
            </a:p>
          </p:txBody>
        </p:sp>
        <p:sp>
          <p:nvSpPr>
            <p:cNvPr id="45" name="文本框 44"/>
            <p:cNvSpPr txBox="1"/>
            <p:nvPr/>
          </p:nvSpPr>
          <p:spPr>
            <a:xfrm>
              <a:off x="473924" y="2065208"/>
              <a:ext cx="8359141" cy="2270046"/>
            </a:xfrm>
            <a:prstGeom prst="rect">
              <a:avLst/>
            </a:prstGeom>
            <a:noFill/>
          </p:spPr>
          <p:txBody>
            <a:bodyPr wrap="square" rtlCol="0">
              <a:spAutoFit/>
            </a:bodyPr>
            <a:lstStyle/>
            <a:p>
              <a:pPr algn="ctr">
                <a:lnSpc>
                  <a:spcPct val="150000"/>
                </a:lnSpc>
              </a:pPr>
              <a:r>
                <a:rPr lang="en-US" altLang="zh-CN" sz="1600" dirty="0">
                  <a:solidFill>
                    <a:prstClr val="black">
                      <a:lumMod val="50000"/>
                      <a:lumOff val="50000"/>
                    </a:prstClr>
                  </a:solidFill>
                  <a:latin typeface="Arial Black" panose="020B0A04020102020204" pitchFamily="34" charset="0"/>
                  <a:cs typeface="+mn-ea"/>
                  <a:sym typeface="+mn-lt"/>
                </a:rPr>
                <a:t>DRAM vendors can design more resilient DRAM devices by </a:t>
              </a:r>
            </a:p>
            <a:p>
              <a:pPr algn="ctr">
                <a:lnSpc>
                  <a:spcPct val="150000"/>
                </a:lnSpc>
              </a:pPr>
              <a:r>
                <a:rPr lang="en-US" altLang="zh-CN" sz="1600" dirty="0">
                  <a:solidFill>
                    <a:prstClr val="black">
                      <a:lumMod val="50000"/>
                      <a:lumOff val="50000"/>
                    </a:prstClr>
                  </a:solidFill>
                  <a:latin typeface="Arial Black" panose="020B0A04020102020204" pitchFamily="34" charset="0"/>
                  <a:cs typeface="+mn-ea"/>
                  <a:sym typeface="+mn-lt"/>
                </a:rPr>
                <a:t>understanding faults in current devices; processor vendors </a:t>
              </a:r>
            </a:p>
            <a:p>
              <a:pPr algn="ctr">
                <a:lnSpc>
                  <a:spcPct val="150000"/>
                </a:lnSpc>
              </a:pPr>
              <a:r>
                <a:rPr lang="en-US" altLang="zh-CN" sz="1600" dirty="0">
                  <a:solidFill>
                    <a:prstClr val="black">
                      <a:lumMod val="50000"/>
                      <a:lumOff val="50000"/>
                    </a:prstClr>
                  </a:solidFill>
                  <a:latin typeface="Arial Black" panose="020B0A04020102020204" pitchFamily="34" charset="0"/>
                  <a:cs typeface="+mn-ea"/>
                  <a:sym typeface="+mn-lt"/>
                </a:rPr>
                <a:t>can implement a range of ECCs targeting different reliability </a:t>
              </a:r>
            </a:p>
            <a:p>
              <a:pPr algn="ctr">
                <a:lnSpc>
                  <a:spcPct val="150000"/>
                </a:lnSpc>
              </a:pPr>
              <a:r>
                <a:rPr lang="en-US" altLang="zh-CN" sz="1600" dirty="0">
                  <a:solidFill>
                    <a:prstClr val="black">
                      <a:lumMod val="50000"/>
                      <a:lumOff val="50000"/>
                    </a:prstClr>
                  </a:solidFill>
                  <a:latin typeface="Arial Black" panose="020B0A04020102020204" pitchFamily="34" charset="0"/>
                  <a:cs typeface="+mn-ea"/>
                  <a:sym typeface="+mn-lt"/>
                </a:rPr>
                <a:t>levels; system designers can choose which ECCs to use based </a:t>
              </a:r>
            </a:p>
            <a:p>
              <a:pPr algn="ctr">
                <a:lnSpc>
                  <a:spcPct val="150000"/>
                </a:lnSpc>
              </a:pPr>
              <a:r>
                <a:rPr lang="en-US" altLang="zh-CN" sz="1600" dirty="0">
                  <a:solidFill>
                    <a:prstClr val="black">
                      <a:lumMod val="50000"/>
                      <a:lumOff val="50000"/>
                    </a:prstClr>
                  </a:solidFill>
                  <a:latin typeface="Arial Black" panose="020B0A04020102020204" pitchFamily="34" charset="0"/>
                  <a:cs typeface="+mn-ea"/>
                  <a:sym typeface="+mn-lt"/>
                </a:rPr>
                <a:t>on reliability targets for their system; and the industry (e.g., </a:t>
              </a:r>
            </a:p>
            <a:p>
              <a:pPr algn="ctr">
                <a:lnSpc>
                  <a:spcPct val="150000"/>
                </a:lnSpc>
              </a:pPr>
              <a:r>
                <a:rPr lang="en-US" altLang="zh-CN" sz="1600" dirty="0">
                  <a:solidFill>
                    <a:prstClr val="black">
                      <a:lumMod val="50000"/>
                      <a:lumOff val="50000"/>
                    </a:prstClr>
                  </a:solidFill>
                  <a:latin typeface="Arial Black" panose="020B0A04020102020204" pitchFamily="34" charset="0"/>
                  <a:cs typeface="+mn-ea"/>
                  <a:sym typeface="+mn-lt"/>
                </a:rPr>
                <a:t>JEDEC) can influence future DRAM architectures.</a:t>
              </a:r>
              <a:endParaRPr lang="zh-CN" altLang="en-US" sz="1600" dirty="0">
                <a:latin typeface="Arial Black" panose="020B0A04020102020204" pitchFamily="34" charset="0"/>
                <a:cs typeface="+mn-ea"/>
                <a:sym typeface="+mn-lt"/>
              </a:endParaRPr>
            </a:p>
          </p:txBody>
        </p:sp>
      </p:grpSp>
      <p:cxnSp>
        <p:nvCxnSpPr>
          <p:cNvPr id="46" name="直接连接符 45"/>
          <p:cNvCxnSpPr/>
          <p:nvPr/>
        </p:nvCxnSpPr>
        <p:spPr>
          <a:xfrm>
            <a:off x="1427218" y="6263331"/>
            <a:ext cx="940525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2570F781-3274-9E20-077B-5987ECA34186}"/>
              </a:ext>
            </a:extLst>
          </p:cNvPr>
          <p:cNvSpPr txBox="1"/>
          <p:nvPr/>
        </p:nvSpPr>
        <p:spPr>
          <a:xfrm>
            <a:off x="5486400" y="3291739"/>
            <a:ext cx="6115050" cy="646331"/>
          </a:xfrm>
          <a:prstGeom prst="rect">
            <a:avLst/>
          </a:prstGeom>
          <a:noFill/>
        </p:spPr>
        <p:txBody>
          <a:bodyPr wrap="square">
            <a:spAutoFit/>
          </a:bodyPr>
          <a:lstStyle/>
          <a:p>
            <a:r>
              <a:rPr lang="zh-CN" altLang="en-US" dirty="0"/>
              <a:t>需要强</a:t>
            </a:r>
            <a:r>
              <a:rPr lang="en-US" altLang="zh-CN" dirty="0"/>
              <a:t>ECC</a:t>
            </a:r>
            <a:r>
              <a:rPr lang="zh-CN" altLang="en-US" dirty="0"/>
              <a:t>、面临持续的内存可靠性挑战、</a:t>
            </a:r>
            <a:r>
              <a:rPr lang="en-US" altLang="zh-CN" dirty="0" err="1"/>
              <a:t>Chipkill</a:t>
            </a:r>
            <a:r>
              <a:rPr lang="en-US" altLang="zh-CN" dirty="0"/>
              <a:t> ECC</a:t>
            </a:r>
            <a:r>
              <a:rPr lang="zh-CN" altLang="en-US" dirty="0"/>
              <a:t>仍有效</a:t>
            </a:r>
          </a:p>
        </p:txBody>
      </p:sp>
      <p:sp>
        <p:nvSpPr>
          <p:cNvPr id="60" name="文本框 59">
            <a:extLst>
              <a:ext uri="{FF2B5EF4-FFF2-40B4-BE49-F238E27FC236}">
                <a16:creationId xmlns:a16="http://schemas.microsoft.com/office/drawing/2014/main" id="{0DFD099B-A5D4-0DB7-6311-1A2692D52E1D}"/>
              </a:ext>
            </a:extLst>
          </p:cNvPr>
          <p:cNvSpPr txBox="1"/>
          <p:nvPr/>
        </p:nvSpPr>
        <p:spPr>
          <a:xfrm>
            <a:off x="8648547" y="4911633"/>
            <a:ext cx="2893219" cy="923330"/>
          </a:xfrm>
          <a:prstGeom prst="rect">
            <a:avLst/>
          </a:prstGeom>
          <a:noFill/>
        </p:spPr>
        <p:txBody>
          <a:bodyPr wrap="square">
            <a:spAutoFit/>
          </a:bodyPr>
          <a:lstStyle/>
          <a:p>
            <a:r>
              <a:rPr lang="zh-CN" altLang="en-US" dirty="0"/>
              <a:t>希望推动行业继续提高</a:t>
            </a:r>
            <a:r>
              <a:rPr lang="en-US" altLang="zh-CN" dirty="0"/>
              <a:t>DRAM</a:t>
            </a:r>
            <a:r>
              <a:rPr lang="zh-CN" altLang="en-US" dirty="0"/>
              <a:t>可靠性，确保其适用于关键任务服务器应用</a:t>
            </a:r>
          </a:p>
        </p:txBody>
      </p:sp>
    </p:spTree>
  </p:cSld>
  <p:clrMapOvr>
    <a:masterClrMapping/>
  </p:clrMapOvr>
  <p:transition spd="slow" advClick="0" advTm="0">
    <p:fad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par>
                              <p:cTn id="11" fill="hold">
                                <p:stCondLst>
                                  <p:cond delay="500"/>
                                </p:stCondLst>
                                <p:childTnLst>
                                  <p:par>
                                    <p:cTn id="12" presetID="2" presetClass="entr" presetSubtype="2" accel="70000" fill="hold" grpId="0" nodeType="afterEffect" p14:presetBounceEnd="50000">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14:bounceEnd="50000">
                                          <p:cBhvr additive="base">
                                            <p:cTn id="14" dur="500" fill="hold"/>
                                            <p:tgtEl>
                                              <p:spTgt spid="7"/>
                                            </p:tgtEl>
                                            <p:attrNameLst>
                                              <p:attrName>ppt_x</p:attrName>
                                            </p:attrNameLst>
                                          </p:cBhvr>
                                          <p:tavLst>
                                            <p:tav tm="0">
                                              <p:val>
                                                <p:strVal val="1+#ppt_w/2"/>
                                              </p:val>
                                            </p:tav>
                                            <p:tav tm="100000">
                                              <p:val>
                                                <p:strVal val="#ppt_x"/>
                                              </p:val>
                                            </p:tav>
                                          </p:tavLst>
                                        </p:anim>
                                        <p:anim calcmode="lin" valueType="num" p14:bounceEnd="50000">
                                          <p:cBhvr additive="base">
                                            <p:cTn id="15" dur="500" fill="hold"/>
                                            <p:tgtEl>
                                              <p:spTgt spid="7"/>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16" presetClass="entr" presetSubtype="37" fill="hold" grpId="0" nodeType="afterEffect">
                                      <p:stCondLst>
                                        <p:cond delay="300"/>
                                      </p:stCondLst>
                                      <p:childTnLst>
                                        <p:set>
                                          <p:cBhvr>
                                            <p:cTn id="18" dur="1" fill="hold">
                                              <p:stCondLst>
                                                <p:cond delay="0"/>
                                              </p:stCondLst>
                                            </p:cTn>
                                            <p:tgtEl>
                                              <p:spTgt spid="14"/>
                                            </p:tgtEl>
                                            <p:attrNameLst>
                                              <p:attrName>style.visibility</p:attrName>
                                            </p:attrNameLst>
                                          </p:cBhvr>
                                          <p:to>
                                            <p:strVal val="visible"/>
                                          </p:to>
                                        </p:set>
                                        <p:animEffect transition="in" filter="barn(outVertical)">
                                          <p:cBhvr>
                                            <p:cTn id="19" dur="700"/>
                                            <p:tgtEl>
                                              <p:spTgt spid="14"/>
                                            </p:tgtEl>
                                          </p:cBhvr>
                                        </p:animEffect>
                                      </p:childTnLst>
                                    </p:cTn>
                                  </p:par>
                                </p:childTnLst>
                              </p:cTn>
                            </p:par>
                            <p:par>
                              <p:cTn id="20" fill="hold">
                                <p:stCondLst>
                                  <p:cond delay="2000"/>
                                </p:stCondLst>
                                <p:childTnLst>
                                  <p:par>
                                    <p:cTn id="21" presetID="53" presetClass="entr" presetSubtype="16"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p:cTn id="23" dur="300" fill="hold"/>
                                            <p:tgtEl>
                                              <p:spTgt spid="20"/>
                                            </p:tgtEl>
                                            <p:attrNameLst>
                                              <p:attrName>ppt_w</p:attrName>
                                            </p:attrNameLst>
                                          </p:cBhvr>
                                          <p:tavLst>
                                            <p:tav tm="0">
                                              <p:val>
                                                <p:fltVal val="0"/>
                                              </p:val>
                                            </p:tav>
                                            <p:tav tm="100000">
                                              <p:val>
                                                <p:strVal val="#ppt_w"/>
                                              </p:val>
                                            </p:tav>
                                          </p:tavLst>
                                        </p:anim>
                                        <p:anim calcmode="lin" valueType="num">
                                          <p:cBhvr>
                                            <p:cTn id="24" dur="300" fill="hold"/>
                                            <p:tgtEl>
                                              <p:spTgt spid="20"/>
                                            </p:tgtEl>
                                            <p:attrNameLst>
                                              <p:attrName>ppt_h</p:attrName>
                                            </p:attrNameLst>
                                          </p:cBhvr>
                                          <p:tavLst>
                                            <p:tav tm="0">
                                              <p:val>
                                                <p:fltVal val="0"/>
                                              </p:val>
                                            </p:tav>
                                            <p:tav tm="100000">
                                              <p:val>
                                                <p:strVal val="#ppt_h"/>
                                              </p:val>
                                            </p:tav>
                                          </p:tavLst>
                                        </p:anim>
                                        <p:animEffect transition="in" filter="fade">
                                          <p:cBhvr>
                                            <p:cTn id="25" dur="300"/>
                                            <p:tgtEl>
                                              <p:spTgt spid="20"/>
                                            </p:tgtEl>
                                          </p:cBhvr>
                                        </p:animEffect>
                                      </p:childTnLst>
                                    </p:cTn>
                                  </p:par>
                                </p:childTnLst>
                              </p:cTn>
                            </p:par>
                            <p:par>
                              <p:cTn id="26" fill="hold">
                                <p:stCondLst>
                                  <p:cond delay="2300"/>
                                </p:stCondLst>
                                <p:childTnLst>
                                  <p:par>
                                    <p:cTn id="27" presetID="32" presetClass="emph" presetSubtype="0" fill="hold" nodeType="afterEffect">
                                      <p:stCondLst>
                                        <p:cond delay="0"/>
                                      </p:stCondLst>
                                      <p:childTnLst>
                                        <p:animRot by="120000">
                                          <p:cBhvr>
                                            <p:cTn id="28" dur="50" fill="hold">
                                              <p:stCondLst>
                                                <p:cond delay="0"/>
                                              </p:stCondLst>
                                            </p:cTn>
                                            <p:tgtEl>
                                              <p:spTgt spid="20"/>
                                            </p:tgtEl>
                                            <p:attrNameLst>
                                              <p:attrName>r</p:attrName>
                                            </p:attrNameLst>
                                          </p:cBhvr>
                                        </p:animRot>
                                        <p:animRot by="-240000">
                                          <p:cBhvr>
                                            <p:cTn id="29" dur="100" fill="hold">
                                              <p:stCondLst>
                                                <p:cond delay="100"/>
                                              </p:stCondLst>
                                            </p:cTn>
                                            <p:tgtEl>
                                              <p:spTgt spid="20"/>
                                            </p:tgtEl>
                                            <p:attrNameLst>
                                              <p:attrName>r</p:attrName>
                                            </p:attrNameLst>
                                          </p:cBhvr>
                                        </p:animRot>
                                        <p:animRot by="240000">
                                          <p:cBhvr>
                                            <p:cTn id="30" dur="100" fill="hold">
                                              <p:stCondLst>
                                                <p:cond delay="200"/>
                                              </p:stCondLst>
                                            </p:cTn>
                                            <p:tgtEl>
                                              <p:spTgt spid="20"/>
                                            </p:tgtEl>
                                            <p:attrNameLst>
                                              <p:attrName>r</p:attrName>
                                            </p:attrNameLst>
                                          </p:cBhvr>
                                        </p:animRot>
                                        <p:animRot by="-240000">
                                          <p:cBhvr>
                                            <p:cTn id="31" dur="100" fill="hold">
                                              <p:stCondLst>
                                                <p:cond delay="300"/>
                                              </p:stCondLst>
                                            </p:cTn>
                                            <p:tgtEl>
                                              <p:spTgt spid="20"/>
                                            </p:tgtEl>
                                            <p:attrNameLst>
                                              <p:attrName>r</p:attrName>
                                            </p:attrNameLst>
                                          </p:cBhvr>
                                        </p:animRot>
                                        <p:animRot by="120000">
                                          <p:cBhvr>
                                            <p:cTn id="32" dur="100" fill="hold">
                                              <p:stCondLst>
                                                <p:cond delay="400"/>
                                              </p:stCondLst>
                                            </p:cTn>
                                            <p:tgtEl>
                                              <p:spTgt spid="20"/>
                                            </p:tgtEl>
                                            <p:attrNameLst>
                                              <p:attrName>r</p:attrName>
                                            </p:attrNameLst>
                                          </p:cBhvr>
                                        </p:animRot>
                                      </p:childTnLst>
                                    </p:cTn>
                                  </p:par>
                                </p:childTnLst>
                              </p:cTn>
                            </p:par>
                            <p:par>
                              <p:cTn id="33" fill="hold">
                                <p:stCondLst>
                                  <p:cond delay="2800"/>
                                </p:stCondLst>
                                <p:childTnLst>
                                  <p:par>
                                    <p:cTn id="34" presetID="37" presetClass="entr" presetSubtype="0" fill="hold" nodeType="after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fade">
                                          <p:cBhvr>
                                            <p:cTn id="36" dur="500"/>
                                            <p:tgtEl>
                                              <p:spTgt spid="41"/>
                                            </p:tgtEl>
                                          </p:cBhvr>
                                        </p:animEffect>
                                        <p:anim calcmode="lin" valueType="num">
                                          <p:cBhvr>
                                            <p:cTn id="37" dur="500" fill="hold"/>
                                            <p:tgtEl>
                                              <p:spTgt spid="41"/>
                                            </p:tgtEl>
                                            <p:attrNameLst>
                                              <p:attrName>ppt_x</p:attrName>
                                            </p:attrNameLst>
                                          </p:cBhvr>
                                          <p:tavLst>
                                            <p:tav tm="0">
                                              <p:val>
                                                <p:strVal val="#ppt_x"/>
                                              </p:val>
                                            </p:tav>
                                            <p:tav tm="100000">
                                              <p:val>
                                                <p:strVal val="#ppt_x"/>
                                              </p:val>
                                            </p:tav>
                                          </p:tavLst>
                                        </p:anim>
                                        <p:anim calcmode="lin" valueType="num">
                                          <p:cBhvr>
                                            <p:cTn id="38" dur="450" decel="100000" fill="hold"/>
                                            <p:tgtEl>
                                              <p:spTgt spid="41"/>
                                            </p:tgtEl>
                                            <p:attrNameLst>
                                              <p:attrName>ppt_y</p:attrName>
                                            </p:attrNameLst>
                                          </p:cBhvr>
                                          <p:tavLst>
                                            <p:tav tm="0">
                                              <p:val>
                                                <p:strVal val="#ppt_y+1"/>
                                              </p:val>
                                            </p:tav>
                                            <p:tav tm="100000">
                                              <p:val>
                                                <p:strVal val="#ppt_y-.03"/>
                                              </p:val>
                                            </p:tav>
                                          </p:tavLst>
                                        </p:anim>
                                        <p:anim calcmode="lin" valueType="num">
                                          <p:cBhvr>
                                            <p:cTn id="39" dur="50" accel="100000" fill="hold">
                                              <p:stCondLst>
                                                <p:cond delay="450"/>
                                              </p:stCondLst>
                                            </p:cTn>
                                            <p:tgtEl>
                                              <p:spTgt spid="41"/>
                                            </p:tgtEl>
                                            <p:attrNameLst>
                                              <p:attrName>ppt_y</p:attrName>
                                            </p:attrNameLst>
                                          </p:cBhvr>
                                          <p:tavLst>
                                            <p:tav tm="0">
                                              <p:val>
                                                <p:strVal val="#ppt_y-.03"/>
                                              </p:val>
                                            </p:tav>
                                            <p:tav tm="100000">
                                              <p:val>
                                                <p:strVal val="#ppt_y"/>
                                              </p:val>
                                            </p:tav>
                                          </p:tavLst>
                                        </p:anim>
                                      </p:childTnLst>
                                    </p:cTn>
                                  </p:par>
                                </p:childTnLst>
                              </p:cTn>
                            </p:par>
                            <p:par>
                              <p:cTn id="40" fill="hold">
                                <p:stCondLst>
                                  <p:cond delay="3300"/>
                                </p:stCondLst>
                                <p:childTnLst>
                                  <p:par>
                                    <p:cTn id="41" presetID="16" presetClass="entr" presetSubtype="37" fill="hold" nodeType="afterEffect">
                                      <p:stCondLst>
                                        <p:cond delay="200"/>
                                      </p:stCondLst>
                                      <p:childTnLst>
                                        <p:set>
                                          <p:cBhvr>
                                            <p:cTn id="42" dur="1" fill="hold">
                                              <p:stCondLst>
                                                <p:cond delay="0"/>
                                              </p:stCondLst>
                                            </p:cTn>
                                            <p:tgtEl>
                                              <p:spTgt spid="43"/>
                                            </p:tgtEl>
                                            <p:attrNameLst>
                                              <p:attrName>style.visibility</p:attrName>
                                            </p:attrNameLst>
                                          </p:cBhvr>
                                          <p:to>
                                            <p:strVal val="visible"/>
                                          </p:to>
                                        </p:set>
                                        <p:animEffect transition="in" filter="barn(outVertical)">
                                          <p:cBhvr>
                                            <p:cTn id="43" dur="500"/>
                                            <p:tgtEl>
                                              <p:spTgt spid="43"/>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p:cTn id="47" dur="300" fill="hold"/>
                                            <p:tgtEl>
                                              <p:spTgt spid="15"/>
                                            </p:tgtEl>
                                            <p:attrNameLst>
                                              <p:attrName>ppt_w</p:attrName>
                                            </p:attrNameLst>
                                          </p:cBhvr>
                                          <p:tavLst>
                                            <p:tav tm="0">
                                              <p:val>
                                                <p:fltVal val="0"/>
                                              </p:val>
                                            </p:tav>
                                            <p:tav tm="100000">
                                              <p:val>
                                                <p:strVal val="#ppt_w"/>
                                              </p:val>
                                            </p:tav>
                                          </p:tavLst>
                                        </p:anim>
                                        <p:anim calcmode="lin" valueType="num">
                                          <p:cBhvr>
                                            <p:cTn id="48" dur="300" fill="hold"/>
                                            <p:tgtEl>
                                              <p:spTgt spid="15"/>
                                            </p:tgtEl>
                                            <p:attrNameLst>
                                              <p:attrName>ppt_h</p:attrName>
                                            </p:attrNameLst>
                                          </p:cBhvr>
                                          <p:tavLst>
                                            <p:tav tm="0">
                                              <p:val>
                                                <p:fltVal val="0"/>
                                              </p:val>
                                            </p:tav>
                                            <p:tav tm="100000">
                                              <p:val>
                                                <p:strVal val="#ppt_h"/>
                                              </p:val>
                                            </p:tav>
                                          </p:tavLst>
                                        </p:anim>
                                        <p:animEffect transition="in" filter="fade">
                                          <p:cBhvr>
                                            <p:cTn id="49" dur="300"/>
                                            <p:tgtEl>
                                              <p:spTgt spid="15"/>
                                            </p:tgtEl>
                                          </p:cBhvr>
                                        </p:animEffect>
                                      </p:childTnLst>
                                    </p:cTn>
                                  </p:par>
                                </p:childTnLst>
                              </p:cTn>
                            </p:par>
                            <p:par>
                              <p:cTn id="50" fill="hold">
                                <p:stCondLst>
                                  <p:cond delay="4300"/>
                                </p:stCondLst>
                                <p:childTnLst>
                                  <p:par>
                                    <p:cTn id="51" presetID="32" presetClass="emph" presetSubtype="0" fill="hold" nodeType="afterEffect">
                                      <p:stCondLst>
                                        <p:cond delay="0"/>
                                      </p:stCondLst>
                                      <p:childTnLst>
                                        <p:animRot by="120000">
                                          <p:cBhvr>
                                            <p:cTn id="52" dur="50" fill="hold">
                                              <p:stCondLst>
                                                <p:cond delay="0"/>
                                              </p:stCondLst>
                                            </p:cTn>
                                            <p:tgtEl>
                                              <p:spTgt spid="15"/>
                                            </p:tgtEl>
                                            <p:attrNameLst>
                                              <p:attrName>r</p:attrName>
                                            </p:attrNameLst>
                                          </p:cBhvr>
                                        </p:animRot>
                                        <p:animRot by="-240000">
                                          <p:cBhvr>
                                            <p:cTn id="53" dur="100" fill="hold">
                                              <p:stCondLst>
                                                <p:cond delay="100"/>
                                              </p:stCondLst>
                                            </p:cTn>
                                            <p:tgtEl>
                                              <p:spTgt spid="15"/>
                                            </p:tgtEl>
                                            <p:attrNameLst>
                                              <p:attrName>r</p:attrName>
                                            </p:attrNameLst>
                                          </p:cBhvr>
                                        </p:animRot>
                                        <p:animRot by="240000">
                                          <p:cBhvr>
                                            <p:cTn id="54" dur="100" fill="hold">
                                              <p:stCondLst>
                                                <p:cond delay="200"/>
                                              </p:stCondLst>
                                            </p:cTn>
                                            <p:tgtEl>
                                              <p:spTgt spid="15"/>
                                            </p:tgtEl>
                                            <p:attrNameLst>
                                              <p:attrName>r</p:attrName>
                                            </p:attrNameLst>
                                          </p:cBhvr>
                                        </p:animRot>
                                        <p:animRot by="-240000">
                                          <p:cBhvr>
                                            <p:cTn id="55" dur="100" fill="hold">
                                              <p:stCondLst>
                                                <p:cond delay="300"/>
                                              </p:stCondLst>
                                            </p:cTn>
                                            <p:tgtEl>
                                              <p:spTgt spid="15"/>
                                            </p:tgtEl>
                                            <p:attrNameLst>
                                              <p:attrName>r</p:attrName>
                                            </p:attrNameLst>
                                          </p:cBhvr>
                                        </p:animRot>
                                        <p:animRot by="120000">
                                          <p:cBhvr>
                                            <p:cTn id="56" dur="100" fill="hold">
                                              <p:stCondLst>
                                                <p:cond delay="400"/>
                                              </p:stCondLst>
                                            </p:cTn>
                                            <p:tgtEl>
                                              <p:spTgt spid="15"/>
                                            </p:tgtEl>
                                            <p:attrNameLst>
                                              <p:attrName>r</p:attrName>
                                            </p:attrNameLst>
                                          </p:cBhvr>
                                        </p:animRot>
                                      </p:childTnLst>
                                    </p:cTn>
                                  </p:par>
                                </p:childTnLst>
                              </p:cTn>
                            </p:par>
                            <p:par>
                              <p:cTn id="57" fill="hold">
                                <p:stCondLst>
                                  <p:cond delay="4800"/>
                                </p:stCondLst>
                                <p:childTnLst>
                                  <p:par>
                                    <p:cTn id="58" presetID="37" presetClass="entr" presetSubtype="0" fill="hold" nodeType="after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fade">
                                          <p:cBhvr>
                                            <p:cTn id="60" dur="500"/>
                                            <p:tgtEl>
                                              <p:spTgt spid="42"/>
                                            </p:tgtEl>
                                          </p:cBhvr>
                                        </p:animEffect>
                                        <p:anim calcmode="lin" valueType="num">
                                          <p:cBhvr>
                                            <p:cTn id="61" dur="500" fill="hold"/>
                                            <p:tgtEl>
                                              <p:spTgt spid="42"/>
                                            </p:tgtEl>
                                            <p:attrNameLst>
                                              <p:attrName>ppt_x</p:attrName>
                                            </p:attrNameLst>
                                          </p:cBhvr>
                                          <p:tavLst>
                                            <p:tav tm="0">
                                              <p:val>
                                                <p:strVal val="#ppt_x"/>
                                              </p:val>
                                            </p:tav>
                                            <p:tav tm="100000">
                                              <p:val>
                                                <p:strVal val="#ppt_x"/>
                                              </p:val>
                                            </p:tav>
                                          </p:tavLst>
                                        </p:anim>
                                        <p:anim calcmode="lin" valueType="num">
                                          <p:cBhvr>
                                            <p:cTn id="62" dur="450" decel="100000" fill="hold"/>
                                            <p:tgtEl>
                                              <p:spTgt spid="42"/>
                                            </p:tgtEl>
                                            <p:attrNameLst>
                                              <p:attrName>ppt_y</p:attrName>
                                            </p:attrNameLst>
                                          </p:cBhvr>
                                          <p:tavLst>
                                            <p:tav tm="0">
                                              <p:val>
                                                <p:strVal val="#ppt_y+1"/>
                                              </p:val>
                                            </p:tav>
                                            <p:tav tm="100000">
                                              <p:val>
                                                <p:strVal val="#ppt_y-.03"/>
                                              </p:val>
                                            </p:tav>
                                          </p:tavLst>
                                        </p:anim>
                                        <p:anim calcmode="lin" valueType="num">
                                          <p:cBhvr>
                                            <p:cTn id="63" dur="50" accel="100000" fill="hold">
                                              <p:stCondLst>
                                                <p:cond delay="450"/>
                                              </p:stCondLst>
                                            </p:cTn>
                                            <p:tgtEl>
                                              <p:spTgt spid="42"/>
                                            </p:tgtEl>
                                            <p:attrNameLst>
                                              <p:attrName>ppt_y</p:attrName>
                                            </p:attrNameLst>
                                          </p:cBhvr>
                                          <p:tavLst>
                                            <p:tav tm="0">
                                              <p:val>
                                                <p:strVal val="#ppt_y-.03"/>
                                              </p:val>
                                            </p:tav>
                                            <p:tav tm="100000">
                                              <p:val>
                                                <p:strVal val="#ppt_y"/>
                                              </p:val>
                                            </p:tav>
                                          </p:tavLst>
                                        </p:anim>
                                      </p:childTnLst>
                                    </p:cTn>
                                  </p:par>
                                </p:childTnLst>
                              </p:cTn>
                            </p:par>
                            <p:par>
                              <p:cTn id="64" fill="hold">
                                <p:stCondLst>
                                  <p:cond delay="5300"/>
                                </p:stCondLst>
                                <p:childTnLst>
                                  <p:par>
                                    <p:cTn id="65" presetID="22" presetClass="entr" presetSubtype="8" fill="hold" nodeType="after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wipe(left)">
                                          <p:cBhvr>
                                            <p:cTn id="67" dur="8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par>
                              <p:cTn id="11" fill="hold">
                                <p:stCondLst>
                                  <p:cond delay="500"/>
                                </p:stCondLst>
                                <p:childTnLst>
                                  <p:par>
                                    <p:cTn id="12" presetID="2" presetClass="entr" presetSubtype="2" accel="7000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1+#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16" presetClass="entr" presetSubtype="37" fill="hold" grpId="0" nodeType="afterEffect">
                                      <p:stCondLst>
                                        <p:cond delay="300"/>
                                      </p:stCondLst>
                                      <p:childTnLst>
                                        <p:set>
                                          <p:cBhvr>
                                            <p:cTn id="18" dur="1" fill="hold">
                                              <p:stCondLst>
                                                <p:cond delay="0"/>
                                              </p:stCondLst>
                                            </p:cTn>
                                            <p:tgtEl>
                                              <p:spTgt spid="14"/>
                                            </p:tgtEl>
                                            <p:attrNameLst>
                                              <p:attrName>style.visibility</p:attrName>
                                            </p:attrNameLst>
                                          </p:cBhvr>
                                          <p:to>
                                            <p:strVal val="visible"/>
                                          </p:to>
                                        </p:set>
                                        <p:animEffect transition="in" filter="barn(outVertical)">
                                          <p:cBhvr>
                                            <p:cTn id="19" dur="700"/>
                                            <p:tgtEl>
                                              <p:spTgt spid="14"/>
                                            </p:tgtEl>
                                          </p:cBhvr>
                                        </p:animEffect>
                                      </p:childTnLst>
                                    </p:cTn>
                                  </p:par>
                                </p:childTnLst>
                              </p:cTn>
                            </p:par>
                            <p:par>
                              <p:cTn id="20" fill="hold">
                                <p:stCondLst>
                                  <p:cond delay="2000"/>
                                </p:stCondLst>
                                <p:childTnLst>
                                  <p:par>
                                    <p:cTn id="21" presetID="53" presetClass="entr" presetSubtype="16"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p:cTn id="23" dur="300" fill="hold"/>
                                            <p:tgtEl>
                                              <p:spTgt spid="20"/>
                                            </p:tgtEl>
                                            <p:attrNameLst>
                                              <p:attrName>ppt_w</p:attrName>
                                            </p:attrNameLst>
                                          </p:cBhvr>
                                          <p:tavLst>
                                            <p:tav tm="0">
                                              <p:val>
                                                <p:fltVal val="0"/>
                                              </p:val>
                                            </p:tav>
                                            <p:tav tm="100000">
                                              <p:val>
                                                <p:strVal val="#ppt_w"/>
                                              </p:val>
                                            </p:tav>
                                          </p:tavLst>
                                        </p:anim>
                                        <p:anim calcmode="lin" valueType="num">
                                          <p:cBhvr>
                                            <p:cTn id="24" dur="300" fill="hold"/>
                                            <p:tgtEl>
                                              <p:spTgt spid="20"/>
                                            </p:tgtEl>
                                            <p:attrNameLst>
                                              <p:attrName>ppt_h</p:attrName>
                                            </p:attrNameLst>
                                          </p:cBhvr>
                                          <p:tavLst>
                                            <p:tav tm="0">
                                              <p:val>
                                                <p:fltVal val="0"/>
                                              </p:val>
                                            </p:tav>
                                            <p:tav tm="100000">
                                              <p:val>
                                                <p:strVal val="#ppt_h"/>
                                              </p:val>
                                            </p:tav>
                                          </p:tavLst>
                                        </p:anim>
                                        <p:animEffect transition="in" filter="fade">
                                          <p:cBhvr>
                                            <p:cTn id="25" dur="300"/>
                                            <p:tgtEl>
                                              <p:spTgt spid="20"/>
                                            </p:tgtEl>
                                          </p:cBhvr>
                                        </p:animEffect>
                                      </p:childTnLst>
                                    </p:cTn>
                                  </p:par>
                                </p:childTnLst>
                              </p:cTn>
                            </p:par>
                            <p:par>
                              <p:cTn id="26" fill="hold">
                                <p:stCondLst>
                                  <p:cond delay="2300"/>
                                </p:stCondLst>
                                <p:childTnLst>
                                  <p:par>
                                    <p:cTn id="27" presetID="32" presetClass="emph" presetSubtype="0" fill="hold" nodeType="afterEffect">
                                      <p:stCondLst>
                                        <p:cond delay="0"/>
                                      </p:stCondLst>
                                      <p:childTnLst>
                                        <p:animRot by="120000">
                                          <p:cBhvr>
                                            <p:cTn id="28" dur="50" fill="hold">
                                              <p:stCondLst>
                                                <p:cond delay="0"/>
                                              </p:stCondLst>
                                            </p:cTn>
                                            <p:tgtEl>
                                              <p:spTgt spid="20"/>
                                            </p:tgtEl>
                                            <p:attrNameLst>
                                              <p:attrName>r</p:attrName>
                                            </p:attrNameLst>
                                          </p:cBhvr>
                                        </p:animRot>
                                        <p:animRot by="-240000">
                                          <p:cBhvr>
                                            <p:cTn id="29" dur="100" fill="hold">
                                              <p:stCondLst>
                                                <p:cond delay="100"/>
                                              </p:stCondLst>
                                            </p:cTn>
                                            <p:tgtEl>
                                              <p:spTgt spid="20"/>
                                            </p:tgtEl>
                                            <p:attrNameLst>
                                              <p:attrName>r</p:attrName>
                                            </p:attrNameLst>
                                          </p:cBhvr>
                                        </p:animRot>
                                        <p:animRot by="240000">
                                          <p:cBhvr>
                                            <p:cTn id="30" dur="100" fill="hold">
                                              <p:stCondLst>
                                                <p:cond delay="200"/>
                                              </p:stCondLst>
                                            </p:cTn>
                                            <p:tgtEl>
                                              <p:spTgt spid="20"/>
                                            </p:tgtEl>
                                            <p:attrNameLst>
                                              <p:attrName>r</p:attrName>
                                            </p:attrNameLst>
                                          </p:cBhvr>
                                        </p:animRot>
                                        <p:animRot by="-240000">
                                          <p:cBhvr>
                                            <p:cTn id="31" dur="100" fill="hold">
                                              <p:stCondLst>
                                                <p:cond delay="300"/>
                                              </p:stCondLst>
                                            </p:cTn>
                                            <p:tgtEl>
                                              <p:spTgt spid="20"/>
                                            </p:tgtEl>
                                            <p:attrNameLst>
                                              <p:attrName>r</p:attrName>
                                            </p:attrNameLst>
                                          </p:cBhvr>
                                        </p:animRot>
                                        <p:animRot by="120000">
                                          <p:cBhvr>
                                            <p:cTn id="32" dur="100" fill="hold">
                                              <p:stCondLst>
                                                <p:cond delay="400"/>
                                              </p:stCondLst>
                                            </p:cTn>
                                            <p:tgtEl>
                                              <p:spTgt spid="20"/>
                                            </p:tgtEl>
                                            <p:attrNameLst>
                                              <p:attrName>r</p:attrName>
                                            </p:attrNameLst>
                                          </p:cBhvr>
                                        </p:animRot>
                                      </p:childTnLst>
                                    </p:cTn>
                                  </p:par>
                                </p:childTnLst>
                              </p:cTn>
                            </p:par>
                            <p:par>
                              <p:cTn id="33" fill="hold">
                                <p:stCondLst>
                                  <p:cond delay="2800"/>
                                </p:stCondLst>
                                <p:childTnLst>
                                  <p:par>
                                    <p:cTn id="34" presetID="37" presetClass="entr" presetSubtype="0" fill="hold" nodeType="after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fade">
                                          <p:cBhvr>
                                            <p:cTn id="36" dur="500"/>
                                            <p:tgtEl>
                                              <p:spTgt spid="41"/>
                                            </p:tgtEl>
                                          </p:cBhvr>
                                        </p:animEffect>
                                        <p:anim calcmode="lin" valueType="num">
                                          <p:cBhvr>
                                            <p:cTn id="37" dur="500" fill="hold"/>
                                            <p:tgtEl>
                                              <p:spTgt spid="41"/>
                                            </p:tgtEl>
                                            <p:attrNameLst>
                                              <p:attrName>ppt_x</p:attrName>
                                            </p:attrNameLst>
                                          </p:cBhvr>
                                          <p:tavLst>
                                            <p:tav tm="0">
                                              <p:val>
                                                <p:strVal val="#ppt_x"/>
                                              </p:val>
                                            </p:tav>
                                            <p:tav tm="100000">
                                              <p:val>
                                                <p:strVal val="#ppt_x"/>
                                              </p:val>
                                            </p:tav>
                                          </p:tavLst>
                                        </p:anim>
                                        <p:anim calcmode="lin" valueType="num">
                                          <p:cBhvr>
                                            <p:cTn id="38" dur="450" decel="100000" fill="hold"/>
                                            <p:tgtEl>
                                              <p:spTgt spid="41"/>
                                            </p:tgtEl>
                                            <p:attrNameLst>
                                              <p:attrName>ppt_y</p:attrName>
                                            </p:attrNameLst>
                                          </p:cBhvr>
                                          <p:tavLst>
                                            <p:tav tm="0">
                                              <p:val>
                                                <p:strVal val="#ppt_y+1"/>
                                              </p:val>
                                            </p:tav>
                                            <p:tav tm="100000">
                                              <p:val>
                                                <p:strVal val="#ppt_y-.03"/>
                                              </p:val>
                                            </p:tav>
                                          </p:tavLst>
                                        </p:anim>
                                        <p:anim calcmode="lin" valueType="num">
                                          <p:cBhvr>
                                            <p:cTn id="39" dur="50" accel="100000" fill="hold">
                                              <p:stCondLst>
                                                <p:cond delay="450"/>
                                              </p:stCondLst>
                                            </p:cTn>
                                            <p:tgtEl>
                                              <p:spTgt spid="41"/>
                                            </p:tgtEl>
                                            <p:attrNameLst>
                                              <p:attrName>ppt_y</p:attrName>
                                            </p:attrNameLst>
                                          </p:cBhvr>
                                          <p:tavLst>
                                            <p:tav tm="0">
                                              <p:val>
                                                <p:strVal val="#ppt_y-.03"/>
                                              </p:val>
                                            </p:tav>
                                            <p:tav tm="100000">
                                              <p:val>
                                                <p:strVal val="#ppt_y"/>
                                              </p:val>
                                            </p:tav>
                                          </p:tavLst>
                                        </p:anim>
                                      </p:childTnLst>
                                    </p:cTn>
                                  </p:par>
                                </p:childTnLst>
                              </p:cTn>
                            </p:par>
                            <p:par>
                              <p:cTn id="40" fill="hold">
                                <p:stCondLst>
                                  <p:cond delay="3300"/>
                                </p:stCondLst>
                                <p:childTnLst>
                                  <p:par>
                                    <p:cTn id="41" presetID="16" presetClass="entr" presetSubtype="37" fill="hold" nodeType="afterEffect">
                                      <p:stCondLst>
                                        <p:cond delay="200"/>
                                      </p:stCondLst>
                                      <p:childTnLst>
                                        <p:set>
                                          <p:cBhvr>
                                            <p:cTn id="42" dur="1" fill="hold">
                                              <p:stCondLst>
                                                <p:cond delay="0"/>
                                              </p:stCondLst>
                                            </p:cTn>
                                            <p:tgtEl>
                                              <p:spTgt spid="43"/>
                                            </p:tgtEl>
                                            <p:attrNameLst>
                                              <p:attrName>style.visibility</p:attrName>
                                            </p:attrNameLst>
                                          </p:cBhvr>
                                          <p:to>
                                            <p:strVal val="visible"/>
                                          </p:to>
                                        </p:set>
                                        <p:animEffect transition="in" filter="barn(outVertical)">
                                          <p:cBhvr>
                                            <p:cTn id="43" dur="500"/>
                                            <p:tgtEl>
                                              <p:spTgt spid="43"/>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p:cTn id="47" dur="300" fill="hold"/>
                                            <p:tgtEl>
                                              <p:spTgt spid="15"/>
                                            </p:tgtEl>
                                            <p:attrNameLst>
                                              <p:attrName>ppt_w</p:attrName>
                                            </p:attrNameLst>
                                          </p:cBhvr>
                                          <p:tavLst>
                                            <p:tav tm="0">
                                              <p:val>
                                                <p:fltVal val="0"/>
                                              </p:val>
                                            </p:tav>
                                            <p:tav tm="100000">
                                              <p:val>
                                                <p:strVal val="#ppt_w"/>
                                              </p:val>
                                            </p:tav>
                                          </p:tavLst>
                                        </p:anim>
                                        <p:anim calcmode="lin" valueType="num">
                                          <p:cBhvr>
                                            <p:cTn id="48" dur="300" fill="hold"/>
                                            <p:tgtEl>
                                              <p:spTgt spid="15"/>
                                            </p:tgtEl>
                                            <p:attrNameLst>
                                              <p:attrName>ppt_h</p:attrName>
                                            </p:attrNameLst>
                                          </p:cBhvr>
                                          <p:tavLst>
                                            <p:tav tm="0">
                                              <p:val>
                                                <p:fltVal val="0"/>
                                              </p:val>
                                            </p:tav>
                                            <p:tav tm="100000">
                                              <p:val>
                                                <p:strVal val="#ppt_h"/>
                                              </p:val>
                                            </p:tav>
                                          </p:tavLst>
                                        </p:anim>
                                        <p:animEffect transition="in" filter="fade">
                                          <p:cBhvr>
                                            <p:cTn id="49" dur="300"/>
                                            <p:tgtEl>
                                              <p:spTgt spid="15"/>
                                            </p:tgtEl>
                                          </p:cBhvr>
                                        </p:animEffect>
                                      </p:childTnLst>
                                    </p:cTn>
                                  </p:par>
                                </p:childTnLst>
                              </p:cTn>
                            </p:par>
                            <p:par>
                              <p:cTn id="50" fill="hold">
                                <p:stCondLst>
                                  <p:cond delay="4300"/>
                                </p:stCondLst>
                                <p:childTnLst>
                                  <p:par>
                                    <p:cTn id="51" presetID="32" presetClass="emph" presetSubtype="0" fill="hold" nodeType="afterEffect">
                                      <p:stCondLst>
                                        <p:cond delay="0"/>
                                      </p:stCondLst>
                                      <p:childTnLst>
                                        <p:animRot by="120000">
                                          <p:cBhvr>
                                            <p:cTn id="52" dur="50" fill="hold">
                                              <p:stCondLst>
                                                <p:cond delay="0"/>
                                              </p:stCondLst>
                                            </p:cTn>
                                            <p:tgtEl>
                                              <p:spTgt spid="15"/>
                                            </p:tgtEl>
                                            <p:attrNameLst>
                                              <p:attrName>r</p:attrName>
                                            </p:attrNameLst>
                                          </p:cBhvr>
                                        </p:animRot>
                                        <p:animRot by="-240000">
                                          <p:cBhvr>
                                            <p:cTn id="53" dur="100" fill="hold">
                                              <p:stCondLst>
                                                <p:cond delay="100"/>
                                              </p:stCondLst>
                                            </p:cTn>
                                            <p:tgtEl>
                                              <p:spTgt spid="15"/>
                                            </p:tgtEl>
                                            <p:attrNameLst>
                                              <p:attrName>r</p:attrName>
                                            </p:attrNameLst>
                                          </p:cBhvr>
                                        </p:animRot>
                                        <p:animRot by="240000">
                                          <p:cBhvr>
                                            <p:cTn id="54" dur="100" fill="hold">
                                              <p:stCondLst>
                                                <p:cond delay="200"/>
                                              </p:stCondLst>
                                            </p:cTn>
                                            <p:tgtEl>
                                              <p:spTgt spid="15"/>
                                            </p:tgtEl>
                                            <p:attrNameLst>
                                              <p:attrName>r</p:attrName>
                                            </p:attrNameLst>
                                          </p:cBhvr>
                                        </p:animRot>
                                        <p:animRot by="-240000">
                                          <p:cBhvr>
                                            <p:cTn id="55" dur="100" fill="hold">
                                              <p:stCondLst>
                                                <p:cond delay="300"/>
                                              </p:stCondLst>
                                            </p:cTn>
                                            <p:tgtEl>
                                              <p:spTgt spid="15"/>
                                            </p:tgtEl>
                                            <p:attrNameLst>
                                              <p:attrName>r</p:attrName>
                                            </p:attrNameLst>
                                          </p:cBhvr>
                                        </p:animRot>
                                        <p:animRot by="120000">
                                          <p:cBhvr>
                                            <p:cTn id="56" dur="100" fill="hold">
                                              <p:stCondLst>
                                                <p:cond delay="400"/>
                                              </p:stCondLst>
                                            </p:cTn>
                                            <p:tgtEl>
                                              <p:spTgt spid="15"/>
                                            </p:tgtEl>
                                            <p:attrNameLst>
                                              <p:attrName>r</p:attrName>
                                            </p:attrNameLst>
                                          </p:cBhvr>
                                        </p:animRot>
                                      </p:childTnLst>
                                    </p:cTn>
                                  </p:par>
                                </p:childTnLst>
                              </p:cTn>
                            </p:par>
                            <p:par>
                              <p:cTn id="57" fill="hold">
                                <p:stCondLst>
                                  <p:cond delay="4800"/>
                                </p:stCondLst>
                                <p:childTnLst>
                                  <p:par>
                                    <p:cTn id="58" presetID="37" presetClass="entr" presetSubtype="0" fill="hold" nodeType="after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fade">
                                          <p:cBhvr>
                                            <p:cTn id="60" dur="500"/>
                                            <p:tgtEl>
                                              <p:spTgt spid="42"/>
                                            </p:tgtEl>
                                          </p:cBhvr>
                                        </p:animEffect>
                                        <p:anim calcmode="lin" valueType="num">
                                          <p:cBhvr>
                                            <p:cTn id="61" dur="500" fill="hold"/>
                                            <p:tgtEl>
                                              <p:spTgt spid="42"/>
                                            </p:tgtEl>
                                            <p:attrNameLst>
                                              <p:attrName>ppt_x</p:attrName>
                                            </p:attrNameLst>
                                          </p:cBhvr>
                                          <p:tavLst>
                                            <p:tav tm="0">
                                              <p:val>
                                                <p:strVal val="#ppt_x"/>
                                              </p:val>
                                            </p:tav>
                                            <p:tav tm="100000">
                                              <p:val>
                                                <p:strVal val="#ppt_x"/>
                                              </p:val>
                                            </p:tav>
                                          </p:tavLst>
                                        </p:anim>
                                        <p:anim calcmode="lin" valueType="num">
                                          <p:cBhvr>
                                            <p:cTn id="62" dur="450" decel="100000" fill="hold"/>
                                            <p:tgtEl>
                                              <p:spTgt spid="42"/>
                                            </p:tgtEl>
                                            <p:attrNameLst>
                                              <p:attrName>ppt_y</p:attrName>
                                            </p:attrNameLst>
                                          </p:cBhvr>
                                          <p:tavLst>
                                            <p:tav tm="0">
                                              <p:val>
                                                <p:strVal val="#ppt_y+1"/>
                                              </p:val>
                                            </p:tav>
                                            <p:tav tm="100000">
                                              <p:val>
                                                <p:strVal val="#ppt_y-.03"/>
                                              </p:val>
                                            </p:tav>
                                          </p:tavLst>
                                        </p:anim>
                                        <p:anim calcmode="lin" valueType="num">
                                          <p:cBhvr>
                                            <p:cTn id="63" dur="50" accel="100000" fill="hold">
                                              <p:stCondLst>
                                                <p:cond delay="450"/>
                                              </p:stCondLst>
                                            </p:cTn>
                                            <p:tgtEl>
                                              <p:spTgt spid="42"/>
                                            </p:tgtEl>
                                            <p:attrNameLst>
                                              <p:attrName>ppt_y</p:attrName>
                                            </p:attrNameLst>
                                          </p:cBhvr>
                                          <p:tavLst>
                                            <p:tav tm="0">
                                              <p:val>
                                                <p:strVal val="#ppt_y-.03"/>
                                              </p:val>
                                            </p:tav>
                                            <p:tav tm="100000">
                                              <p:val>
                                                <p:strVal val="#ppt_y"/>
                                              </p:val>
                                            </p:tav>
                                          </p:tavLst>
                                        </p:anim>
                                      </p:childTnLst>
                                    </p:cTn>
                                  </p:par>
                                </p:childTnLst>
                              </p:cTn>
                            </p:par>
                            <p:par>
                              <p:cTn id="64" fill="hold">
                                <p:stCondLst>
                                  <p:cond delay="5300"/>
                                </p:stCondLst>
                                <p:childTnLst>
                                  <p:par>
                                    <p:cTn id="65" presetID="22" presetClass="entr" presetSubtype="8" fill="hold" nodeType="after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wipe(left)">
                                          <p:cBhvr>
                                            <p:cTn id="67" dur="8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63549" y="2006333"/>
            <a:ext cx="2763947" cy="3446339"/>
            <a:chOff x="3295850" y="1908877"/>
            <a:chExt cx="3738030" cy="4660916"/>
          </a:xfrm>
        </p:grpSpPr>
        <p:sp>
          <p:nvSpPr>
            <p:cNvPr id="5" name="圆角矩形 4"/>
            <p:cNvSpPr/>
            <p:nvPr/>
          </p:nvSpPr>
          <p:spPr>
            <a:xfrm rot="2760000">
              <a:off x="3098889" y="2634801"/>
              <a:ext cx="4660916" cy="3209067"/>
            </a:xfrm>
            <a:prstGeom prst="roundRect">
              <a:avLst>
                <a:gd name="adj" fmla="val 50000"/>
              </a:avLst>
            </a:prstGeom>
            <a:gradFill>
              <a:gsLst>
                <a:gs pos="33000">
                  <a:srgbClr val="6C6C6C">
                    <a:alpha val="42000"/>
                  </a:srgbClr>
                </a:gs>
                <a:gs pos="0">
                  <a:schemeClr val="tx1">
                    <a:alpha val="54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6" name="Freeform 5"/>
            <p:cNvSpPr/>
            <p:nvPr/>
          </p:nvSpPr>
          <p:spPr bwMode="auto">
            <a:xfrm rot="10800000">
              <a:off x="3295850" y="2263222"/>
              <a:ext cx="2643765" cy="234315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gs>
                <a:gs pos="73000">
                  <a:srgbClr val="ECECEC"/>
                </a:gs>
                <a:gs pos="100000">
                  <a:srgbClr val="D9D9D9"/>
                </a:gs>
              </a:gsLst>
              <a:lin ang="2700000" scaled="1"/>
              <a:tileRect/>
            </a:gradFill>
            <a:ln w="25400">
              <a:gradFill flip="none" rotWithShape="1">
                <a:gsLst>
                  <a:gs pos="29000">
                    <a:srgbClr val="E0E0E0"/>
                  </a:gs>
                  <a:gs pos="0">
                    <a:srgbClr val="999999"/>
                  </a:gs>
                  <a:gs pos="83000">
                    <a:schemeClr val="bg1"/>
                  </a:gs>
                </a:gsLst>
                <a:lin ang="2700000" scaled="1"/>
                <a:tileRect/>
              </a:grad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sp>
          <p:nvSpPr>
            <p:cNvPr id="7" name="圆角矩形 6"/>
            <p:cNvSpPr/>
            <p:nvPr/>
          </p:nvSpPr>
          <p:spPr>
            <a:xfrm rot="2760000">
              <a:off x="3358628" y="2852802"/>
              <a:ext cx="3953506" cy="2592561"/>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8" name="Freeform 5"/>
            <p:cNvSpPr/>
            <p:nvPr/>
          </p:nvSpPr>
          <p:spPr bwMode="auto">
            <a:xfrm rot="10800000">
              <a:off x="3589408" y="2523401"/>
              <a:ext cx="2056648" cy="1822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rgbClr val="0070C0"/>
                </a:gs>
                <a:gs pos="0">
                  <a:srgbClr val="00B0F0"/>
                </a:gs>
              </a:gsLst>
              <a:lin ang="2700000" scaled="1"/>
              <a:tileRect/>
            </a:gradFill>
            <a:ln w="25400">
              <a:gradFill flip="none" rotWithShape="1">
                <a:gsLst>
                  <a:gs pos="100000">
                    <a:srgbClr val="00B0F0"/>
                  </a:gs>
                  <a:gs pos="0">
                    <a:srgbClr val="0070C0"/>
                  </a:gs>
                </a:gsLst>
                <a:lin ang="2700000" scaled="1"/>
                <a:tileRect/>
              </a:gradFill>
            </a:ln>
            <a:effectLst>
              <a:outerShdw blurRad="254000" dist="114300" dir="2700000" algn="tl" rotWithShape="0">
                <a:prstClr val="black">
                  <a:alpha val="25000"/>
                </a:prstClr>
              </a:outerShdw>
            </a:effectLst>
          </p:spPr>
          <p:txBody>
            <a:bodyPr vert="horz" wrap="square" lIns="91440" tIns="45720" rIns="91440" bIns="45720" numCol="1" anchor="t" anchorCtr="0" compatLnSpc="1"/>
            <a:lstStyle/>
            <a:p>
              <a:endParaRPr lang="zh-CN" altLang="en-US" sz="1350">
                <a:solidFill>
                  <a:prstClr val="black"/>
                </a:solidFill>
                <a:cs typeface="+mn-ea"/>
                <a:sym typeface="+mn-lt"/>
              </a:endParaRPr>
            </a:p>
          </p:txBody>
        </p:sp>
      </p:grpSp>
      <p:sp>
        <p:nvSpPr>
          <p:cNvPr id="9" name="圆角矩形 8"/>
          <p:cNvSpPr/>
          <p:nvPr/>
        </p:nvSpPr>
        <p:spPr>
          <a:xfrm>
            <a:off x="4535183" y="2625703"/>
            <a:ext cx="5193268" cy="1001440"/>
          </a:xfrm>
          <a:prstGeom prst="roundRect">
            <a:avLst>
              <a:gd name="adj" fmla="val 9976"/>
            </a:avLst>
          </a:prstGeom>
          <a:solidFill>
            <a:srgbClr val="00B0F0"/>
          </a:solidFill>
          <a:ln w="2540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grpSp>
        <p:nvGrpSpPr>
          <p:cNvPr id="10" name="组合 9"/>
          <p:cNvGrpSpPr/>
          <p:nvPr/>
        </p:nvGrpSpPr>
        <p:grpSpPr>
          <a:xfrm>
            <a:off x="4628901" y="3044179"/>
            <a:ext cx="158011" cy="158012"/>
            <a:chOff x="4486616" y="3001075"/>
            <a:chExt cx="274695" cy="274699"/>
          </a:xfrm>
        </p:grpSpPr>
        <p:sp>
          <p:nvSpPr>
            <p:cNvPr id="11" name="椭圆 10"/>
            <p:cNvSpPr/>
            <p:nvPr/>
          </p:nvSpPr>
          <p:spPr>
            <a:xfrm rot="16200000">
              <a:off x="4486614" y="3001077"/>
              <a:ext cx="274699" cy="274695"/>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2" name="椭圆 11"/>
            <p:cNvSpPr/>
            <p:nvPr/>
          </p:nvSpPr>
          <p:spPr>
            <a:xfrm rot="16200000">
              <a:off x="4511585" y="3026055"/>
              <a:ext cx="224753" cy="22475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grpSp>
        <p:nvGrpSpPr>
          <p:cNvPr id="13" name="组合 12"/>
          <p:cNvGrpSpPr/>
          <p:nvPr/>
        </p:nvGrpSpPr>
        <p:grpSpPr>
          <a:xfrm>
            <a:off x="4229561" y="3044179"/>
            <a:ext cx="158011" cy="158012"/>
            <a:chOff x="4486616" y="3001075"/>
            <a:chExt cx="274695" cy="274699"/>
          </a:xfrm>
        </p:grpSpPr>
        <p:sp>
          <p:nvSpPr>
            <p:cNvPr id="14" name="椭圆 13"/>
            <p:cNvSpPr/>
            <p:nvPr/>
          </p:nvSpPr>
          <p:spPr>
            <a:xfrm rot="16200000">
              <a:off x="4486614" y="3001077"/>
              <a:ext cx="274699" cy="274695"/>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5" name="椭圆 14"/>
            <p:cNvSpPr/>
            <p:nvPr/>
          </p:nvSpPr>
          <p:spPr>
            <a:xfrm rot="16200000">
              <a:off x="4511585" y="3026055"/>
              <a:ext cx="224753" cy="22475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grpSp>
        <p:nvGrpSpPr>
          <p:cNvPr id="16" name="组合 15"/>
          <p:cNvGrpSpPr/>
          <p:nvPr/>
        </p:nvGrpSpPr>
        <p:grpSpPr>
          <a:xfrm>
            <a:off x="4318304" y="3089062"/>
            <a:ext cx="384317" cy="61431"/>
            <a:chOff x="4318304" y="3089060"/>
            <a:chExt cx="384317" cy="61430"/>
          </a:xfrm>
        </p:grpSpPr>
        <p:sp>
          <p:nvSpPr>
            <p:cNvPr id="17" name="圆角矩形 16"/>
            <p:cNvSpPr/>
            <p:nvPr/>
          </p:nvSpPr>
          <p:spPr>
            <a:xfrm rot="16200000">
              <a:off x="4499257" y="2947128"/>
              <a:ext cx="22409" cy="384316"/>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9525">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8" name="圆角矩形 17"/>
            <p:cNvSpPr/>
            <p:nvPr/>
          </p:nvSpPr>
          <p:spPr>
            <a:xfrm rot="16200000">
              <a:off x="4499258" y="2908107"/>
              <a:ext cx="22409" cy="384316"/>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9525">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sp>
        <p:nvSpPr>
          <p:cNvPr id="19" name="文本框 18"/>
          <p:cNvSpPr txBox="1"/>
          <p:nvPr/>
        </p:nvSpPr>
        <p:spPr>
          <a:xfrm>
            <a:off x="5618100" y="2792253"/>
            <a:ext cx="3506545" cy="646331"/>
          </a:xfrm>
          <a:prstGeom prst="rect">
            <a:avLst/>
          </a:prstGeom>
          <a:noFill/>
        </p:spPr>
        <p:txBody>
          <a:bodyPr wrap="square" rtlCol="0">
            <a:spAutoFit/>
          </a:bodyPr>
          <a:lstStyle/>
          <a:p>
            <a:pPr algn="ctr"/>
            <a:r>
              <a:rPr lang="zh-CN" altLang="en-US" sz="3600" dirty="0">
                <a:solidFill>
                  <a:schemeClr val="bg1"/>
                </a:solidFill>
                <a:cs typeface="+mn-ea"/>
                <a:sym typeface="+mn-lt"/>
              </a:rPr>
              <a:t>引用文献</a:t>
            </a:r>
          </a:p>
        </p:txBody>
      </p:sp>
      <p:grpSp>
        <p:nvGrpSpPr>
          <p:cNvPr id="20" name="组合 19"/>
          <p:cNvGrpSpPr/>
          <p:nvPr/>
        </p:nvGrpSpPr>
        <p:grpSpPr>
          <a:xfrm>
            <a:off x="3057211" y="2763793"/>
            <a:ext cx="786564" cy="737835"/>
            <a:chOff x="3108756" y="2110160"/>
            <a:chExt cx="745081" cy="698920"/>
          </a:xfrm>
          <a:solidFill>
            <a:schemeClr val="bg1"/>
          </a:solidFill>
        </p:grpSpPr>
        <p:sp>
          <p:nvSpPr>
            <p:cNvPr id="21" name="Freeform 489"/>
            <p:cNvSpPr/>
            <p:nvPr/>
          </p:nvSpPr>
          <p:spPr bwMode="auto">
            <a:xfrm>
              <a:off x="3608602" y="2110160"/>
              <a:ext cx="245235" cy="303659"/>
            </a:xfrm>
            <a:custGeom>
              <a:avLst/>
              <a:gdLst>
                <a:gd name="T0" fmla="*/ 248 w 340"/>
                <a:gd name="T1" fmla="*/ 0 h 421"/>
                <a:gd name="T2" fmla="*/ 0 w 340"/>
                <a:gd name="T3" fmla="*/ 357 h 421"/>
                <a:gd name="T4" fmla="*/ 94 w 340"/>
                <a:gd name="T5" fmla="*/ 421 h 421"/>
                <a:gd name="T6" fmla="*/ 340 w 340"/>
                <a:gd name="T7" fmla="*/ 66 h 421"/>
                <a:gd name="T8" fmla="*/ 248 w 340"/>
                <a:gd name="T9" fmla="*/ 0 h 421"/>
              </a:gdLst>
              <a:ahLst/>
              <a:cxnLst>
                <a:cxn ang="0">
                  <a:pos x="T0" y="T1"/>
                </a:cxn>
                <a:cxn ang="0">
                  <a:pos x="T2" y="T3"/>
                </a:cxn>
                <a:cxn ang="0">
                  <a:pos x="T4" y="T5"/>
                </a:cxn>
                <a:cxn ang="0">
                  <a:pos x="T6" y="T7"/>
                </a:cxn>
                <a:cxn ang="0">
                  <a:pos x="T8" y="T9"/>
                </a:cxn>
              </a:cxnLst>
              <a:rect l="0" t="0" r="r" b="b"/>
              <a:pathLst>
                <a:path w="340" h="421">
                  <a:moveTo>
                    <a:pt x="248" y="0"/>
                  </a:moveTo>
                  <a:lnTo>
                    <a:pt x="0" y="357"/>
                  </a:lnTo>
                  <a:lnTo>
                    <a:pt x="94" y="421"/>
                  </a:lnTo>
                  <a:lnTo>
                    <a:pt x="340" y="66"/>
                  </a:lnTo>
                  <a:lnTo>
                    <a:pt x="24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2" name="Freeform 490"/>
            <p:cNvSpPr/>
            <p:nvPr/>
          </p:nvSpPr>
          <p:spPr bwMode="auto">
            <a:xfrm>
              <a:off x="3584800" y="2379197"/>
              <a:ext cx="81505" cy="68522"/>
            </a:xfrm>
            <a:custGeom>
              <a:avLst/>
              <a:gdLst>
                <a:gd name="T0" fmla="*/ 14 w 113"/>
                <a:gd name="T1" fmla="*/ 12 h 95"/>
                <a:gd name="T2" fmla="*/ 0 w 113"/>
                <a:gd name="T3" fmla="*/ 33 h 95"/>
                <a:gd name="T4" fmla="*/ 14 w 113"/>
                <a:gd name="T5" fmla="*/ 43 h 95"/>
                <a:gd name="T6" fmla="*/ 26 w 113"/>
                <a:gd name="T7" fmla="*/ 52 h 95"/>
                <a:gd name="T8" fmla="*/ 90 w 113"/>
                <a:gd name="T9" fmla="*/ 95 h 95"/>
                <a:gd name="T10" fmla="*/ 113 w 113"/>
                <a:gd name="T11" fmla="*/ 62 h 95"/>
                <a:gd name="T12" fmla="*/ 23 w 113"/>
                <a:gd name="T13" fmla="*/ 0 h 95"/>
                <a:gd name="T14" fmla="*/ 14 w 113"/>
                <a:gd name="T15" fmla="*/ 12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3" h="95">
                  <a:moveTo>
                    <a:pt x="14" y="12"/>
                  </a:moveTo>
                  <a:lnTo>
                    <a:pt x="0" y="33"/>
                  </a:lnTo>
                  <a:lnTo>
                    <a:pt x="14" y="43"/>
                  </a:lnTo>
                  <a:lnTo>
                    <a:pt x="26" y="52"/>
                  </a:lnTo>
                  <a:lnTo>
                    <a:pt x="90" y="95"/>
                  </a:lnTo>
                  <a:lnTo>
                    <a:pt x="113" y="62"/>
                  </a:lnTo>
                  <a:lnTo>
                    <a:pt x="23" y="0"/>
                  </a:lnTo>
                  <a:lnTo>
                    <a:pt x="14"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3" name="Freeform 491"/>
            <p:cNvSpPr/>
            <p:nvPr/>
          </p:nvSpPr>
          <p:spPr bwMode="auto">
            <a:xfrm>
              <a:off x="3463625" y="2415261"/>
              <a:ext cx="177435" cy="226482"/>
            </a:xfrm>
            <a:custGeom>
              <a:avLst/>
              <a:gdLst>
                <a:gd name="T0" fmla="*/ 66 w 104"/>
                <a:gd name="T1" fmla="*/ 0 h 133"/>
                <a:gd name="T2" fmla="*/ 60 w 104"/>
                <a:gd name="T3" fmla="*/ 8 h 133"/>
                <a:gd name="T4" fmla="*/ 59 w 104"/>
                <a:gd name="T5" fmla="*/ 10 h 133"/>
                <a:gd name="T6" fmla="*/ 11 w 104"/>
                <a:gd name="T7" fmla="*/ 29 h 133"/>
                <a:gd name="T8" fmla="*/ 0 w 104"/>
                <a:gd name="T9" fmla="*/ 129 h 133"/>
                <a:gd name="T10" fmla="*/ 37 w 104"/>
                <a:gd name="T11" fmla="*/ 76 h 133"/>
                <a:gd name="T12" fmla="*/ 37 w 104"/>
                <a:gd name="T13" fmla="*/ 51 h 133"/>
                <a:gd name="T14" fmla="*/ 60 w 104"/>
                <a:gd name="T15" fmla="*/ 43 h 133"/>
                <a:gd name="T16" fmla="*/ 63 w 104"/>
                <a:gd name="T17" fmla="*/ 44 h 133"/>
                <a:gd name="T18" fmla="*/ 66 w 104"/>
                <a:gd name="T19" fmla="*/ 71 h 133"/>
                <a:gd name="T20" fmla="*/ 60 w 104"/>
                <a:gd name="T21" fmla="*/ 77 h 133"/>
                <a:gd name="T22" fmla="*/ 42 w 104"/>
                <a:gd name="T23" fmla="*/ 80 h 133"/>
                <a:gd name="T24" fmla="*/ 6 w 104"/>
                <a:gd name="T25" fmla="*/ 133 h 133"/>
                <a:gd name="T26" fmla="*/ 54 w 104"/>
                <a:gd name="T27" fmla="*/ 109 h 133"/>
                <a:gd name="T28" fmla="*/ 60 w 104"/>
                <a:gd name="T29" fmla="*/ 106 h 133"/>
                <a:gd name="T30" fmla="*/ 77 w 104"/>
                <a:gd name="T31" fmla="*/ 98 h 133"/>
                <a:gd name="T32" fmla="*/ 96 w 104"/>
                <a:gd name="T33" fmla="*/ 88 h 133"/>
                <a:gd name="T34" fmla="*/ 97 w 104"/>
                <a:gd name="T35" fmla="*/ 37 h 133"/>
                <a:gd name="T36" fmla="*/ 104 w 104"/>
                <a:gd name="T37" fmla="*/ 26 h 133"/>
                <a:gd name="T38" fmla="*/ 77 w 104"/>
                <a:gd name="T39" fmla="*/ 7 h 133"/>
                <a:gd name="T40" fmla="*/ 66 w 104"/>
                <a:gd name="T4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4" h="133">
                  <a:moveTo>
                    <a:pt x="66" y="0"/>
                  </a:moveTo>
                  <a:cubicBezTo>
                    <a:pt x="60" y="8"/>
                    <a:pt x="60" y="8"/>
                    <a:pt x="60" y="8"/>
                  </a:cubicBezTo>
                  <a:cubicBezTo>
                    <a:pt x="59" y="10"/>
                    <a:pt x="59" y="10"/>
                    <a:pt x="59" y="10"/>
                  </a:cubicBezTo>
                  <a:cubicBezTo>
                    <a:pt x="11" y="29"/>
                    <a:pt x="11" y="29"/>
                    <a:pt x="11" y="29"/>
                  </a:cubicBezTo>
                  <a:cubicBezTo>
                    <a:pt x="0" y="129"/>
                    <a:pt x="0" y="129"/>
                    <a:pt x="0" y="129"/>
                  </a:cubicBezTo>
                  <a:cubicBezTo>
                    <a:pt x="37" y="76"/>
                    <a:pt x="37" y="76"/>
                    <a:pt x="37" y="76"/>
                  </a:cubicBezTo>
                  <a:cubicBezTo>
                    <a:pt x="32" y="70"/>
                    <a:pt x="31" y="60"/>
                    <a:pt x="37" y="51"/>
                  </a:cubicBezTo>
                  <a:cubicBezTo>
                    <a:pt x="43" y="43"/>
                    <a:pt x="52" y="40"/>
                    <a:pt x="60" y="43"/>
                  </a:cubicBezTo>
                  <a:cubicBezTo>
                    <a:pt x="61" y="43"/>
                    <a:pt x="62" y="44"/>
                    <a:pt x="63" y="44"/>
                  </a:cubicBezTo>
                  <a:cubicBezTo>
                    <a:pt x="71" y="50"/>
                    <a:pt x="72" y="62"/>
                    <a:pt x="66" y="71"/>
                  </a:cubicBezTo>
                  <a:cubicBezTo>
                    <a:pt x="64" y="74"/>
                    <a:pt x="62" y="76"/>
                    <a:pt x="60" y="77"/>
                  </a:cubicBezTo>
                  <a:cubicBezTo>
                    <a:pt x="55" y="81"/>
                    <a:pt x="48" y="82"/>
                    <a:pt x="42" y="80"/>
                  </a:cubicBezTo>
                  <a:cubicBezTo>
                    <a:pt x="6" y="133"/>
                    <a:pt x="6" y="133"/>
                    <a:pt x="6" y="133"/>
                  </a:cubicBezTo>
                  <a:cubicBezTo>
                    <a:pt x="54" y="109"/>
                    <a:pt x="54" y="109"/>
                    <a:pt x="54" y="109"/>
                  </a:cubicBezTo>
                  <a:cubicBezTo>
                    <a:pt x="60" y="106"/>
                    <a:pt x="60" y="106"/>
                    <a:pt x="60" y="106"/>
                  </a:cubicBezTo>
                  <a:cubicBezTo>
                    <a:pt x="77" y="98"/>
                    <a:pt x="77" y="98"/>
                    <a:pt x="77" y="98"/>
                  </a:cubicBezTo>
                  <a:cubicBezTo>
                    <a:pt x="96" y="88"/>
                    <a:pt x="96" y="88"/>
                    <a:pt x="96" y="88"/>
                  </a:cubicBezTo>
                  <a:cubicBezTo>
                    <a:pt x="97" y="37"/>
                    <a:pt x="97" y="37"/>
                    <a:pt x="97" y="37"/>
                  </a:cubicBezTo>
                  <a:cubicBezTo>
                    <a:pt x="104" y="26"/>
                    <a:pt x="104" y="26"/>
                    <a:pt x="104" y="26"/>
                  </a:cubicBezTo>
                  <a:cubicBezTo>
                    <a:pt x="77" y="7"/>
                    <a:pt x="77" y="7"/>
                    <a:pt x="77" y="7"/>
                  </a:cubicBezTo>
                  <a:lnTo>
                    <a:pt x="6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4" name="Rectangle 492"/>
            <p:cNvSpPr>
              <a:spLocks noChangeArrowheads="1"/>
            </p:cNvSpPr>
            <p:nvPr/>
          </p:nvSpPr>
          <p:spPr bwMode="auto">
            <a:xfrm>
              <a:off x="3237144" y="2495323"/>
              <a:ext cx="168779" cy="1514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5" name="Rectangle 493"/>
            <p:cNvSpPr>
              <a:spLocks noChangeArrowheads="1"/>
            </p:cNvSpPr>
            <p:nvPr/>
          </p:nvSpPr>
          <p:spPr bwMode="auto">
            <a:xfrm>
              <a:off x="3237144" y="2449161"/>
              <a:ext cx="168779" cy="173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6" name="Rectangle 494"/>
            <p:cNvSpPr>
              <a:spLocks noChangeArrowheads="1"/>
            </p:cNvSpPr>
            <p:nvPr/>
          </p:nvSpPr>
          <p:spPr bwMode="auto">
            <a:xfrm>
              <a:off x="3237144" y="2403000"/>
              <a:ext cx="168779" cy="1586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7" name="Rectangle 495"/>
            <p:cNvSpPr>
              <a:spLocks noChangeArrowheads="1"/>
            </p:cNvSpPr>
            <p:nvPr/>
          </p:nvSpPr>
          <p:spPr bwMode="auto">
            <a:xfrm>
              <a:off x="3237144" y="2357559"/>
              <a:ext cx="168779" cy="1514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cs typeface="+mn-ea"/>
                <a:sym typeface="+mn-lt"/>
              </a:endParaRPr>
            </a:p>
          </p:txBody>
        </p:sp>
        <p:sp>
          <p:nvSpPr>
            <p:cNvPr id="28" name="Freeform 496"/>
            <p:cNvSpPr/>
            <p:nvPr/>
          </p:nvSpPr>
          <p:spPr bwMode="auto">
            <a:xfrm>
              <a:off x="3108756" y="2215467"/>
              <a:ext cx="489749" cy="593613"/>
            </a:xfrm>
            <a:custGeom>
              <a:avLst/>
              <a:gdLst>
                <a:gd name="T0" fmla="*/ 268 w 287"/>
                <a:gd name="T1" fmla="*/ 303 h 348"/>
                <a:gd name="T2" fmla="*/ 245 w 287"/>
                <a:gd name="T3" fmla="*/ 331 h 348"/>
                <a:gd name="T4" fmla="*/ 90 w 287"/>
                <a:gd name="T5" fmla="*/ 331 h 348"/>
                <a:gd name="T6" fmla="*/ 90 w 287"/>
                <a:gd name="T7" fmla="*/ 281 h 348"/>
                <a:gd name="T8" fmla="*/ 76 w 287"/>
                <a:gd name="T9" fmla="*/ 263 h 348"/>
                <a:gd name="T10" fmla="*/ 17 w 287"/>
                <a:gd name="T11" fmla="*/ 263 h 348"/>
                <a:gd name="T12" fmla="*/ 17 w 287"/>
                <a:gd name="T13" fmla="*/ 59 h 348"/>
                <a:gd name="T14" fmla="*/ 40 w 287"/>
                <a:gd name="T15" fmla="*/ 27 h 348"/>
                <a:gd name="T16" fmla="*/ 251 w 287"/>
                <a:gd name="T17" fmla="*/ 27 h 348"/>
                <a:gd name="T18" fmla="*/ 268 w 287"/>
                <a:gd name="T19" fmla="*/ 52 h 348"/>
                <a:gd name="T20" fmla="*/ 268 w 287"/>
                <a:gd name="T21" fmla="*/ 104 h 348"/>
                <a:gd name="T22" fmla="*/ 268 w 287"/>
                <a:gd name="T23" fmla="*/ 104 h 348"/>
                <a:gd name="T24" fmla="*/ 285 w 287"/>
                <a:gd name="T25" fmla="*/ 83 h 348"/>
                <a:gd name="T26" fmla="*/ 285 w 287"/>
                <a:gd name="T27" fmla="*/ 45 h 348"/>
                <a:gd name="T28" fmla="*/ 252 w 287"/>
                <a:gd name="T29" fmla="*/ 8 h 348"/>
                <a:gd name="T30" fmla="*/ 70 w 287"/>
                <a:gd name="T31" fmla="*/ 8 h 348"/>
                <a:gd name="T32" fmla="*/ 40 w 287"/>
                <a:gd name="T33" fmla="*/ 8 h 348"/>
                <a:gd name="T34" fmla="*/ 0 w 287"/>
                <a:gd name="T35" fmla="*/ 44 h 348"/>
                <a:gd name="T36" fmla="*/ 0 w 287"/>
                <a:gd name="T37" fmla="*/ 294 h 348"/>
                <a:gd name="T38" fmla="*/ 82 w 287"/>
                <a:gd name="T39" fmla="*/ 346 h 348"/>
                <a:gd name="T40" fmla="*/ 252 w 287"/>
                <a:gd name="T41" fmla="*/ 346 h 348"/>
                <a:gd name="T42" fmla="*/ 285 w 287"/>
                <a:gd name="T43" fmla="*/ 321 h 348"/>
                <a:gd name="T44" fmla="*/ 285 w 287"/>
                <a:gd name="T45" fmla="*/ 228 h 348"/>
                <a:gd name="T46" fmla="*/ 268 w 287"/>
                <a:gd name="T47" fmla="*/ 238 h 348"/>
                <a:gd name="T48" fmla="*/ 268 w 287"/>
                <a:gd name="T49" fmla="*/ 303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7" h="348">
                  <a:moveTo>
                    <a:pt x="268" y="303"/>
                  </a:moveTo>
                  <a:cubicBezTo>
                    <a:pt x="268" y="303"/>
                    <a:pt x="272" y="331"/>
                    <a:pt x="245" y="331"/>
                  </a:cubicBezTo>
                  <a:cubicBezTo>
                    <a:pt x="217" y="331"/>
                    <a:pt x="90" y="331"/>
                    <a:pt x="90" y="331"/>
                  </a:cubicBezTo>
                  <a:cubicBezTo>
                    <a:pt x="90" y="281"/>
                    <a:pt x="90" y="281"/>
                    <a:pt x="90" y="281"/>
                  </a:cubicBezTo>
                  <a:cubicBezTo>
                    <a:pt x="90" y="281"/>
                    <a:pt x="91" y="263"/>
                    <a:pt x="76" y="263"/>
                  </a:cubicBezTo>
                  <a:cubicBezTo>
                    <a:pt x="60" y="263"/>
                    <a:pt x="17" y="263"/>
                    <a:pt x="17" y="263"/>
                  </a:cubicBezTo>
                  <a:cubicBezTo>
                    <a:pt x="17" y="59"/>
                    <a:pt x="17" y="59"/>
                    <a:pt x="17" y="59"/>
                  </a:cubicBezTo>
                  <a:cubicBezTo>
                    <a:pt x="17" y="59"/>
                    <a:pt x="13" y="27"/>
                    <a:pt x="40" y="27"/>
                  </a:cubicBezTo>
                  <a:cubicBezTo>
                    <a:pt x="251" y="27"/>
                    <a:pt x="251" y="27"/>
                    <a:pt x="251" y="27"/>
                  </a:cubicBezTo>
                  <a:cubicBezTo>
                    <a:pt x="251" y="27"/>
                    <a:pt x="268" y="30"/>
                    <a:pt x="268" y="52"/>
                  </a:cubicBezTo>
                  <a:cubicBezTo>
                    <a:pt x="268" y="57"/>
                    <a:pt x="268" y="77"/>
                    <a:pt x="268" y="104"/>
                  </a:cubicBezTo>
                  <a:cubicBezTo>
                    <a:pt x="268" y="104"/>
                    <a:pt x="268" y="104"/>
                    <a:pt x="268" y="104"/>
                  </a:cubicBezTo>
                  <a:cubicBezTo>
                    <a:pt x="285" y="83"/>
                    <a:pt x="285" y="83"/>
                    <a:pt x="285" y="83"/>
                  </a:cubicBezTo>
                  <a:cubicBezTo>
                    <a:pt x="285" y="60"/>
                    <a:pt x="285" y="45"/>
                    <a:pt x="285" y="45"/>
                  </a:cubicBezTo>
                  <a:cubicBezTo>
                    <a:pt x="285" y="45"/>
                    <a:pt x="287" y="8"/>
                    <a:pt x="252" y="8"/>
                  </a:cubicBezTo>
                  <a:cubicBezTo>
                    <a:pt x="70" y="8"/>
                    <a:pt x="70" y="8"/>
                    <a:pt x="70" y="8"/>
                  </a:cubicBezTo>
                  <a:cubicBezTo>
                    <a:pt x="40" y="8"/>
                    <a:pt x="40" y="8"/>
                    <a:pt x="40" y="8"/>
                  </a:cubicBezTo>
                  <a:cubicBezTo>
                    <a:pt x="40" y="8"/>
                    <a:pt x="0" y="0"/>
                    <a:pt x="0" y="44"/>
                  </a:cubicBezTo>
                  <a:cubicBezTo>
                    <a:pt x="0" y="87"/>
                    <a:pt x="0" y="294"/>
                    <a:pt x="0" y="294"/>
                  </a:cubicBezTo>
                  <a:cubicBezTo>
                    <a:pt x="82" y="346"/>
                    <a:pt x="82" y="346"/>
                    <a:pt x="82" y="346"/>
                  </a:cubicBezTo>
                  <a:cubicBezTo>
                    <a:pt x="252" y="346"/>
                    <a:pt x="252" y="346"/>
                    <a:pt x="252" y="346"/>
                  </a:cubicBezTo>
                  <a:cubicBezTo>
                    <a:pt x="252" y="346"/>
                    <a:pt x="285" y="348"/>
                    <a:pt x="285" y="321"/>
                  </a:cubicBezTo>
                  <a:cubicBezTo>
                    <a:pt x="285" y="312"/>
                    <a:pt x="285" y="274"/>
                    <a:pt x="285" y="228"/>
                  </a:cubicBezTo>
                  <a:cubicBezTo>
                    <a:pt x="268" y="238"/>
                    <a:pt x="268" y="238"/>
                    <a:pt x="268" y="238"/>
                  </a:cubicBezTo>
                  <a:cubicBezTo>
                    <a:pt x="268" y="275"/>
                    <a:pt x="268" y="303"/>
                    <a:pt x="268" y="3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cs typeface="+mn-ea"/>
                <a:sym typeface="+mn-lt"/>
              </a:endParaRPr>
            </a:p>
          </p:txBody>
        </p:sp>
      </p:grpSp>
      <p:grpSp>
        <p:nvGrpSpPr>
          <p:cNvPr id="29" name="组合 28"/>
          <p:cNvGrpSpPr/>
          <p:nvPr/>
        </p:nvGrpSpPr>
        <p:grpSpPr>
          <a:xfrm>
            <a:off x="5030934" y="2884112"/>
            <a:ext cx="601529" cy="562743"/>
            <a:chOff x="5030931" y="2884106"/>
            <a:chExt cx="601529" cy="562742"/>
          </a:xfrm>
        </p:grpSpPr>
        <p:sp>
          <p:nvSpPr>
            <p:cNvPr id="30" name="椭圆 29"/>
            <p:cNvSpPr/>
            <p:nvPr/>
          </p:nvSpPr>
          <p:spPr>
            <a:xfrm>
              <a:off x="5055353" y="2884106"/>
              <a:ext cx="562742" cy="5627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sp>
          <p:nvSpPr>
            <p:cNvPr id="31" name="文本框 30"/>
            <p:cNvSpPr txBox="1"/>
            <p:nvPr/>
          </p:nvSpPr>
          <p:spPr>
            <a:xfrm>
              <a:off x="5030931" y="2902999"/>
              <a:ext cx="601529" cy="523219"/>
            </a:xfrm>
            <a:prstGeom prst="rect">
              <a:avLst/>
            </a:prstGeom>
            <a:noFill/>
          </p:spPr>
          <p:txBody>
            <a:bodyPr wrap="square" rtlCol="0">
              <a:spAutoFit/>
            </a:bodyPr>
            <a:lstStyle/>
            <a:p>
              <a:pPr algn="ctr"/>
              <a:r>
                <a:rPr lang="en-US" altLang="zh-CN" sz="2800" dirty="0">
                  <a:solidFill>
                    <a:srgbClr val="00B0F0"/>
                  </a:solidFill>
                  <a:cs typeface="+mn-ea"/>
                  <a:sym typeface="+mn-lt"/>
                </a:rPr>
                <a:t>04</a:t>
              </a:r>
              <a:endParaRPr lang="zh-CN" altLang="en-US" sz="2800" dirty="0">
                <a:solidFill>
                  <a:srgbClr val="00B0F0"/>
                </a:solidFill>
                <a:cs typeface="+mn-ea"/>
                <a:sym typeface="+mn-lt"/>
              </a:endParaRPr>
            </a:p>
          </p:txBody>
        </p:sp>
      </p:grpSp>
    </p:spTree>
  </p:cSld>
  <p:clrMapOvr>
    <a:masterClrMapping/>
  </p:clrMapOvr>
  <p:transition spd="slow" advClick="0" advTm="0">
    <p:fad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 fill="hold"/>
                                            <p:tgtEl>
                                              <p:spTgt spid="4"/>
                                            </p:tgtEl>
                                            <p:attrNameLst>
                                              <p:attrName>ppt_w</p:attrName>
                                            </p:attrNameLst>
                                          </p:cBhvr>
                                          <p:tavLst>
                                            <p:tav tm="0">
                                              <p:val>
                                                <p:fltVal val="0"/>
                                              </p:val>
                                            </p:tav>
                                            <p:tav tm="100000">
                                              <p:val>
                                                <p:strVal val="#ppt_w"/>
                                              </p:val>
                                            </p:tav>
                                          </p:tavLst>
                                        </p:anim>
                                        <p:anim calcmode="lin" valueType="num">
                                          <p:cBhvr>
                                            <p:cTn id="8" dur="200" fill="hold"/>
                                            <p:tgtEl>
                                              <p:spTgt spid="4"/>
                                            </p:tgtEl>
                                            <p:attrNameLst>
                                              <p:attrName>ppt_h</p:attrName>
                                            </p:attrNameLst>
                                          </p:cBhvr>
                                          <p:tavLst>
                                            <p:tav tm="0">
                                              <p:val>
                                                <p:fltVal val="0"/>
                                              </p:val>
                                            </p:tav>
                                            <p:tav tm="100000">
                                              <p:val>
                                                <p:strVal val="#ppt_h"/>
                                              </p:val>
                                            </p:tav>
                                          </p:tavLst>
                                        </p:anim>
                                        <p:animEffect transition="in" filter="fade">
                                          <p:cBhvr>
                                            <p:cTn id="9" dur="200"/>
                                            <p:tgtEl>
                                              <p:spTgt spid="4"/>
                                            </p:tgtEl>
                                          </p:cBhvr>
                                        </p:animEffect>
                                      </p:childTnLst>
                                    </p:cTn>
                                  </p:par>
                                </p:childTnLst>
                              </p:cTn>
                            </p:par>
                            <p:par>
                              <p:cTn id="10" fill="hold">
                                <p:stCondLst>
                                  <p:cond delay="500"/>
                                </p:stCondLst>
                                <p:childTnLst>
                                  <p:par>
                                    <p:cTn id="11" presetID="32" presetClass="emph" presetSubtype="0" fill="hold" nodeType="afterEffect">
                                      <p:stCondLst>
                                        <p:cond delay="0"/>
                                      </p:stCondLst>
                                      <p:childTnLst>
                                        <p:animRot by="120000">
                                          <p:cBhvr>
                                            <p:cTn id="12" dur="50" fill="hold">
                                              <p:stCondLst>
                                                <p:cond delay="0"/>
                                              </p:stCondLst>
                                            </p:cTn>
                                            <p:tgtEl>
                                              <p:spTgt spid="4"/>
                                            </p:tgtEl>
                                            <p:attrNameLst>
                                              <p:attrName>r</p:attrName>
                                            </p:attrNameLst>
                                          </p:cBhvr>
                                        </p:animRot>
                                        <p:animRot by="-240000">
                                          <p:cBhvr>
                                            <p:cTn id="13" dur="100" fill="hold">
                                              <p:stCondLst>
                                                <p:cond delay="100"/>
                                              </p:stCondLst>
                                            </p:cTn>
                                            <p:tgtEl>
                                              <p:spTgt spid="4"/>
                                            </p:tgtEl>
                                            <p:attrNameLst>
                                              <p:attrName>r</p:attrName>
                                            </p:attrNameLst>
                                          </p:cBhvr>
                                        </p:animRot>
                                        <p:animRot by="240000">
                                          <p:cBhvr>
                                            <p:cTn id="14" dur="100" fill="hold">
                                              <p:stCondLst>
                                                <p:cond delay="200"/>
                                              </p:stCondLst>
                                            </p:cTn>
                                            <p:tgtEl>
                                              <p:spTgt spid="4"/>
                                            </p:tgtEl>
                                            <p:attrNameLst>
                                              <p:attrName>r</p:attrName>
                                            </p:attrNameLst>
                                          </p:cBhvr>
                                        </p:animRot>
                                        <p:animRot by="-240000">
                                          <p:cBhvr>
                                            <p:cTn id="15" dur="100" fill="hold">
                                              <p:stCondLst>
                                                <p:cond delay="300"/>
                                              </p:stCondLst>
                                            </p:cTn>
                                            <p:tgtEl>
                                              <p:spTgt spid="4"/>
                                            </p:tgtEl>
                                            <p:attrNameLst>
                                              <p:attrName>r</p:attrName>
                                            </p:attrNameLst>
                                          </p:cBhvr>
                                        </p:animRot>
                                        <p:animRot by="120000">
                                          <p:cBhvr>
                                            <p:cTn id="16" dur="100" fill="hold">
                                              <p:stCondLst>
                                                <p:cond delay="400"/>
                                              </p:stCondLst>
                                            </p:cTn>
                                            <p:tgtEl>
                                              <p:spTgt spid="4"/>
                                            </p:tgtEl>
                                            <p:attrNameLst>
                                              <p:attrName>r</p:attrName>
                                            </p:attrNameLst>
                                          </p:cBhvr>
                                        </p:animRot>
                                      </p:childTnLst>
                                    </p:cTn>
                                  </p:par>
                                </p:childTnLst>
                              </p:cTn>
                            </p:par>
                            <p:par>
                              <p:cTn id="17" fill="hold">
                                <p:stCondLst>
                                  <p:cond delay="1000"/>
                                </p:stCondLst>
                                <p:childTnLst>
                                  <p:par>
                                    <p:cTn id="18" presetID="37" presetClass="entr" presetSubtype="0"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700"/>
                                            <p:tgtEl>
                                              <p:spTgt spid="20"/>
                                            </p:tgtEl>
                                          </p:cBhvr>
                                        </p:animEffect>
                                        <p:anim calcmode="lin" valueType="num">
                                          <p:cBhvr>
                                            <p:cTn id="21" dur="700" fill="hold"/>
                                            <p:tgtEl>
                                              <p:spTgt spid="20"/>
                                            </p:tgtEl>
                                            <p:attrNameLst>
                                              <p:attrName>ppt_x</p:attrName>
                                            </p:attrNameLst>
                                          </p:cBhvr>
                                          <p:tavLst>
                                            <p:tav tm="0">
                                              <p:val>
                                                <p:strVal val="#ppt_x"/>
                                              </p:val>
                                            </p:tav>
                                            <p:tav tm="100000">
                                              <p:val>
                                                <p:strVal val="#ppt_x"/>
                                              </p:val>
                                            </p:tav>
                                          </p:tavLst>
                                        </p:anim>
                                        <p:anim calcmode="lin" valueType="num">
                                          <p:cBhvr>
                                            <p:cTn id="22" dur="630" decel="100000" fill="hold"/>
                                            <p:tgtEl>
                                              <p:spTgt spid="20"/>
                                            </p:tgtEl>
                                            <p:attrNameLst>
                                              <p:attrName>ppt_y</p:attrName>
                                            </p:attrNameLst>
                                          </p:cBhvr>
                                          <p:tavLst>
                                            <p:tav tm="0">
                                              <p:val>
                                                <p:strVal val="#ppt_y+1"/>
                                              </p:val>
                                            </p:tav>
                                            <p:tav tm="100000">
                                              <p:val>
                                                <p:strVal val="#ppt_y-.03"/>
                                              </p:val>
                                            </p:tav>
                                          </p:tavLst>
                                        </p:anim>
                                        <p:anim calcmode="lin" valueType="num">
                                          <p:cBhvr>
                                            <p:cTn id="23" dur="70" accel="100000" fill="hold">
                                              <p:stCondLst>
                                                <p:cond delay="630"/>
                                              </p:stCondLst>
                                            </p:cTn>
                                            <p:tgtEl>
                                              <p:spTgt spid="20"/>
                                            </p:tgtEl>
                                            <p:attrNameLst>
                                              <p:attrName>ppt_y</p:attrName>
                                            </p:attrNameLst>
                                          </p:cBhvr>
                                          <p:tavLst>
                                            <p:tav tm="0">
                                              <p:val>
                                                <p:strVal val="#ppt_y-.03"/>
                                              </p:val>
                                            </p:tav>
                                            <p:tav tm="100000">
                                              <p:val>
                                                <p:strVal val="#ppt_y"/>
                                              </p:val>
                                            </p:tav>
                                          </p:tavLst>
                                        </p:anim>
                                      </p:childTnLst>
                                    </p:cTn>
                                  </p:par>
                                </p:childTnLst>
                              </p:cTn>
                            </p:par>
                            <p:par>
                              <p:cTn id="24" fill="hold">
                                <p:stCondLst>
                                  <p:cond delay="2000"/>
                                </p:stCondLst>
                                <p:childTnLst>
                                  <p:par>
                                    <p:cTn id="25" presetID="1"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par>
                              <p:cTn id="27" fill="hold">
                                <p:stCondLst>
                                  <p:cond delay="20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2500"/>
                                </p:stCondLst>
                                <p:childTnLst>
                                  <p:par>
                                    <p:cTn id="32" presetID="1"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par>
                              <p:cTn id="34" fill="hold">
                                <p:stCondLst>
                                  <p:cond delay="2500"/>
                                </p:stCondLst>
                                <p:childTnLst>
                                  <p:par>
                                    <p:cTn id="35" presetID="2" presetClass="entr" presetSubtype="2" accel="70000" fill="hold" grpId="0" nodeType="afterEffect" p14:presetBounceEnd="50000">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14:bounceEnd="50000">
                                          <p:cBhvr additive="base">
                                            <p:cTn id="37" dur="500" fill="hold"/>
                                            <p:tgtEl>
                                              <p:spTgt spid="9"/>
                                            </p:tgtEl>
                                            <p:attrNameLst>
                                              <p:attrName>ppt_x</p:attrName>
                                            </p:attrNameLst>
                                          </p:cBhvr>
                                          <p:tavLst>
                                            <p:tav tm="0">
                                              <p:val>
                                                <p:strVal val="1+#ppt_w/2"/>
                                              </p:val>
                                            </p:tav>
                                            <p:tav tm="100000">
                                              <p:val>
                                                <p:strVal val="#ppt_x"/>
                                              </p:val>
                                            </p:tav>
                                          </p:tavLst>
                                        </p:anim>
                                        <p:anim calcmode="lin" valueType="num" p14:bounceEnd="50000">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par>
                              <p:cTn id="39" fill="hold">
                                <p:stCondLst>
                                  <p:cond delay="3000"/>
                                </p:stCondLst>
                                <p:childTnLst>
                                  <p:par>
                                    <p:cTn id="40" presetID="53" presetClass="entr" presetSubtype="16" fill="hold" nodeType="after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p:cTn id="42" dur="200" fill="hold"/>
                                            <p:tgtEl>
                                              <p:spTgt spid="29"/>
                                            </p:tgtEl>
                                            <p:attrNameLst>
                                              <p:attrName>ppt_w</p:attrName>
                                            </p:attrNameLst>
                                          </p:cBhvr>
                                          <p:tavLst>
                                            <p:tav tm="0">
                                              <p:val>
                                                <p:fltVal val="0"/>
                                              </p:val>
                                            </p:tav>
                                            <p:tav tm="100000">
                                              <p:val>
                                                <p:strVal val="#ppt_w"/>
                                              </p:val>
                                            </p:tav>
                                          </p:tavLst>
                                        </p:anim>
                                        <p:anim calcmode="lin" valueType="num">
                                          <p:cBhvr>
                                            <p:cTn id="43" dur="200" fill="hold"/>
                                            <p:tgtEl>
                                              <p:spTgt spid="29"/>
                                            </p:tgtEl>
                                            <p:attrNameLst>
                                              <p:attrName>ppt_h</p:attrName>
                                            </p:attrNameLst>
                                          </p:cBhvr>
                                          <p:tavLst>
                                            <p:tav tm="0">
                                              <p:val>
                                                <p:fltVal val="0"/>
                                              </p:val>
                                            </p:tav>
                                            <p:tav tm="100000">
                                              <p:val>
                                                <p:strVal val="#ppt_h"/>
                                              </p:val>
                                            </p:tav>
                                          </p:tavLst>
                                        </p:anim>
                                        <p:animEffect transition="in" filter="fade">
                                          <p:cBhvr>
                                            <p:cTn id="44" dur="200"/>
                                            <p:tgtEl>
                                              <p:spTgt spid="29"/>
                                            </p:tgtEl>
                                          </p:cBhvr>
                                        </p:animEffect>
                                      </p:childTnLst>
                                    </p:cTn>
                                  </p:par>
                                </p:childTnLst>
                              </p:cTn>
                            </p:par>
                            <p:par>
                              <p:cTn id="45" fill="hold">
                                <p:stCondLst>
                                  <p:cond delay="3500"/>
                                </p:stCondLst>
                                <p:childTnLst>
                                  <p:par>
                                    <p:cTn id="46" presetID="26" presetClass="emph" presetSubtype="0" fill="hold" nodeType="afterEffect">
                                      <p:stCondLst>
                                        <p:cond delay="0"/>
                                      </p:stCondLst>
                                      <p:childTnLst>
                                        <p:animEffect transition="out" filter="fade">
                                          <p:cBhvr>
                                            <p:cTn id="47" dur="500" tmFilter="0, 0; .2, .5; .8, .5; 1, 0"/>
                                            <p:tgtEl>
                                              <p:spTgt spid="29"/>
                                            </p:tgtEl>
                                          </p:cBhvr>
                                        </p:animEffect>
                                        <p:animScale>
                                          <p:cBhvr>
                                            <p:cTn id="48" dur="250" autoRev="1" fill="hold"/>
                                            <p:tgtEl>
                                              <p:spTgt spid="29"/>
                                            </p:tgtEl>
                                          </p:cBhvr>
                                          <p:by x="105000" y="105000"/>
                                        </p:animScale>
                                      </p:childTnLst>
                                    </p:cTn>
                                  </p:par>
                                </p:childTnLst>
                              </p:cTn>
                            </p:par>
                            <p:par>
                              <p:cTn id="49" fill="hold">
                                <p:stCondLst>
                                  <p:cond delay="4000"/>
                                </p:stCondLst>
                                <p:childTnLst>
                                  <p:par>
                                    <p:cTn id="50" presetID="16" presetClass="entr" presetSubtype="37" fill="hold" grpId="0" nodeType="afterEffect">
                                      <p:stCondLst>
                                        <p:cond delay="300"/>
                                      </p:stCondLst>
                                      <p:childTnLst>
                                        <p:set>
                                          <p:cBhvr>
                                            <p:cTn id="51" dur="1" fill="hold">
                                              <p:stCondLst>
                                                <p:cond delay="0"/>
                                              </p:stCondLst>
                                            </p:cTn>
                                            <p:tgtEl>
                                              <p:spTgt spid="19"/>
                                            </p:tgtEl>
                                            <p:attrNameLst>
                                              <p:attrName>style.visibility</p:attrName>
                                            </p:attrNameLst>
                                          </p:cBhvr>
                                          <p:to>
                                            <p:strVal val="visible"/>
                                          </p:to>
                                        </p:set>
                                        <p:animEffect transition="in" filter="barn(outVertical)">
                                          <p:cBhvr>
                                            <p:cTn id="52" dur="7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 fill="hold"/>
                                            <p:tgtEl>
                                              <p:spTgt spid="4"/>
                                            </p:tgtEl>
                                            <p:attrNameLst>
                                              <p:attrName>ppt_w</p:attrName>
                                            </p:attrNameLst>
                                          </p:cBhvr>
                                          <p:tavLst>
                                            <p:tav tm="0">
                                              <p:val>
                                                <p:fltVal val="0"/>
                                              </p:val>
                                            </p:tav>
                                            <p:tav tm="100000">
                                              <p:val>
                                                <p:strVal val="#ppt_w"/>
                                              </p:val>
                                            </p:tav>
                                          </p:tavLst>
                                        </p:anim>
                                        <p:anim calcmode="lin" valueType="num">
                                          <p:cBhvr>
                                            <p:cTn id="8" dur="200" fill="hold"/>
                                            <p:tgtEl>
                                              <p:spTgt spid="4"/>
                                            </p:tgtEl>
                                            <p:attrNameLst>
                                              <p:attrName>ppt_h</p:attrName>
                                            </p:attrNameLst>
                                          </p:cBhvr>
                                          <p:tavLst>
                                            <p:tav tm="0">
                                              <p:val>
                                                <p:fltVal val="0"/>
                                              </p:val>
                                            </p:tav>
                                            <p:tav tm="100000">
                                              <p:val>
                                                <p:strVal val="#ppt_h"/>
                                              </p:val>
                                            </p:tav>
                                          </p:tavLst>
                                        </p:anim>
                                        <p:animEffect transition="in" filter="fade">
                                          <p:cBhvr>
                                            <p:cTn id="9" dur="200"/>
                                            <p:tgtEl>
                                              <p:spTgt spid="4"/>
                                            </p:tgtEl>
                                          </p:cBhvr>
                                        </p:animEffect>
                                      </p:childTnLst>
                                    </p:cTn>
                                  </p:par>
                                </p:childTnLst>
                              </p:cTn>
                            </p:par>
                            <p:par>
                              <p:cTn id="10" fill="hold">
                                <p:stCondLst>
                                  <p:cond delay="500"/>
                                </p:stCondLst>
                                <p:childTnLst>
                                  <p:par>
                                    <p:cTn id="11" presetID="32" presetClass="emph" presetSubtype="0" fill="hold" nodeType="afterEffect">
                                      <p:stCondLst>
                                        <p:cond delay="0"/>
                                      </p:stCondLst>
                                      <p:childTnLst>
                                        <p:animRot by="120000">
                                          <p:cBhvr>
                                            <p:cTn id="12" dur="50" fill="hold">
                                              <p:stCondLst>
                                                <p:cond delay="0"/>
                                              </p:stCondLst>
                                            </p:cTn>
                                            <p:tgtEl>
                                              <p:spTgt spid="4"/>
                                            </p:tgtEl>
                                            <p:attrNameLst>
                                              <p:attrName>r</p:attrName>
                                            </p:attrNameLst>
                                          </p:cBhvr>
                                        </p:animRot>
                                        <p:animRot by="-240000">
                                          <p:cBhvr>
                                            <p:cTn id="13" dur="100" fill="hold">
                                              <p:stCondLst>
                                                <p:cond delay="100"/>
                                              </p:stCondLst>
                                            </p:cTn>
                                            <p:tgtEl>
                                              <p:spTgt spid="4"/>
                                            </p:tgtEl>
                                            <p:attrNameLst>
                                              <p:attrName>r</p:attrName>
                                            </p:attrNameLst>
                                          </p:cBhvr>
                                        </p:animRot>
                                        <p:animRot by="240000">
                                          <p:cBhvr>
                                            <p:cTn id="14" dur="100" fill="hold">
                                              <p:stCondLst>
                                                <p:cond delay="200"/>
                                              </p:stCondLst>
                                            </p:cTn>
                                            <p:tgtEl>
                                              <p:spTgt spid="4"/>
                                            </p:tgtEl>
                                            <p:attrNameLst>
                                              <p:attrName>r</p:attrName>
                                            </p:attrNameLst>
                                          </p:cBhvr>
                                        </p:animRot>
                                        <p:animRot by="-240000">
                                          <p:cBhvr>
                                            <p:cTn id="15" dur="100" fill="hold">
                                              <p:stCondLst>
                                                <p:cond delay="300"/>
                                              </p:stCondLst>
                                            </p:cTn>
                                            <p:tgtEl>
                                              <p:spTgt spid="4"/>
                                            </p:tgtEl>
                                            <p:attrNameLst>
                                              <p:attrName>r</p:attrName>
                                            </p:attrNameLst>
                                          </p:cBhvr>
                                        </p:animRot>
                                        <p:animRot by="120000">
                                          <p:cBhvr>
                                            <p:cTn id="16" dur="100" fill="hold">
                                              <p:stCondLst>
                                                <p:cond delay="400"/>
                                              </p:stCondLst>
                                            </p:cTn>
                                            <p:tgtEl>
                                              <p:spTgt spid="4"/>
                                            </p:tgtEl>
                                            <p:attrNameLst>
                                              <p:attrName>r</p:attrName>
                                            </p:attrNameLst>
                                          </p:cBhvr>
                                        </p:animRot>
                                      </p:childTnLst>
                                    </p:cTn>
                                  </p:par>
                                </p:childTnLst>
                              </p:cTn>
                            </p:par>
                            <p:par>
                              <p:cTn id="17" fill="hold">
                                <p:stCondLst>
                                  <p:cond delay="1000"/>
                                </p:stCondLst>
                                <p:childTnLst>
                                  <p:par>
                                    <p:cTn id="18" presetID="37" presetClass="entr" presetSubtype="0"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700"/>
                                            <p:tgtEl>
                                              <p:spTgt spid="20"/>
                                            </p:tgtEl>
                                          </p:cBhvr>
                                        </p:animEffect>
                                        <p:anim calcmode="lin" valueType="num">
                                          <p:cBhvr>
                                            <p:cTn id="21" dur="700" fill="hold"/>
                                            <p:tgtEl>
                                              <p:spTgt spid="20"/>
                                            </p:tgtEl>
                                            <p:attrNameLst>
                                              <p:attrName>ppt_x</p:attrName>
                                            </p:attrNameLst>
                                          </p:cBhvr>
                                          <p:tavLst>
                                            <p:tav tm="0">
                                              <p:val>
                                                <p:strVal val="#ppt_x"/>
                                              </p:val>
                                            </p:tav>
                                            <p:tav tm="100000">
                                              <p:val>
                                                <p:strVal val="#ppt_x"/>
                                              </p:val>
                                            </p:tav>
                                          </p:tavLst>
                                        </p:anim>
                                        <p:anim calcmode="lin" valueType="num">
                                          <p:cBhvr>
                                            <p:cTn id="22" dur="630" decel="100000" fill="hold"/>
                                            <p:tgtEl>
                                              <p:spTgt spid="20"/>
                                            </p:tgtEl>
                                            <p:attrNameLst>
                                              <p:attrName>ppt_y</p:attrName>
                                            </p:attrNameLst>
                                          </p:cBhvr>
                                          <p:tavLst>
                                            <p:tav tm="0">
                                              <p:val>
                                                <p:strVal val="#ppt_y+1"/>
                                              </p:val>
                                            </p:tav>
                                            <p:tav tm="100000">
                                              <p:val>
                                                <p:strVal val="#ppt_y-.03"/>
                                              </p:val>
                                            </p:tav>
                                          </p:tavLst>
                                        </p:anim>
                                        <p:anim calcmode="lin" valueType="num">
                                          <p:cBhvr>
                                            <p:cTn id="23" dur="70" accel="100000" fill="hold">
                                              <p:stCondLst>
                                                <p:cond delay="630"/>
                                              </p:stCondLst>
                                            </p:cTn>
                                            <p:tgtEl>
                                              <p:spTgt spid="20"/>
                                            </p:tgtEl>
                                            <p:attrNameLst>
                                              <p:attrName>ppt_y</p:attrName>
                                            </p:attrNameLst>
                                          </p:cBhvr>
                                          <p:tavLst>
                                            <p:tav tm="0">
                                              <p:val>
                                                <p:strVal val="#ppt_y-.03"/>
                                              </p:val>
                                            </p:tav>
                                            <p:tav tm="100000">
                                              <p:val>
                                                <p:strVal val="#ppt_y"/>
                                              </p:val>
                                            </p:tav>
                                          </p:tavLst>
                                        </p:anim>
                                      </p:childTnLst>
                                    </p:cTn>
                                  </p:par>
                                </p:childTnLst>
                              </p:cTn>
                            </p:par>
                            <p:par>
                              <p:cTn id="24" fill="hold">
                                <p:stCondLst>
                                  <p:cond delay="2000"/>
                                </p:stCondLst>
                                <p:childTnLst>
                                  <p:par>
                                    <p:cTn id="25" presetID="1"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par>
                              <p:cTn id="27" fill="hold">
                                <p:stCondLst>
                                  <p:cond delay="20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2500"/>
                                </p:stCondLst>
                                <p:childTnLst>
                                  <p:par>
                                    <p:cTn id="32" presetID="1"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par>
                              <p:cTn id="34" fill="hold">
                                <p:stCondLst>
                                  <p:cond delay="2500"/>
                                </p:stCondLst>
                                <p:childTnLst>
                                  <p:par>
                                    <p:cTn id="35" presetID="2" presetClass="entr" presetSubtype="2" accel="70000" fill="hold" grpId="0" nodeType="after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1+#ppt_w/2"/>
                                              </p:val>
                                            </p:tav>
                                            <p:tav tm="100000">
                                              <p:val>
                                                <p:strVal val="#ppt_x"/>
                                              </p:val>
                                            </p:tav>
                                          </p:tavLst>
                                        </p:anim>
                                        <p:anim calcmode="lin" valueType="num">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par>
                              <p:cTn id="39" fill="hold">
                                <p:stCondLst>
                                  <p:cond delay="3000"/>
                                </p:stCondLst>
                                <p:childTnLst>
                                  <p:par>
                                    <p:cTn id="40" presetID="53" presetClass="entr" presetSubtype="16" fill="hold" nodeType="after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p:cTn id="42" dur="200" fill="hold"/>
                                            <p:tgtEl>
                                              <p:spTgt spid="29"/>
                                            </p:tgtEl>
                                            <p:attrNameLst>
                                              <p:attrName>ppt_w</p:attrName>
                                            </p:attrNameLst>
                                          </p:cBhvr>
                                          <p:tavLst>
                                            <p:tav tm="0">
                                              <p:val>
                                                <p:fltVal val="0"/>
                                              </p:val>
                                            </p:tav>
                                            <p:tav tm="100000">
                                              <p:val>
                                                <p:strVal val="#ppt_w"/>
                                              </p:val>
                                            </p:tav>
                                          </p:tavLst>
                                        </p:anim>
                                        <p:anim calcmode="lin" valueType="num">
                                          <p:cBhvr>
                                            <p:cTn id="43" dur="200" fill="hold"/>
                                            <p:tgtEl>
                                              <p:spTgt spid="29"/>
                                            </p:tgtEl>
                                            <p:attrNameLst>
                                              <p:attrName>ppt_h</p:attrName>
                                            </p:attrNameLst>
                                          </p:cBhvr>
                                          <p:tavLst>
                                            <p:tav tm="0">
                                              <p:val>
                                                <p:fltVal val="0"/>
                                              </p:val>
                                            </p:tav>
                                            <p:tav tm="100000">
                                              <p:val>
                                                <p:strVal val="#ppt_h"/>
                                              </p:val>
                                            </p:tav>
                                          </p:tavLst>
                                        </p:anim>
                                        <p:animEffect transition="in" filter="fade">
                                          <p:cBhvr>
                                            <p:cTn id="44" dur="200"/>
                                            <p:tgtEl>
                                              <p:spTgt spid="29"/>
                                            </p:tgtEl>
                                          </p:cBhvr>
                                        </p:animEffect>
                                      </p:childTnLst>
                                    </p:cTn>
                                  </p:par>
                                </p:childTnLst>
                              </p:cTn>
                            </p:par>
                            <p:par>
                              <p:cTn id="45" fill="hold">
                                <p:stCondLst>
                                  <p:cond delay="3500"/>
                                </p:stCondLst>
                                <p:childTnLst>
                                  <p:par>
                                    <p:cTn id="46" presetID="26" presetClass="emph" presetSubtype="0" fill="hold" nodeType="afterEffect">
                                      <p:stCondLst>
                                        <p:cond delay="0"/>
                                      </p:stCondLst>
                                      <p:childTnLst>
                                        <p:animEffect transition="out" filter="fade">
                                          <p:cBhvr>
                                            <p:cTn id="47" dur="500" tmFilter="0, 0; .2, .5; .8, .5; 1, 0"/>
                                            <p:tgtEl>
                                              <p:spTgt spid="29"/>
                                            </p:tgtEl>
                                          </p:cBhvr>
                                        </p:animEffect>
                                        <p:animScale>
                                          <p:cBhvr>
                                            <p:cTn id="48" dur="250" autoRev="1" fill="hold"/>
                                            <p:tgtEl>
                                              <p:spTgt spid="29"/>
                                            </p:tgtEl>
                                          </p:cBhvr>
                                          <p:by x="105000" y="105000"/>
                                        </p:animScale>
                                      </p:childTnLst>
                                    </p:cTn>
                                  </p:par>
                                </p:childTnLst>
                              </p:cTn>
                            </p:par>
                            <p:par>
                              <p:cTn id="49" fill="hold">
                                <p:stCondLst>
                                  <p:cond delay="4000"/>
                                </p:stCondLst>
                                <p:childTnLst>
                                  <p:par>
                                    <p:cTn id="50" presetID="16" presetClass="entr" presetSubtype="37" fill="hold" grpId="0" nodeType="afterEffect">
                                      <p:stCondLst>
                                        <p:cond delay="300"/>
                                      </p:stCondLst>
                                      <p:childTnLst>
                                        <p:set>
                                          <p:cBhvr>
                                            <p:cTn id="51" dur="1" fill="hold">
                                              <p:stCondLst>
                                                <p:cond delay="0"/>
                                              </p:stCondLst>
                                            </p:cTn>
                                            <p:tgtEl>
                                              <p:spTgt spid="19"/>
                                            </p:tgtEl>
                                            <p:attrNameLst>
                                              <p:attrName>style.visibility</p:attrName>
                                            </p:attrNameLst>
                                          </p:cBhvr>
                                          <p:to>
                                            <p:strVal val="visible"/>
                                          </p:to>
                                        </p:set>
                                        <p:animEffect transition="in" filter="barn(outVertical)">
                                          <p:cBhvr>
                                            <p:cTn id="52" dur="700"/>
                                            <p:tgtEl>
                                              <p:spTgt spid="19"/>
                                            </p:tgtEl>
                                          </p:cBhvr>
                                        </p:animEffect>
                                      </p:childTnLst>
                                    </p:cTn>
                                  </p:par>
                                </p:childTnLst>
                              </p:cTn>
                            </p:par>
                            <p:par>
                              <p:cTn id="53" fill="hold">
                                <p:stCondLst>
                                  <p:cond delay="5300"/>
                                </p:stCondLst>
                                <p:childTnLst>
                                  <p:par>
                                    <p:cTn id="54" presetID="50" presetClass="entr" presetSubtype="0" decel="100000" fill="hold" grpId="0" nodeType="afterEffect">
                                      <p:stCondLst>
                                        <p:cond delay="0"/>
                                      </p:stCondLst>
                                      <p:childTnLst>
                                        <p:set>
                                          <p:cBhvr>
                                            <p:cTn id="55" dur="1" fill="hold">
                                              <p:stCondLst>
                                                <p:cond delay="0"/>
                                              </p:stCondLst>
                                            </p:cTn>
                                            <p:tgtEl>
                                              <p:spTgt spid="32"/>
                                            </p:tgtEl>
                                            <p:attrNameLst>
                                              <p:attrName>style.visibility</p:attrName>
                                            </p:attrNameLst>
                                          </p:cBhvr>
                                          <p:to>
                                            <p:strVal val="visible"/>
                                          </p:to>
                                        </p:set>
                                        <p:anim calcmode="lin" valueType="num">
                                          <p:cBhvr>
                                            <p:cTn id="56" dur="1000" fill="hold"/>
                                            <p:tgtEl>
                                              <p:spTgt spid="32"/>
                                            </p:tgtEl>
                                            <p:attrNameLst>
                                              <p:attrName>ppt_w</p:attrName>
                                            </p:attrNameLst>
                                          </p:cBhvr>
                                          <p:tavLst>
                                            <p:tav tm="0">
                                              <p:val>
                                                <p:strVal val="#ppt_w+.3"/>
                                              </p:val>
                                            </p:tav>
                                            <p:tav tm="100000">
                                              <p:val>
                                                <p:strVal val="#ppt_w"/>
                                              </p:val>
                                            </p:tav>
                                          </p:tavLst>
                                        </p:anim>
                                        <p:anim calcmode="lin" valueType="num">
                                          <p:cBhvr>
                                            <p:cTn id="57" dur="1000" fill="hold"/>
                                            <p:tgtEl>
                                              <p:spTgt spid="32"/>
                                            </p:tgtEl>
                                            <p:attrNameLst>
                                              <p:attrName>ppt_h</p:attrName>
                                            </p:attrNameLst>
                                          </p:cBhvr>
                                          <p:tavLst>
                                            <p:tav tm="0">
                                              <p:val>
                                                <p:strVal val="#ppt_h"/>
                                              </p:val>
                                            </p:tav>
                                            <p:tav tm="100000">
                                              <p:val>
                                                <p:strVal val="#ppt_h"/>
                                              </p:val>
                                            </p:tav>
                                          </p:tavLst>
                                        </p:anim>
                                        <p:animEffect transition="in" filter="fade">
                                          <p:cBhvr>
                                            <p:cTn id="58" dur="1000"/>
                                            <p:tgtEl>
                                              <p:spTgt spid="32"/>
                                            </p:tgtEl>
                                          </p:cBhvr>
                                        </p:animEffect>
                                      </p:childTnLst>
                                    </p:cTn>
                                  </p:par>
                                  <p:par>
                                    <p:cTn id="59" presetID="50" presetClass="entr" presetSubtype="0" decel="100000" fill="hold" grpId="0" nodeType="withEffect">
                                      <p:stCondLst>
                                        <p:cond delay="450"/>
                                      </p:stCondLst>
                                      <p:childTnLst>
                                        <p:set>
                                          <p:cBhvr>
                                            <p:cTn id="60" dur="1" fill="hold">
                                              <p:stCondLst>
                                                <p:cond delay="0"/>
                                              </p:stCondLst>
                                            </p:cTn>
                                            <p:tgtEl>
                                              <p:spTgt spid="33"/>
                                            </p:tgtEl>
                                            <p:attrNameLst>
                                              <p:attrName>style.visibility</p:attrName>
                                            </p:attrNameLst>
                                          </p:cBhvr>
                                          <p:to>
                                            <p:strVal val="visible"/>
                                          </p:to>
                                        </p:set>
                                        <p:anim calcmode="lin" valueType="num">
                                          <p:cBhvr>
                                            <p:cTn id="61" dur="1000" fill="hold"/>
                                            <p:tgtEl>
                                              <p:spTgt spid="33"/>
                                            </p:tgtEl>
                                            <p:attrNameLst>
                                              <p:attrName>ppt_w</p:attrName>
                                            </p:attrNameLst>
                                          </p:cBhvr>
                                          <p:tavLst>
                                            <p:tav tm="0">
                                              <p:val>
                                                <p:strVal val="#ppt_w+.3"/>
                                              </p:val>
                                            </p:tav>
                                            <p:tav tm="100000">
                                              <p:val>
                                                <p:strVal val="#ppt_w"/>
                                              </p:val>
                                            </p:tav>
                                          </p:tavLst>
                                        </p:anim>
                                        <p:anim calcmode="lin" valueType="num">
                                          <p:cBhvr>
                                            <p:cTn id="62" dur="1000" fill="hold"/>
                                            <p:tgtEl>
                                              <p:spTgt spid="33"/>
                                            </p:tgtEl>
                                            <p:attrNameLst>
                                              <p:attrName>ppt_h</p:attrName>
                                            </p:attrNameLst>
                                          </p:cBhvr>
                                          <p:tavLst>
                                            <p:tav tm="0">
                                              <p:val>
                                                <p:strVal val="#ppt_h"/>
                                              </p:val>
                                            </p:tav>
                                            <p:tav tm="100000">
                                              <p:val>
                                                <p:strVal val="#ppt_h"/>
                                              </p:val>
                                            </p:tav>
                                          </p:tavLst>
                                        </p:anim>
                                        <p:animEffect transition="in" filter="fade">
                                          <p:cBhvr>
                                            <p:cTn id="63" dur="1000"/>
                                            <p:tgtEl>
                                              <p:spTgt spid="33"/>
                                            </p:tgtEl>
                                          </p:cBhvr>
                                        </p:animEffect>
                                      </p:childTnLst>
                                    </p:cTn>
                                  </p:par>
                                  <p:par>
                                    <p:cTn id="64" presetID="50" presetClass="entr" presetSubtype="0" decel="100000" fill="hold" grpId="0" nodeType="withEffect">
                                      <p:stCondLst>
                                        <p:cond delay="850"/>
                                      </p:stCondLst>
                                      <p:childTnLst>
                                        <p:set>
                                          <p:cBhvr>
                                            <p:cTn id="65" dur="1" fill="hold">
                                              <p:stCondLst>
                                                <p:cond delay="0"/>
                                              </p:stCondLst>
                                            </p:cTn>
                                            <p:tgtEl>
                                              <p:spTgt spid="34"/>
                                            </p:tgtEl>
                                            <p:attrNameLst>
                                              <p:attrName>style.visibility</p:attrName>
                                            </p:attrNameLst>
                                          </p:cBhvr>
                                          <p:to>
                                            <p:strVal val="visible"/>
                                          </p:to>
                                        </p:set>
                                        <p:anim calcmode="lin" valueType="num">
                                          <p:cBhvr>
                                            <p:cTn id="66" dur="1000" fill="hold"/>
                                            <p:tgtEl>
                                              <p:spTgt spid="34"/>
                                            </p:tgtEl>
                                            <p:attrNameLst>
                                              <p:attrName>ppt_w</p:attrName>
                                            </p:attrNameLst>
                                          </p:cBhvr>
                                          <p:tavLst>
                                            <p:tav tm="0">
                                              <p:val>
                                                <p:strVal val="#ppt_w+.3"/>
                                              </p:val>
                                            </p:tav>
                                            <p:tav tm="100000">
                                              <p:val>
                                                <p:strVal val="#ppt_w"/>
                                              </p:val>
                                            </p:tav>
                                          </p:tavLst>
                                        </p:anim>
                                        <p:anim calcmode="lin" valueType="num">
                                          <p:cBhvr>
                                            <p:cTn id="67" dur="1000" fill="hold"/>
                                            <p:tgtEl>
                                              <p:spTgt spid="34"/>
                                            </p:tgtEl>
                                            <p:attrNameLst>
                                              <p:attrName>ppt_h</p:attrName>
                                            </p:attrNameLst>
                                          </p:cBhvr>
                                          <p:tavLst>
                                            <p:tav tm="0">
                                              <p:val>
                                                <p:strVal val="#ppt_h"/>
                                              </p:val>
                                            </p:tav>
                                            <p:tav tm="100000">
                                              <p:val>
                                                <p:strVal val="#ppt_h"/>
                                              </p:val>
                                            </p:tav>
                                          </p:tavLst>
                                        </p:anim>
                                        <p:animEffect transition="in" filter="fade">
                                          <p:cBhvr>
                                            <p:cTn id="68" dur="1000"/>
                                            <p:tgtEl>
                                              <p:spTgt spid="34"/>
                                            </p:tgtEl>
                                          </p:cBhvr>
                                        </p:animEffect>
                                      </p:childTnLst>
                                    </p:cTn>
                                  </p:par>
                                  <p:par>
                                    <p:cTn id="69" presetID="50" presetClass="entr" presetSubtype="0" decel="100000" fill="hold" grpId="0" nodeType="withEffect">
                                      <p:stCondLst>
                                        <p:cond delay="1250"/>
                                      </p:stCondLst>
                                      <p:childTnLst>
                                        <p:set>
                                          <p:cBhvr>
                                            <p:cTn id="70" dur="1" fill="hold">
                                              <p:stCondLst>
                                                <p:cond delay="0"/>
                                              </p:stCondLst>
                                            </p:cTn>
                                            <p:tgtEl>
                                              <p:spTgt spid="35"/>
                                            </p:tgtEl>
                                            <p:attrNameLst>
                                              <p:attrName>style.visibility</p:attrName>
                                            </p:attrNameLst>
                                          </p:cBhvr>
                                          <p:to>
                                            <p:strVal val="visible"/>
                                          </p:to>
                                        </p:set>
                                        <p:anim calcmode="lin" valueType="num">
                                          <p:cBhvr>
                                            <p:cTn id="71" dur="1000" fill="hold"/>
                                            <p:tgtEl>
                                              <p:spTgt spid="35"/>
                                            </p:tgtEl>
                                            <p:attrNameLst>
                                              <p:attrName>ppt_w</p:attrName>
                                            </p:attrNameLst>
                                          </p:cBhvr>
                                          <p:tavLst>
                                            <p:tav tm="0">
                                              <p:val>
                                                <p:strVal val="#ppt_w+.3"/>
                                              </p:val>
                                            </p:tav>
                                            <p:tav tm="100000">
                                              <p:val>
                                                <p:strVal val="#ppt_w"/>
                                              </p:val>
                                            </p:tav>
                                          </p:tavLst>
                                        </p:anim>
                                        <p:anim calcmode="lin" valueType="num">
                                          <p:cBhvr>
                                            <p:cTn id="72" dur="1000" fill="hold"/>
                                            <p:tgtEl>
                                              <p:spTgt spid="35"/>
                                            </p:tgtEl>
                                            <p:attrNameLst>
                                              <p:attrName>ppt_h</p:attrName>
                                            </p:attrNameLst>
                                          </p:cBhvr>
                                          <p:tavLst>
                                            <p:tav tm="0">
                                              <p:val>
                                                <p:strVal val="#ppt_h"/>
                                              </p:val>
                                            </p:tav>
                                            <p:tav tm="100000">
                                              <p:val>
                                                <p:strVal val="#ppt_h"/>
                                              </p:val>
                                            </p:tav>
                                          </p:tavLst>
                                        </p:anim>
                                        <p:animEffect transition="in" filter="fade">
                                          <p:cBhvr>
                                            <p:cTn id="73"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P spid="32" grpId="0"/>
          <p:bldP spid="33" grpId="0"/>
          <p:bldP spid="34" grpId="0"/>
          <p:bldP spid="35"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332611"/>
            <a:ext cx="384317" cy="61431"/>
            <a:chOff x="4318304" y="3089060"/>
            <a:chExt cx="384317" cy="61430"/>
          </a:xfrm>
        </p:grpSpPr>
        <p:sp>
          <p:nvSpPr>
            <p:cNvPr id="12" name="圆角矩形 11"/>
            <p:cNvSpPr/>
            <p:nvPr/>
          </p:nvSpPr>
          <p:spPr>
            <a:xfrm rot="16200000">
              <a:off x="4499257" y="2947128"/>
              <a:ext cx="22409" cy="384316"/>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9525">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sp>
          <p:nvSpPr>
            <p:cNvPr id="13" name="圆角矩形 12"/>
            <p:cNvSpPr/>
            <p:nvPr/>
          </p:nvSpPr>
          <p:spPr>
            <a:xfrm rot="16200000">
              <a:off x="4499258" y="2908107"/>
              <a:ext cx="22409" cy="384316"/>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9525">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cs typeface="+mn-ea"/>
                <a:sym typeface="+mn-lt"/>
              </a:endParaRPr>
            </a:p>
          </p:txBody>
        </p:sp>
      </p:grpSp>
      <p:sp>
        <p:nvSpPr>
          <p:cNvPr id="3" name="文本框 2">
            <a:extLst>
              <a:ext uri="{FF2B5EF4-FFF2-40B4-BE49-F238E27FC236}">
                <a16:creationId xmlns:a16="http://schemas.microsoft.com/office/drawing/2014/main" id="{7E8E83DF-4074-CC4E-880C-4B5E75242D20}"/>
              </a:ext>
            </a:extLst>
          </p:cNvPr>
          <p:cNvSpPr txBox="1"/>
          <p:nvPr/>
        </p:nvSpPr>
        <p:spPr>
          <a:xfrm>
            <a:off x="285749" y="410655"/>
            <a:ext cx="10208420" cy="3077766"/>
          </a:xfrm>
          <a:prstGeom prst="rect">
            <a:avLst/>
          </a:prstGeom>
          <a:noFill/>
        </p:spPr>
        <p:txBody>
          <a:bodyPr wrap="square">
            <a:spAutoFit/>
          </a:bodyPr>
          <a:lstStyle/>
          <a:p>
            <a:r>
              <a:rPr lang="en-US" altLang="zh-CN" sz="3200" dirty="0">
                <a:solidFill>
                  <a:srgbClr val="000000"/>
                </a:solidFill>
                <a:effectLst/>
                <a:latin typeface="Times New Roman" panose="02020603050405020304" pitchFamily="18" charset="0"/>
              </a:rPr>
              <a:t>R</a:t>
            </a:r>
            <a:r>
              <a:rPr lang="en-US" altLang="zh-CN" sz="2000" dirty="0">
                <a:solidFill>
                  <a:srgbClr val="000000"/>
                </a:solidFill>
                <a:effectLst/>
                <a:latin typeface="Times New Roman" panose="02020603050405020304" pitchFamily="18" charset="0"/>
              </a:rPr>
              <a:t>EFERENCES </a:t>
            </a:r>
            <a:endParaRPr lang="en-US" altLang="zh-CN" dirty="0"/>
          </a:p>
          <a:p>
            <a:r>
              <a:rPr lang="en-US" altLang="zh-CN" sz="1800" dirty="0">
                <a:solidFill>
                  <a:srgbClr val="1A1A1A"/>
                </a:solidFill>
                <a:effectLst/>
                <a:latin typeface="Times New Roman" panose="02020603050405020304" pitchFamily="18" charset="0"/>
              </a:rPr>
              <a:t>[1] </a:t>
            </a:r>
            <a:endParaRPr lang="en-US" altLang="zh-CN" dirty="0"/>
          </a:p>
          <a:p>
            <a:r>
              <a:rPr lang="en-US" altLang="zh-CN" sz="1800" dirty="0">
                <a:solidFill>
                  <a:srgbClr val="1A1A1A"/>
                </a:solidFill>
                <a:effectLst/>
                <a:latin typeface="Times New Roman" panose="02020603050405020304" pitchFamily="18" charset="0"/>
              </a:rPr>
              <a:t>V. Sridharan, N. </a:t>
            </a:r>
            <a:r>
              <a:rPr lang="en-US" altLang="zh-CN" sz="1800" dirty="0" err="1">
                <a:solidFill>
                  <a:srgbClr val="1A1A1A"/>
                </a:solidFill>
                <a:effectLst/>
                <a:latin typeface="Times New Roman" panose="02020603050405020304" pitchFamily="18" charset="0"/>
              </a:rPr>
              <a:t>DeBardeleben</a:t>
            </a:r>
            <a:r>
              <a:rPr lang="en-US" altLang="zh-CN" sz="1800" dirty="0">
                <a:solidFill>
                  <a:srgbClr val="1A1A1A"/>
                </a:solidFill>
                <a:effectLst/>
                <a:latin typeface="Times New Roman" panose="02020603050405020304" pitchFamily="18" charset="0"/>
              </a:rPr>
              <a:t>, S. Blanchard, K. B. Ferreira, J. </a:t>
            </a:r>
            <a:r>
              <a:rPr lang="en-US" altLang="zh-CN" sz="1800" dirty="0" err="1">
                <a:solidFill>
                  <a:srgbClr val="1A1A1A"/>
                </a:solidFill>
                <a:effectLst/>
                <a:latin typeface="Times New Roman" panose="02020603050405020304" pitchFamily="18" charset="0"/>
              </a:rPr>
              <a:t>Stearley</a:t>
            </a:r>
            <a:r>
              <a:rPr lang="en-US" altLang="zh-CN" sz="1800" dirty="0">
                <a:solidFill>
                  <a:srgbClr val="1A1A1A"/>
                </a:solidFill>
                <a:effectLst/>
                <a:latin typeface="Times New Roman" panose="02020603050405020304" pitchFamily="18" charset="0"/>
              </a:rPr>
              <a:t>, J. </a:t>
            </a:r>
            <a:r>
              <a:rPr lang="en-US" altLang="zh-CN" sz="1800" dirty="0" err="1">
                <a:solidFill>
                  <a:srgbClr val="1A1A1A"/>
                </a:solidFill>
                <a:effectLst/>
                <a:latin typeface="Times New Roman" panose="02020603050405020304" pitchFamily="18" charset="0"/>
              </a:rPr>
              <a:t>Shalf</a:t>
            </a:r>
            <a:r>
              <a:rPr lang="en-US" altLang="zh-CN" sz="1800" dirty="0">
                <a:solidFill>
                  <a:srgbClr val="1A1A1A"/>
                </a:solidFill>
                <a:effectLst/>
                <a:latin typeface="Times New Roman" panose="02020603050405020304" pitchFamily="18" charset="0"/>
              </a:rPr>
              <a:t> and S. </a:t>
            </a:r>
            <a:r>
              <a:rPr lang="en-US" altLang="zh-CN" sz="1800" dirty="0" err="1">
                <a:solidFill>
                  <a:srgbClr val="1A1A1A"/>
                </a:solidFill>
                <a:effectLst/>
                <a:latin typeface="Times New Roman" panose="02020603050405020304" pitchFamily="18" charset="0"/>
              </a:rPr>
              <a:t>Gurumurthi</a:t>
            </a:r>
            <a:r>
              <a:rPr lang="en-US" altLang="zh-CN" sz="1800" dirty="0">
                <a:solidFill>
                  <a:srgbClr val="1A1A1A"/>
                </a:solidFill>
                <a:effectLst/>
                <a:latin typeface="Times New Roman" panose="02020603050405020304" pitchFamily="18" charset="0"/>
              </a:rPr>
              <a:t>, "Memory errors in modern systems: The good, the bad, and the ugly," in international Conference on Architectural Support for Programming Languages and Operating Systems (ASPLOS), 2015. </a:t>
            </a:r>
            <a:endParaRPr lang="en-US" altLang="zh-CN" dirty="0"/>
          </a:p>
          <a:p>
            <a:r>
              <a:rPr lang="en-US" altLang="zh-CN" sz="1800" dirty="0">
                <a:solidFill>
                  <a:srgbClr val="1A1A1A"/>
                </a:solidFill>
                <a:effectLst/>
                <a:latin typeface="Times New Roman" panose="02020603050405020304" pitchFamily="18" charset="0"/>
              </a:rPr>
              <a:t>[2] </a:t>
            </a:r>
            <a:endParaRPr lang="en-US" altLang="zh-CN" dirty="0"/>
          </a:p>
          <a:p>
            <a:r>
              <a:rPr lang="en-US" altLang="zh-CN" sz="1800" dirty="0">
                <a:solidFill>
                  <a:srgbClr val="1A1A1A"/>
                </a:solidFill>
                <a:effectLst/>
                <a:latin typeface="Times New Roman" panose="02020603050405020304" pitchFamily="18" charset="0"/>
              </a:rPr>
              <a:t>V. Sridharan and D. Liberty, "A Study of DRAM Failures in the Field," in SC’12: the International Conference on High Performance Computing, Networking, Storage and Analysis, 2012. [3] B. Schroeder and G. A. Gibson, "A Large-Scale Study of Failures in High-Performance Computing Systems," in International Conference on Dependable Systems and Networks (DSN), 2006. </a:t>
            </a:r>
            <a:endParaRPr lang="zh-CN" altLang="en-US" dirty="0"/>
          </a:p>
        </p:txBody>
      </p:sp>
      <p:sp>
        <p:nvSpPr>
          <p:cNvPr id="5" name="文本框 4">
            <a:extLst>
              <a:ext uri="{FF2B5EF4-FFF2-40B4-BE49-F238E27FC236}">
                <a16:creationId xmlns:a16="http://schemas.microsoft.com/office/drawing/2014/main" id="{59B753F7-1F5F-AD1D-049D-B56A985CEDA8}"/>
              </a:ext>
            </a:extLst>
          </p:cNvPr>
          <p:cNvSpPr txBox="1"/>
          <p:nvPr/>
        </p:nvSpPr>
        <p:spPr>
          <a:xfrm>
            <a:off x="285749" y="4549676"/>
            <a:ext cx="8665369" cy="2308324"/>
          </a:xfrm>
          <a:prstGeom prst="rect">
            <a:avLst/>
          </a:prstGeom>
          <a:noFill/>
        </p:spPr>
        <p:txBody>
          <a:bodyPr wrap="square">
            <a:spAutoFit/>
          </a:bodyPr>
          <a:lstStyle/>
          <a:p>
            <a:r>
              <a:rPr lang="en-US" altLang="zh-CN" sz="1800" dirty="0">
                <a:solidFill>
                  <a:srgbClr val="1A1A1A"/>
                </a:solidFill>
                <a:effectLst/>
                <a:latin typeface="Times New Roman" panose="02020603050405020304" pitchFamily="18" charset="0"/>
              </a:rPr>
              <a:t>[4] </a:t>
            </a:r>
            <a:endParaRPr lang="en-US" altLang="zh-CN" dirty="0"/>
          </a:p>
          <a:p>
            <a:r>
              <a:rPr lang="en-US" altLang="zh-CN" sz="1800" dirty="0">
                <a:solidFill>
                  <a:srgbClr val="1A1A1A"/>
                </a:solidFill>
                <a:effectLst/>
                <a:latin typeface="Times New Roman" panose="02020603050405020304" pitchFamily="18" charset="0"/>
              </a:rPr>
              <a:t>J. Chen, X. Jiang, Y. Zhang, L. Liu, H. Xu and Q. Liu, "CARE: Coordinated Augmentation for Elastic Resilience on DRAM Errors in Data Centers," in IEEE International Symposium on </a:t>
            </a:r>
            <a:r>
              <a:rPr lang="en-US" altLang="zh-CN" sz="1800" dirty="0" err="1">
                <a:solidFill>
                  <a:srgbClr val="1A1A1A"/>
                </a:solidFill>
                <a:effectLst/>
                <a:latin typeface="Times New Roman" panose="02020603050405020304" pitchFamily="18" charset="0"/>
              </a:rPr>
              <a:t>HighPerformance</a:t>
            </a:r>
            <a:r>
              <a:rPr lang="en-US" altLang="zh-CN" sz="1800" dirty="0">
                <a:solidFill>
                  <a:srgbClr val="1A1A1A"/>
                </a:solidFill>
                <a:effectLst/>
                <a:latin typeface="Times New Roman" panose="02020603050405020304" pitchFamily="18" charset="0"/>
              </a:rPr>
              <a:t> Computer Architecture (HPCA), 2021. </a:t>
            </a:r>
            <a:endParaRPr lang="en-US" altLang="zh-CN" dirty="0"/>
          </a:p>
          <a:p>
            <a:r>
              <a:rPr lang="en-US" altLang="zh-CN" sz="1800" dirty="0">
                <a:solidFill>
                  <a:srgbClr val="1A1A1A"/>
                </a:solidFill>
                <a:effectLst/>
                <a:latin typeface="Times New Roman" panose="02020603050405020304" pitchFamily="18" charset="0"/>
              </a:rPr>
              <a:t>[5] J. Meza, Q. Wu, S. Kumar and O. </a:t>
            </a:r>
            <a:r>
              <a:rPr lang="en-US" altLang="zh-CN" sz="1800" dirty="0" err="1">
                <a:solidFill>
                  <a:srgbClr val="1A1A1A"/>
                </a:solidFill>
                <a:effectLst/>
                <a:latin typeface="Times New Roman" panose="02020603050405020304" pitchFamily="18" charset="0"/>
              </a:rPr>
              <a:t>Mutlu</a:t>
            </a:r>
            <a:r>
              <a:rPr lang="en-US" altLang="zh-CN" sz="1800" dirty="0">
                <a:solidFill>
                  <a:srgbClr val="1A1A1A"/>
                </a:solidFill>
                <a:effectLst/>
                <a:latin typeface="Times New Roman" panose="02020603050405020304" pitchFamily="18" charset="0"/>
              </a:rPr>
              <a:t>, "Revisiting memory errors in large-scale production data centers: Analysis and modeling of new trends from the field," in 45th Annual IEEE/IFIP International Conference on Dependable Systems and Networks (DSN), 2015. </a:t>
            </a:r>
            <a:endParaRPr lang="en-US" altLang="zh-CN" dirty="0"/>
          </a:p>
        </p:txBody>
      </p:sp>
      <p:sp>
        <p:nvSpPr>
          <p:cNvPr id="73" name="文本框 72">
            <a:extLst>
              <a:ext uri="{FF2B5EF4-FFF2-40B4-BE49-F238E27FC236}">
                <a16:creationId xmlns:a16="http://schemas.microsoft.com/office/drawing/2014/main" id="{87CE4CC2-AA9F-AA4E-7025-D3C7D105803F}"/>
              </a:ext>
            </a:extLst>
          </p:cNvPr>
          <p:cNvSpPr txBox="1"/>
          <p:nvPr/>
        </p:nvSpPr>
        <p:spPr>
          <a:xfrm>
            <a:off x="285749" y="3490541"/>
            <a:ext cx="7536657" cy="923330"/>
          </a:xfrm>
          <a:prstGeom prst="rect">
            <a:avLst/>
          </a:prstGeom>
          <a:noFill/>
        </p:spPr>
        <p:txBody>
          <a:bodyPr wrap="square">
            <a:spAutoFit/>
          </a:bodyPr>
          <a:lstStyle/>
          <a:p>
            <a:r>
              <a:rPr lang="en-US" altLang="zh-CN" sz="1800" dirty="0">
                <a:solidFill>
                  <a:srgbClr val="1A1A1A"/>
                </a:solidFill>
                <a:effectLst/>
                <a:latin typeface="Times New Roman" panose="02020603050405020304" pitchFamily="18" charset="0"/>
              </a:rPr>
              <a:t>[3] B. Schroeder and G. A. Gibson, "A Large-Scale Study of Failures in High-Performance Computing Systems," in International Conference on Dependable Systems and Networks (DSN), 2006. </a:t>
            </a:r>
            <a:endParaRPr lang="zh-CN" altLang="en-US" dirty="0"/>
          </a:p>
        </p:txBody>
      </p:sp>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3008" y="2405267"/>
            <a:ext cx="12188992" cy="2935412"/>
          </a:xfrm>
          <a:prstGeom prst="rect">
            <a:avLst/>
          </a:prstGeom>
          <a:gradFill>
            <a:gsLst>
              <a:gs pos="100000">
                <a:srgbClr val="002060"/>
              </a:gs>
              <a:gs pos="0">
                <a:srgbClr val="0070C0"/>
              </a:gs>
            </a:gsLst>
            <a:lin ang="2700000"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657" tIns="43327" rIns="86657" bIns="43327" numCol="1" spcCol="0" rtlCol="0" fromWordArt="0" anchor="ctr" anchorCtr="0" forceAA="0" compatLnSpc="1">
            <a:noAutofit/>
          </a:bodyPr>
          <a:lstStyle/>
          <a:p>
            <a:pPr algn="ctr"/>
            <a:endParaRPr lang="zh-CN" altLang="en-US" sz="1705">
              <a:cs typeface="+mn-ea"/>
              <a:sym typeface="+mn-lt"/>
            </a:endParaRPr>
          </a:p>
        </p:txBody>
      </p:sp>
      <p:sp>
        <p:nvSpPr>
          <p:cNvPr id="67" name="圆角矩形 66"/>
          <p:cNvSpPr/>
          <p:nvPr/>
        </p:nvSpPr>
        <p:spPr>
          <a:xfrm>
            <a:off x="4384428" y="3956733"/>
            <a:ext cx="6815077" cy="671707"/>
          </a:xfrm>
          <a:prstGeom prst="roundRect">
            <a:avLst>
              <a:gd name="adj" fmla="val 42270"/>
            </a:avLst>
          </a:prstGeom>
          <a:solidFill>
            <a:schemeClr val="bg1"/>
          </a:solidFill>
          <a:ln>
            <a:noFill/>
          </a:ln>
          <a:effectLst>
            <a:innerShdw blurRad="63500" dist="127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cs typeface="+mn-ea"/>
              <a:sym typeface="+mn-lt"/>
            </a:endParaRPr>
          </a:p>
        </p:txBody>
      </p:sp>
      <p:sp>
        <p:nvSpPr>
          <p:cNvPr id="68" name="TextBox 25"/>
          <p:cNvSpPr txBox="1"/>
          <p:nvPr/>
        </p:nvSpPr>
        <p:spPr>
          <a:xfrm>
            <a:off x="4497926" y="3956733"/>
            <a:ext cx="6588082" cy="675891"/>
          </a:xfrm>
          <a:prstGeom prst="rect">
            <a:avLst/>
          </a:prstGeom>
          <a:noFill/>
        </p:spPr>
        <p:txBody>
          <a:bodyPr wrap="square" rtlCol="0">
            <a:spAutoFit/>
          </a:bodyPr>
          <a:lstStyle/>
          <a:p>
            <a:pPr algn="ctr">
              <a:defRPr/>
            </a:pPr>
            <a:r>
              <a:rPr lang="zh-CN" altLang="en-US" sz="3790" b="1" cap="all" dirty="0">
                <a:gradFill>
                  <a:gsLst>
                    <a:gs pos="100000">
                      <a:srgbClr val="002060"/>
                    </a:gs>
                    <a:gs pos="0">
                      <a:srgbClr val="0070C0"/>
                    </a:gs>
                  </a:gsLst>
                  <a:lin ang="2700000" scaled="0"/>
                </a:gradFill>
                <a:cs typeface="+mn-ea"/>
                <a:sym typeface="+mn-lt"/>
              </a:rPr>
              <a:t>谢谢聆听</a:t>
            </a:r>
            <a:endParaRPr lang="zh-CN" altLang="zh-CN" sz="3790" b="1" cap="all" dirty="0">
              <a:gradFill>
                <a:gsLst>
                  <a:gs pos="100000">
                    <a:srgbClr val="002060"/>
                  </a:gs>
                  <a:gs pos="0">
                    <a:srgbClr val="0070C0"/>
                  </a:gs>
                </a:gsLst>
                <a:lin ang="2700000" scaled="0"/>
              </a:gradFill>
              <a:cs typeface="+mn-ea"/>
              <a:sym typeface="+mn-lt"/>
            </a:endParaRPr>
          </a:p>
        </p:txBody>
      </p:sp>
      <p:pic>
        <p:nvPicPr>
          <p:cNvPr id="3" name="图片 4" descr="PPT需要的素材-48">
            <a:extLst>
              <a:ext uri="{FF2B5EF4-FFF2-40B4-BE49-F238E27FC236}">
                <a16:creationId xmlns:a16="http://schemas.microsoft.com/office/drawing/2014/main" id="{4C8BE7A8-A540-788B-88F7-963CA76C9492}"/>
              </a:ext>
            </a:extLst>
          </p:cNvPr>
          <p:cNvPicPr>
            <a:picLocks noChangeAspect="1"/>
          </p:cNvPicPr>
          <p:nvPr>
            <p:custDataLst>
              <p:tags r:id="rId1"/>
            </p:custDataLst>
          </p:nvPr>
        </p:nvPicPr>
        <p:blipFill>
          <a:blip r:embed="rId4"/>
          <a:srcRect l="30145" t="15459" r="26906" b="20759"/>
          <a:stretch>
            <a:fillRect/>
          </a:stretch>
        </p:blipFill>
        <p:spPr>
          <a:xfrm>
            <a:off x="138829" y="2405267"/>
            <a:ext cx="3253105" cy="2719705"/>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fade">
                                      <p:cBhvr>
                                        <p:cTn id="11" dur="500"/>
                                        <p:tgtEl>
                                          <p:spTgt spid="67"/>
                                        </p:tgtEl>
                                      </p:cBhvr>
                                    </p:animEffect>
                                  </p:childTnLst>
                                </p:cTn>
                              </p:par>
                              <p:par>
                                <p:cTn id="12" presetID="22" presetClass="entr" presetSubtype="8" fill="hold" grpId="0" nodeType="withEffect">
                                  <p:stCondLst>
                                    <p:cond delay="250"/>
                                  </p:stCondLst>
                                  <p:childTnLst>
                                    <p:set>
                                      <p:cBhvr>
                                        <p:cTn id="13" dur="1" fill="hold">
                                          <p:stCondLst>
                                            <p:cond delay="0"/>
                                          </p:stCondLst>
                                        </p:cTn>
                                        <p:tgtEl>
                                          <p:spTgt spid="68"/>
                                        </p:tgtEl>
                                        <p:attrNameLst>
                                          <p:attrName>style.visibility</p:attrName>
                                        </p:attrNameLst>
                                      </p:cBhvr>
                                      <p:to>
                                        <p:strVal val="visible"/>
                                      </p:to>
                                    </p:set>
                                    <p:animEffect transition="in" filter="wipe(left)">
                                      <p:cBhvr>
                                        <p:cTn id="14" dur="17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67" grpId="0" animBg="1"/>
      <p:bldP spid="68"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第一PPT，www.1ppt.com">
  <a:themeElements>
    <a:clrScheme name="Offic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F49100"/>
      </a:accent6>
      <a:hlink>
        <a:srgbClr val="F49100"/>
      </a:hlink>
      <a:folHlink>
        <a:srgbClr val="85DFD0"/>
      </a:folHlink>
    </a:clrScheme>
    <a:fontScheme name="Temp">
      <a:majorFont>
        <a:latin typeface="Impact"/>
        <a:ea typeface="微软雅黑"/>
        <a:cs typeface=""/>
      </a:majorFont>
      <a:minorFont>
        <a:latin typeface="Impact"/>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1535</Words>
  <Application>Microsoft Office PowerPoint</Application>
  <PresentationFormat>宽屏</PresentationFormat>
  <Paragraphs>119</Paragraphs>
  <Slides>18</Slides>
  <Notes>13</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18</vt:i4>
      </vt:variant>
    </vt:vector>
  </HeadingPairs>
  <TitlesOfParts>
    <vt:vector size="27" baseType="lpstr">
      <vt:lpstr>Agency FB</vt:lpstr>
      <vt:lpstr>Arial</vt:lpstr>
      <vt:lpstr>Arial Black</vt:lpstr>
      <vt:lpstr>Calibri</vt:lpstr>
      <vt:lpstr>Impact</vt:lpstr>
      <vt:lpstr>Times New Roman</vt:lpstr>
      <vt:lpstr>微软雅黑</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通用商务</dc:title>
  <dc:creator>第一PPT</dc:creator>
  <cp:keywords>www.1ppt.com</cp:keywords>
  <dc:description>www.1ppt.com</dc:description>
  <cp:lastModifiedBy>Qing ZI JIN</cp:lastModifiedBy>
  <cp:revision>29</cp:revision>
  <dcterms:created xsi:type="dcterms:W3CDTF">2017-02-27T08:46:00Z</dcterms:created>
  <dcterms:modified xsi:type="dcterms:W3CDTF">2024-04-15T09:34:53Z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BB65861A5D43445EBC8509197640E33D_12</vt:lpwstr>
  </property>
  <property fmtid="{D5CDD505-2E9C-101B-9397-08002B2CF9AE}" pid="3" name="KSOProductBuildVer">
    <vt:lpwstr>2052-11.1.0.14309</vt:lpwstr>
  </property>
</Properties>
</file>
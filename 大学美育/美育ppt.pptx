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CD429-258A-69AF-0A35-A8903D821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278DBA-2187-455B-1DA9-784277F75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3EC6B5-4981-7378-4A49-06160EE9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F56-6D63-4C72-A957-6F0E9F845B46}" type="datetimeFigureOut">
              <a:rPr lang="zh-CN" altLang="en-US" smtClean="0"/>
              <a:t>2024/4/16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8EE9FC-2B3D-4BC9-00EE-529E35B8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5DFECF-FBE2-BF09-09DB-F015EC7E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A12B6-5D84-450A-9D8F-3AFA918EA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640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44A59-1B29-636D-C03A-43F160ECC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CEDA9E-1A58-31A0-A176-127722305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718671-6447-8926-E5EA-965200DF1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F56-6D63-4C72-A957-6F0E9F845B46}" type="datetimeFigureOut">
              <a:rPr lang="zh-CN" altLang="en-US" smtClean="0"/>
              <a:t>2024/4/16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E61AC0-4351-835F-D6D5-C5410668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58D458-B5E0-83E5-8E8D-DE3024C3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A12B6-5D84-450A-9D8F-3AFA918EA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14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DD93D-E460-BF07-0826-33824D64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497BA6-B323-BAE8-95A7-871156A47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BDF5D3-B68E-497E-F458-444CE8C18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F56-6D63-4C72-A957-6F0E9F845B46}" type="datetimeFigureOut">
              <a:rPr lang="zh-CN" altLang="en-US" smtClean="0"/>
              <a:t>2024/4/16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0AD7C-D822-A974-48A9-FD57146E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ACEF64-9FBF-6551-AC97-20075E8F3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A12B6-5D84-450A-9D8F-3AFA918EA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212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71BAD-FA05-2055-C3C3-FDC97AC13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DA45AA-5376-1CF7-905D-1D8501C44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D3C7DF-7332-AB19-AC1C-E1D242622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72D6C6-6097-47E5-74D9-99E61F881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F56-6D63-4C72-A957-6F0E9F845B46}" type="datetimeFigureOut">
              <a:rPr lang="zh-CN" altLang="en-US" smtClean="0"/>
              <a:t>2024/4/16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D3246A-12E4-A01E-7A75-38B2CC5E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23F9A4-2717-9538-D9E2-A43BE5A71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A12B6-5D84-450A-9D8F-3AFA918EA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147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803A7-FF0B-0725-06CD-331A3664B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892BE3-8C55-4836-CF43-A2988CA6D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A4E292-7C8A-928D-6AC6-49D76FBFF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E3CE5A-FE5F-A5E0-A105-C37173507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C3CF7E-0E4D-58CF-4399-6C200BB68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31CDF9-B423-72DD-66F7-5DC851539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F56-6D63-4C72-A957-6F0E9F845B46}" type="datetimeFigureOut">
              <a:rPr lang="zh-CN" altLang="en-US" smtClean="0"/>
              <a:t>2024/4/16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02C19F-25BD-AEA3-CAC2-AED2D1FB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9BE3C5-2C76-2816-A4F4-FE09693E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A12B6-5D84-450A-9D8F-3AFA918EA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07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1452C-89D7-54C9-A91A-8085CB6D3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BB17E6-2239-EBEA-B844-79FC3B8B3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F56-6D63-4C72-A957-6F0E9F845B46}" type="datetimeFigureOut">
              <a:rPr lang="zh-CN" altLang="en-US" smtClean="0"/>
              <a:t>2024/4/16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B91028-D07B-68B6-BB6F-F3E06BD2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86568B-9004-1C0D-D4F5-1C70745B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A12B6-5D84-450A-9D8F-3AFA918EA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348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695736-C628-6629-008B-87ADE59F0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F56-6D63-4C72-A957-6F0E9F845B46}" type="datetimeFigureOut">
              <a:rPr lang="zh-CN" altLang="en-US" smtClean="0"/>
              <a:t>2024/4/16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11B214-E531-32B0-6853-E20F77E22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32CFAA-23FF-86CA-A7CF-96F8B77D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A12B6-5D84-450A-9D8F-3AFA918EA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595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27FDB-2E69-2DE1-23A1-547D4AB7B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313BE7-AC6A-E537-BB51-4A2CAE29D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4428C3-B380-94BC-5F3B-830AE70C4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94BBE3-52E8-DCF6-0358-16F007D9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F56-6D63-4C72-A957-6F0E9F845B46}" type="datetimeFigureOut">
              <a:rPr lang="zh-CN" altLang="en-US" smtClean="0"/>
              <a:t>2024/4/16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D8D40D-A808-2A38-C2A7-A39161B9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4BD4DE-675E-D49E-1E6C-99B3FFE8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A12B6-5D84-450A-9D8F-3AFA918EA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707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1C8CC-CC7A-A1E3-E976-0E6848BB5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08F810-7D31-0127-4592-3169B4DF4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8D4820-7B8F-4D6F-7323-E0B9D57B8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428692-6F72-EAB8-6401-830DC06F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F56-6D63-4C72-A957-6F0E9F845B46}" type="datetimeFigureOut">
              <a:rPr lang="zh-CN" altLang="en-US" smtClean="0"/>
              <a:t>2024/4/16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777AEF-BD0E-E495-A577-599CB7FF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32F6B5-A7A1-EAFC-32BE-52307B28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A12B6-5D84-450A-9D8F-3AFA918EA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68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8C755-7656-3583-3291-800C7E5F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DE3F0B-DE67-6345-AB2A-4077C81E6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2787E9-4ECD-8F29-754A-21EA88DC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F56-6D63-4C72-A957-6F0E9F845B46}" type="datetimeFigureOut">
              <a:rPr lang="zh-CN" altLang="en-US" smtClean="0"/>
              <a:t>2024/4/16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FBBA8E-0ADF-155C-474C-37AB2D8A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94DBC7-E71F-8EB7-1841-7C390F16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A12B6-5D84-450A-9D8F-3AFA918EA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97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C8C22D-01CB-98C1-ABFF-671956703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FC026C-475C-489D-7C66-40285D016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B75C9B-17F6-5370-B300-69017D15A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8F56-6D63-4C72-A957-6F0E9F845B46}" type="datetimeFigureOut">
              <a:rPr lang="zh-CN" altLang="en-US" smtClean="0"/>
              <a:t>2024/4/16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EAA508-3798-43EC-9766-BE116568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173C8C-C311-D5C1-96A2-08587016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A12B6-5D84-450A-9D8F-3AFA918EA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083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F7F1D9-F9AE-2113-74AE-B1C90888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A82CD1-5645-D21D-3BAB-A2A503F5C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C8B96-C62D-6736-63C1-4E6517B1E1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58F56-6D63-4C72-A957-6F0E9F845B46}" type="datetimeFigureOut">
              <a:rPr lang="zh-CN" altLang="en-US" smtClean="0"/>
              <a:t>2024/4/16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3BEBA2-A879-DDAA-719A-2C8E32C51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98EE3C-F71B-CE00-E429-F5C663A53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A12B6-5D84-450A-9D8F-3AFA918EAA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61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1D98C16-3370-44A8-1FC8-33C2B8761476}"/>
              </a:ext>
            </a:extLst>
          </p:cNvPr>
          <p:cNvSpPr txBox="1"/>
          <p:nvPr/>
        </p:nvSpPr>
        <p:spPr>
          <a:xfrm>
            <a:off x="548283" y="267444"/>
            <a:ext cx="60971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文艺的起源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、文艺起源于劳动的需要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）劳动创造了文艺产生的物质基础</a:t>
            </a:r>
            <a:r>
              <a:rPr lang="en-US" altLang="zh-CN" dirty="0"/>
              <a:t>——</a:t>
            </a:r>
            <a:r>
              <a:rPr lang="zh-CN" altLang="en-US" dirty="0"/>
              <a:t>人</a:t>
            </a:r>
          </a:p>
          <a:p>
            <a:r>
              <a:rPr lang="zh-CN" altLang="en-US" dirty="0"/>
              <a:t> （</a:t>
            </a:r>
            <a:r>
              <a:rPr lang="en-US" altLang="zh-CN" dirty="0"/>
              <a:t>2</a:t>
            </a:r>
            <a:r>
              <a:rPr lang="zh-CN" altLang="en-US" dirty="0"/>
              <a:t>）原始文艺产生的最初动机</a:t>
            </a:r>
            <a:r>
              <a:rPr lang="en-US" altLang="zh-CN" dirty="0"/>
              <a:t>——</a:t>
            </a:r>
            <a:r>
              <a:rPr lang="zh-CN" altLang="en-US" dirty="0"/>
              <a:t>原始劳动的需要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、文艺起源的其它学说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）模仿说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）游戏说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）巫术说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674414-7711-0743-CEC9-B19E90F4B501}"/>
              </a:ext>
            </a:extLst>
          </p:cNvPr>
          <p:cNvSpPr txBox="1"/>
          <p:nvPr/>
        </p:nvSpPr>
        <p:spPr>
          <a:xfrm>
            <a:off x="448270" y="2707839"/>
            <a:ext cx="609719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文学发展的社会根源</a:t>
            </a:r>
          </a:p>
          <a:p>
            <a:r>
              <a:rPr lang="zh-CN" altLang="en-US" dirty="0"/>
              <a:t>1、文学随着社会的发展而发展</a:t>
            </a:r>
          </a:p>
          <a:p>
            <a:r>
              <a:rPr lang="zh-CN" altLang="en-US" dirty="0"/>
              <a:t>（1）从文学的内容看</a:t>
            </a:r>
          </a:p>
          <a:p>
            <a:r>
              <a:rPr lang="zh-CN" altLang="en-US" dirty="0"/>
              <a:t>（2）从文学的形式看</a:t>
            </a:r>
          </a:p>
          <a:p>
            <a:r>
              <a:rPr lang="zh-CN" altLang="en-US" dirty="0"/>
              <a:t>2、政治等上层建筑部门对文学发展的影响</a:t>
            </a:r>
          </a:p>
          <a:p>
            <a:r>
              <a:rPr lang="zh-CN" altLang="en-US" dirty="0"/>
              <a:t>（1）政治对文学发展的影响</a:t>
            </a:r>
          </a:p>
          <a:p>
            <a:r>
              <a:rPr lang="zh-CN" altLang="en-US" dirty="0"/>
              <a:t>（2）哲学对文学发展的影响</a:t>
            </a:r>
          </a:p>
          <a:p>
            <a:r>
              <a:rPr lang="zh-CN" altLang="en-US" dirty="0"/>
              <a:t>3、经济是文学发展的最后决定因素</a:t>
            </a:r>
          </a:p>
          <a:p>
            <a:r>
              <a:rPr lang="zh-CN" altLang="en-US" dirty="0"/>
              <a:t>4、文学发展与物质生产发展的不平衡现象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B23359F-9BA6-289F-D1D3-F0F273BF38F8}"/>
              </a:ext>
            </a:extLst>
          </p:cNvPr>
          <p:cNvSpPr txBox="1"/>
          <p:nvPr/>
        </p:nvSpPr>
        <p:spPr>
          <a:xfrm>
            <a:off x="5976937" y="405944"/>
            <a:ext cx="56667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文学发展的历史继承、革新与各民族文学的互相影响</a:t>
            </a:r>
          </a:p>
          <a:p>
            <a:r>
              <a:rPr lang="zh-CN" altLang="en-US" dirty="0"/>
              <a:t>1、文学发展的历史继承与革新</a:t>
            </a:r>
          </a:p>
          <a:p>
            <a:r>
              <a:rPr lang="zh-CN" altLang="en-US" dirty="0"/>
              <a:t>（1）文学发展具有历史继承性</a:t>
            </a:r>
          </a:p>
          <a:p>
            <a:r>
              <a:rPr lang="zh-CN" altLang="en-US" dirty="0"/>
              <a:t>（2）文学发展中的继承与革新</a:t>
            </a:r>
          </a:p>
          <a:p>
            <a:r>
              <a:rPr lang="zh-CN" altLang="en-US" dirty="0"/>
              <a:t>（3）批判继承文学遗产的原则和意义</a:t>
            </a:r>
          </a:p>
          <a:p>
            <a:r>
              <a:rPr lang="zh-CN" altLang="en-US" dirty="0"/>
              <a:t>2、文学发展中各民族文学的相互影响</a:t>
            </a:r>
          </a:p>
          <a:p>
            <a:r>
              <a:rPr lang="zh-CN" altLang="en-US" dirty="0"/>
              <a:t>（1）各民族文学的交流及其对文学发展的影响</a:t>
            </a:r>
          </a:p>
          <a:p>
            <a:r>
              <a:rPr lang="zh-CN" altLang="en-US" dirty="0"/>
              <a:t>（2）各民族文学的互相影响主要通过文学创作来体现</a:t>
            </a:r>
          </a:p>
          <a:p>
            <a:r>
              <a:rPr lang="zh-CN" altLang="en-US" dirty="0"/>
              <a:t>（3）借鉴和吸收外来民族文学的原则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360F2D7-AA3E-02F1-B07D-37B37BBA73C3}"/>
              </a:ext>
            </a:extLst>
          </p:cNvPr>
          <p:cNvSpPr txBox="1"/>
          <p:nvPr/>
        </p:nvSpPr>
        <p:spPr>
          <a:xfrm>
            <a:off x="5813226" y="3503563"/>
            <a:ext cx="60971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文艺起源于 （劳动的需要 ）</a:t>
            </a:r>
          </a:p>
          <a:p>
            <a:r>
              <a:rPr lang="zh-CN" altLang="en-US" dirty="0"/>
              <a:t> 2、关于文学发展的社会根源，以下观点正确的是 （ </a:t>
            </a:r>
            <a:r>
              <a:rPr lang="en-US" altLang="zh-CN" dirty="0"/>
              <a:t>a c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 A、文学随着社会的发展而发展</a:t>
            </a:r>
          </a:p>
          <a:p>
            <a:r>
              <a:rPr lang="zh-CN" altLang="en-US" dirty="0"/>
              <a:t> B、文学是人学，不受政治、哲学等影响</a:t>
            </a:r>
          </a:p>
          <a:p>
            <a:r>
              <a:rPr lang="zh-CN" altLang="en-US" dirty="0"/>
              <a:t> C、经济是文学发展的最后决定因素</a:t>
            </a:r>
          </a:p>
          <a:p>
            <a:r>
              <a:rPr lang="zh-CN" altLang="en-US" dirty="0"/>
              <a:t> D、文学发展与物质生产发展成正比</a:t>
            </a:r>
          </a:p>
          <a:p>
            <a:r>
              <a:rPr lang="zh-CN" altLang="en-US" dirty="0"/>
              <a:t> 3、文学发展中继承与革新的关系，以下论述是否正确：</a:t>
            </a:r>
          </a:p>
          <a:p>
            <a:r>
              <a:rPr lang="zh-CN" altLang="en-US" dirty="0"/>
              <a:t> 继承是基础，革新是目的。（ ） √</a:t>
            </a:r>
          </a:p>
        </p:txBody>
      </p:sp>
    </p:spTree>
    <p:extLst>
      <p:ext uri="{BB962C8B-B14F-4D97-AF65-F5344CB8AC3E}">
        <p14:creationId xmlns:p14="http://schemas.microsoft.com/office/powerpoint/2010/main" val="2836954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47AAB1A-D672-45E9-3940-9E031EB54F89}"/>
              </a:ext>
            </a:extLst>
          </p:cNvPr>
          <p:cNvSpPr txBox="1"/>
          <p:nvPr/>
        </p:nvSpPr>
        <p:spPr>
          <a:xfrm>
            <a:off x="283964" y="171450"/>
            <a:ext cx="518814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世界文学史从此写起</a:t>
            </a:r>
          </a:p>
          <a:p>
            <a:r>
              <a:rPr lang="zh-CN" altLang="en-US" dirty="0"/>
              <a:t>❈ 人类古文明三个世代：</a:t>
            </a:r>
          </a:p>
          <a:p>
            <a:r>
              <a:rPr lang="zh-CN" altLang="en-US" dirty="0"/>
              <a:t> 1、第一文明世代：公元前4000年--前3000年之间</a:t>
            </a:r>
          </a:p>
          <a:p>
            <a:r>
              <a:rPr lang="zh-CN" altLang="en-US" dirty="0"/>
              <a:t> 2、第二文明世代：公元前2700年--前1200年之间</a:t>
            </a:r>
          </a:p>
          <a:p>
            <a:r>
              <a:rPr lang="zh-CN" altLang="en-US" dirty="0"/>
              <a:t> 3、第三文明世代：公元前1200年--公元5世纪</a:t>
            </a:r>
          </a:p>
          <a:p>
            <a:r>
              <a:rPr lang="zh-CN" altLang="en-US" dirty="0"/>
              <a:t>❈ 古埃及文学、古西亚文学、古印度文学、古希腊文学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97FF5F-E6B9-4F70-7487-700660A220A8}"/>
              </a:ext>
            </a:extLst>
          </p:cNvPr>
          <p:cNvSpPr txBox="1"/>
          <p:nvPr/>
        </p:nvSpPr>
        <p:spPr>
          <a:xfrm>
            <a:off x="5684640" y="217616"/>
            <a:ext cx="609719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公元前</a:t>
            </a:r>
            <a:r>
              <a:rPr lang="en-US" altLang="zh-CN" b="1" dirty="0"/>
              <a:t>30—5</a:t>
            </a:r>
            <a:r>
              <a:rPr lang="zh-CN" altLang="en-US" b="1" dirty="0"/>
              <a:t>世纪文学</a:t>
            </a:r>
            <a:endParaRPr lang="en-US" altLang="zh-CN" b="1" dirty="0"/>
          </a:p>
          <a:p>
            <a:r>
              <a:rPr lang="zh-CN" altLang="en-US" dirty="0"/>
              <a:t>代表作品：</a:t>
            </a:r>
          </a:p>
          <a:p>
            <a:r>
              <a:rPr lang="zh-CN" altLang="en-US" dirty="0"/>
              <a:t> 《奥西里斯神话》《荷马史诗》</a:t>
            </a:r>
          </a:p>
          <a:p>
            <a:r>
              <a:rPr lang="zh-CN" altLang="en-US" dirty="0"/>
              <a:t> 《圣经.旧约》《沙恭达罗》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公元</a:t>
            </a:r>
            <a:r>
              <a:rPr lang="en-US" altLang="zh-CN" b="1" dirty="0"/>
              <a:t>6—13</a:t>
            </a:r>
            <a:r>
              <a:rPr lang="zh-CN" altLang="en-US" b="1" dirty="0"/>
              <a:t>世纪文学</a:t>
            </a:r>
            <a:endParaRPr lang="en-US" altLang="zh-CN" b="1" dirty="0"/>
          </a:p>
          <a:p>
            <a:r>
              <a:rPr lang="en-US" altLang="zh-CN" dirty="0"/>
              <a:t>1</a:t>
            </a:r>
            <a:r>
              <a:rPr lang="zh-CN" altLang="en-US" dirty="0"/>
              <a:t>、欧洲文学：教会文学、骑士文学、英雄史诗、城市文学</a:t>
            </a:r>
          </a:p>
          <a:p>
            <a:r>
              <a:rPr lang="zh-CN" altLang="en-US" dirty="0"/>
              <a:t>（市民文学）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、亚洲文学：阿拉伯文学、波斯文学、印度梵语古典文学、 朝鲜文学、越南文学、日本文学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、拉丁美洲古印第安文学</a:t>
            </a:r>
          </a:p>
          <a:p>
            <a:r>
              <a:rPr lang="en-US" altLang="zh-CN" dirty="0"/>
              <a:t>4</a:t>
            </a:r>
            <a:r>
              <a:rPr lang="zh-CN" altLang="en-US" dirty="0"/>
              <a:t>、非洲文学</a:t>
            </a:r>
            <a:endParaRPr lang="en-US" altLang="zh-CN" dirty="0"/>
          </a:p>
          <a:p>
            <a:r>
              <a:rPr lang="zh-CN" altLang="en-US" dirty="0"/>
              <a:t>文学的基本特征：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、文学区域间的相互渗透和影响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、与民间文学有密切联系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、封建思想、宗教迷信给文学打上烙印，束缚文学发展</a:t>
            </a:r>
          </a:p>
          <a:p>
            <a:r>
              <a:rPr lang="zh-CN" altLang="en-US" dirty="0"/>
              <a:t>❈ 代表作家：但丁等</a:t>
            </a:r>
          </a:p>
          <a:p>
            <a:r>
              <a:rPr lang="zh-CN" altLang="en-US" dirty="0"/>
              <a:t>❈ 代表作品：</a:t>
            </a:r>
            <a:r>
              <a:rPr lang="en-US" altLang="zh-CN" dirty="0"/>
              <a:t>《</a:t>
            </a:r>
            <a:r>
              <a:rPr lang="zh-CN" altLang="en-US" dirty="0"/>
              <a:t>源氏物语</a:t>
            </a:r>
            <a:r>
              <a:rPr lang="en-US" altLang="zh-CN" dirty="0"/>
              <a:t>》《</a:t>
            </a:r>
            <a:r>
              <a:rPr lang="zh-CN" altLang="en-US" dirty="0"/>
              <a:t>一千零一夜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73BAC7-4C4F-183B-15C7-EDB3D88F0BED}"/>
              </a:ext>
            </a:extLst>
          </p:cNvPr>
          <p:cNvSpPr txBox="1"/>
          <p:nvPr/>
        </p:nvSpPr>
        <p:spPr>
          <a:xfrm>
            <a:off x="283963" y="2756772"/>
            <a:ext cx="45237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14—16</a:t>
            </a:r>
            <a:r>
              <a:rPr lang="zh-CN" altLang="en-US" dirty="0"/>
              <a:t>世纪</a:t>
            </a:r>
            <a:endParaRPr lang="en-US" altLang="zh-CN" dirty="0"/>
          </a:p>
          <a:p>
            <a:r>
              <a:rPr lang="zh-CN" altLang="en-US" dirty="0"/>
              <a:t>1、欧洲文学：文艺复兴运动、人文主义学</a:t>
            </a:r>
          </a:p>
          <a:p>
            <a:r>
              <a:rPr lang="zh-CN" altLang="en-US" dirty="0"/>
              <a:t>2、亚洲：西亚苏菲派文学、印度虔诚运动文学、东亚民</a:t>
            </a:r>
          </a:p>
          <a:p>
            <a:r>
              <a:rPr lang="zh-CN" altLang="en-US" dirty="0"/>
              <a:t>族文学和市民文学</a:t>
            </a:r>
          </a:p>
          <a:p>
            <a:r>
              <a:rPr lang="zh-CN" altLang="en-US" dirty="0"/>
              <a:t>3、拉丁美洲纪实文学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1D291B-1F32-EAD9-9701-4A4598E1E68B}"/>
              </a:ext>
            </a:extLst>
          </p:cNvPr>
          <p:cNvSpPr txBox="1"/>
          <p:nvPr/>
        </p:nvSpPr>
        <p:spPr>
          <a:xfrm>
            <a:off x="283964" y="4444663"/>
            <a:ext cx="60971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文学的基本特征：</a:t>
            </a:r>
          </a:p>
          <a:p>
            <a:r>
              <a:rPr lang="zh-CN" altLang="en-US" dirty="0"/>
              <a:t> 1、强调理性为文学的思想基础</a:t>
            </a:r>
          </a:p>
          <a:p>
            <a:r>
              <a:rPr lang="zh-CN" altLang="en-US" dirty="0"/>
              <a:t> 2、民族文学兴盛的时代</a:t>
            </a:r>
          </a:p>
          <a:p>
            <a:r>
              <a:rPr lang="zh-CN" altLang="en-US" dirty="0"/>
              <a:t> 3、限于地域性的、有一定共同倾向的文学思潮或流派</a:t>
            </a:r>
          </a:p>
          <a:p>
            <a:r>
              <a:rPr lang="zh-CN" altLang="en-US" dirty="0"/>
              <a:t> 开始出现</a:t>
            </a:r>
          </a:p>
          <a:p>
            <a:r>
              <a:rPr lang="zh-CN" altLang="en-US" dirty="0"/>
              <a:t> 4、在文学中反映的境界，从天上转向人间</a:t>
            </a:r>
          </a:p>
          <a:p>
            <a:r>
              <a:rPr lang="zh-CN" altLang="en-US" dirty="0"/>
              <a:t>❈ 代表作家：哈菲兹</a:t>
            </a:r>
          </a:p>
          <a:p>
            <a:r>
              <a:rPr lang="zh-CN" altLang="en-US" dirty="0"/>
              <a:t>❈ 代表作品：《十日谈》《堂吉诃德》《莎士比亚》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5453ED1-6F36-E1AB-3FDA-0AAE396011B4}"/>
              </a:ext>
            </a:extLst>
          </p:cNvPr>
          <p:cNvSpPr txBox="1"/>
          <p:nvPr/>
        </p:nvSpPr>
        <p:spPr>
          <a:xfrm>
            <a:off x="5684640" y="171450"/>
            <a:ext cx="6316860" cy="5193506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4A5643-C31C-93E5-4D5F-CB3B334871C8}"/>
              </a:ext>
            </a:extLst>
          </p:cNvPr>
          <p:cNvSpPr txBox="1"/>
          <p:nvPr/>
        </p:nvSpPr>
        <p:spPr>
          <a:xfrm>
            <a:off x="338139" y="2988469"/>
            <a:ext cx="5188150" cy="391691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031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6CAF9E9-F635-5AC2-AAD0-4C37F660F6FE}"/>
              </a:ext>
            </a:extLst>
          </p:cNvPr>
          <p:cNvSpPr txBox="1"/>
          <p:nvPr/>
        </p:nvSpPr>
        <p:spPr>
          <a:xfrm>
            <a:off x="191095" y="204311"/>
            <a:ext cx="6097190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/>
              <a:t>17--18</a:t>
            </a:r>
          </a:p>
          <a:p>
            <a:r>
              <a:rPr lang="zh-CN" altLang="en-US" dirty="0"/>
              <a:t>文学的发展概况：</a:t>
            </a:r>
          </a:p>
          <a:p>
            <a:r>
              <a:rPr lang="zh-CN" altLang="en-US" dirty="0"/>
              <a:t> 1、欧洲古典主义文学、启蒙文学、伤感主义、德国“狂 飙突进运动”</a:t>
            </a:r>
          </a:p>
          <a:p>
            <a:r>
              <a:rPr lang="zh-CN" altLang="en-US" dirty="0"/>
              <a:t> 2、亚洲文学讽刺文学、游记文学、民族文学等</a:t>
            </a:r>
          </a:p>
          <a:p>
            <a:r>
              <a:rPr lang="zh-CN" altLang="en-US" dirty="0"/>
              <a:t> 3、美洲民族文学、新古典主义等</a:t>
            </a:r>
            <a:endParaRPr lang="en-US" altLang="zh-CN" dirty="0"/>
          </a:p>
          <a:p>
            <a:r>
              <a:rPr lang="zh-CN" altLang="en-US" dirty="0"/>
              <a:t>文学的基本特征：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、在思想上，反封建、反教会倾向更广更深，民主意识</a:t>
            </a:r>
          </a:p>
          <a:p>
            <a:r>
              <a:rPr lang="zh-CN" altLang="en-US" dirty="0"/>
              <a:t>加强，反殖民主义增强。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、文学思潮、流派多样化，现实主义是主流。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、洲际文学交流出现。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zh-CN" altLang="en-US" dirty="0"/>
              <a:t>、文学形象从贵族转为平民</a:t>
            </a:r>
          </a:p>
          <a:p>
            <a:r>
              <a:rPr lang="zh-CN" altLang="en-US" dirty="0"/>
              <a:t>❈ 代表作家：歌德、莫里哀等</a:t>
            </a:r>
          </a:p>
          <a:p>
            <a:r>
              <a:rPr lang="zh-CN" altLang="en-US" dirty="0"/>
              <a:t>❈ 代表作品：日本松尾芭蕉俳句、</a:t>
            </a:r>
            <a:r>
              <a:rPr lang="en-US" altLang="zh-CN" dirty="0"/>
              <a:t>《</a:t>
            </a:r>
            <a:r>
              <a:rPr lang="zh-CN" altLang="en-US" dirty="0"/>
              <a:t>达尔杜弗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DB7239-EC03-CA3E-DF38-7E679007CB3E}"/>
              </a:ext>
            </a:extLst>
          </p:cNvPr>
          <p:cNvSpPr txBox="1"/>
          <p:nvPr/>
        </p:nvSpPr>
        <p:spPr>
          <a:xfrm>
            <a:off x="6406157" y="435144"/>
            <a:ext cx="609719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/>
              <a:t>19</a:t>
            </a:r>
            <a:r>
              <a:rPr lang="zh-CN" altLang="en-US" b="1" dirty="0"/>
              <a:t>上</a:t>
            </a:r>
            <a:endParaRPr lang="en-US" altLang="zh-CN" b="1" dirty="0"/>
          </a:p>
          <a:p>
            <a:r>
              <a:rPr lang="zh-CN" altLang="en-US" dirty="0"/>
              <a:t>第一个世界性文学思潮产生：欧洲浪漫主义文学</a:t>
            </a:r>
          </a:p>
          <a:p>
            <a:r>
              <a:rPr lang="zh-CN" altLang="en-US" dirty="0"/>
              <a:t>❈ 基本特征：</a:t>
            </a:r>
          </a:p>
          <a:p>
            <a:r>
              <a:rPr lang="zh-CN" altLang="en-US" dirty="0"/>
              <a:t> 1、强调感情抒发，偏重理想追求，主观性强。</a:t>
            </a:r>
          </a:p>
          <a:p>
            <a:r>
              <a:rPr lang="zh-CN" altLang="en-US" dirty="0"/>
              <a:t> 2、热衷描写大自然。</a:t>
            </a:r>
          </a:p>
          <a:p>
            <a:r>
              <a:rPr lang="zh-CN" altLang="en-US" dirty="0"/>
              <a:t> 3、强调主观想象，善用夸张手法。</a:t>
            </a:r>
          </a:p>
          <a:p>
            <a:r>
              <a:rPr lang="zh-CN" altLang="en-US" dirty="0"/>
              <a:t> 4、重视民间文学和民族传统。</a:t>
            </a:r>
            <a:endParaRPr lang="en-US" altLang="zh-CN" dirty="0"/>
          </a:p>
          <a:p>
            <a:r>
              <a:rPr lang="zh-CN" altLang="en-US" dirty="0"/>
              <a:t>代表作家：拜伦、雪莱、雨果、乔治</a:t>
            </a:r>
            <a:r>
              <a:rPr lang="en-US" altLang="zh-CN" dirty="0"/>
              <a:t>.</a:t>
            </a:r>
            <a:r>
              <a:rPr lang="zh-CN" altLang="en-US" dirty="0"/>
              <a:t>桑、普希金等</a:t>
            </a:r>
          </a:p>
          <a:p>
            <a:r>
              <a:rPr lang="zh-CN" altLang="en-US" dirty="0"/>
              <a:t>❈ 代表作品：</a:t>
            </a:r>
            <a:r>
              <a:rPr lang="en-US" altLang="zh-CN" dirty="0"/>
              <a:t>《</a:t>
            </a:r>
            <a:r>
              <a:rPr lang="zh-CN" altLang="en-US" dirty="0"/>
              <a:t>恰尔德</a:t>
            </a:r>
            <a:r>
              <a:rPr lang="en-US" altLang="zh-CN" dirty="0"/>
              <a:t>.</a:t>
            </a:r>
            <a:r>
              <a:rPr lang="zh-CN" altLang="en-US" dirty="0"/>
              <a:t>哈洛尔德游记</a:t>
            </a:r>
            <a:r>
              <a:rPr lang="en-US" altLang="zh-CN" dirty="0"/>
              <a:t>》《</a:t>
            </a:r>
            <a:r>
              <a:rPr lang="zh-CN" altLang="en-US" dirty="0"/>
              <a:t>解放了的普罗</a:t>
            </a:r>
          </a:p>
          <a:p>
            <a:r>
              <a:rPr lang="zh-CN" altLang="en-US" dirty="0"/>
              <a:t> 米修斯</a:t>
            </a:r>
            <a:r>
              <a:rPr lang="en-US" altLang="zh-CN" dirty="0"/>
              <a:t>》《</a:t>
            </a:r>
            <a:r>
              <a:rPr lang="zh-CN" altLang="en-US" dirty="0"/>
              <a:t>大鸦</a:t>
            </a:r>
            <a:r>
              <a:rPr lang="en-US" altLang="zh-CN" dirty="0"/>
              <a:t>》《</a:t>
            </a:r>
            <a:r>
              <a:rPr lang="zh-CN" altLang="en-US" dirty="0"/>
              <a:t>草叶集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436B93-4DD2-9561-866C-50CCA7007AB2}"/>
              </a:ext>
            </a:extLst>
          </p:cNvPr>
          <p:cNvSpPr txBox="1"/>
          <p:nvPr/>
        </p:nvSpPr>
        <p:spPr>
          <a:xfrm>
            <a:off x="3127177" y="3244334"/>
            <a:ext cx="625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E42750-1CBE-00B6-3D45-6233EC7393C5}"/>
              </a:ext>
            </a:extLst>
          </p:cNvPr>
          <p:cNvSpPr txBox="1"/>
          <p:nvPr/>
        </p:nvSpPr>
        <p:spPr>
          <a:xfrm>
            <a:off x="3127177" y="3244334"/>
            <a:ext cx="625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B296E5-8EFB-71F3-3672-8A43864EBA56}"/>
              </a:ext>
            </a:extLst>
          </p:cNvPr>
          <p:cNvSpPr txBox="1"/>
          <p:nvPr/>
        </p:nvSpPr>
        <p:spPr>
          <a:xfrm>
            <a:off x="476846" y="4470738"/>
            <a:ext cx="62543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19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zh-CN" altLang="en-US" dirty="0"/>
              <a:t>欧洲浪漫主义文学思潮进入第二发展阶段</a:t>
            </a:r>
          </a:p>
          <a:p>
            <a:r>
              <a:rPr lang="zh-CN" altLang="en-US" dirty="0"/>
              <a:t>1、欧美批判现实主义文学：《红与黑》《人间喜剧》</a:t>
            </a:r>
          </a:p>
          <a:p>
            <a:r>
              <a:rPr lang="zh-CN" altLang="en-US" dirty="0"/>
              <a:t>《名利场》《白奴》《死魂灵》等</a:t>
            </a:r>
          </a:p>
          <a:p>
            <a:r>
              <a:rPr lang="zh-CN" altLang="en-US" dirty="0"/>
              <a:t>2、宪章运动文学：《共产党宣言》《未来之歌》等</a:t>
            </a:r>
          </a:p>
          <a:p>
            <a:r>
              <a:rPr lang="zh-CN" altLang="en-US" dirty="0"/>
              <a:t>3、形式主义文学：象征主义是其中最具影响力的派别</a:t>
            </a:r>
          </a:p>
          <a:p>
            <a:r>
              <a:rPr lang="zh-CN" altLang="en-US" dirty="0"/>
              <a:t>4、亚洲文学:《巴黎纪行》《金云翘传》</a:t>
            </a:r>
          </a:p>
          <a:p>
            <a:r>
              <a:rPr lang="zh-CN" altLang="en-US" dirty="0"/>
              <a:t>5、拉丁美洲文学：歌颂新生、自然风光等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430A85-A3C6-6E3E-616A-7D8D336D1533}"/>
              </a:ext>
            </a:extLst>
          </p:cNvPr>
          <p:cNvSpPr txBox="1"/>
          <p:nvPr/>
        </p:nvSpPr>
        <p:spPr>
          <a:xfrm>
            <a:off x="5998964" y="4293037"/>
            <a:ext cx="62543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文学基本特征：</a:t>
            </a:r>
          </a:p>
          <a:p>
            <a:r>
              <a:rPr lang="zh-CN" altLang="en-US" dirty="0"/>
              <a:t> 1、文学思想内容：批判金钱罪恶</a:t>
            </a:r>
          </a:p>
          <a:p>
            <a:r>
              <a:rPr lang="zh-CN" altLang="en-US" dirty="0"/>
              <a:t> 2、文学作品主角：工人运动和农民起义领袖</a:t>
            </a:r>
          </a:p>
          <a:p>
            <a:r>
              <a:rPr lang="zh-CN" altLang="en-US" dirty="0"/>
              <a:t> 3、文学艺术风格：现实主义，描绘典型环境中的典型性格</a:t>
            </a:r>
          </a:p>
          <a:p>
            <a:r>
              <a:rPr lang="zh-CN" altLang="en-US" dirty="0"/>
              <a:t> 4、文学思潮传播快、范围宽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C7508F0-E7E1-04BD-E335-99288766D473}"/>
              </a:ext>
            </a:extLst>
          </p:cNvPr>
          <p:cNvSpPr txBox="1"/>
          <p:nvPr/>
        </p:nvSpPr>
        <p:spPr>
          <a:xfrm>
            <a:off x="5998964" y="5803405"/>
            <a:ext cx="6254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代表作家:巴尔扎特、维尔特、普希金等</a:t>
            </a:r>
          </a:p>
          <a:p>
            <a:r>
              <a:rPr lang="zh-CN" altLang="en-US" dirty="0"/>
              <a:t>❈ 代表作品：《红与黑》《双城记》《死魂灵》《恶之花》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0E1E08-3364-A8FF-0E2A-4B9B015424FF}"/>
              </a:ext>
            </a:extLst>
          </p:cNvPr>
          <p:cNvSpPr txBox="1"/>
          <p:nvPr/>
        </p:nvSpPr>
        <p:spPr>
          <a:xfrm>
            <a:off x="191095" y="4174629"/>
            <a:ext cx="11946136" cy="2604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3984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C58C707-B48E-E420-1D83-BAAD9C83A5C9}"/>
              </a:ext>
            </a:extLst>
          </p:cNvPr>
          <p:cNvSpPr txBox="1"/>
          <p:nvPr/>
        </p:nvSpPr>
        <p:spPr>
          <a:xfrm>
            <a:off x="405408" y="328523"/>
            <a:ext cx="6097190" cy="590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/>
              <a:t>19</a:t>
            </a:r>
            <a:r>
              <a:rPr lang="zh-CN" altLang="en-US" b="1" dirty="0"/>
              <a:t>下</a:t>
            </a:r>
            <a:endParaRPr lang="en-US" altLang="zh-CN" b="1" dirty="0"/>
          </a:p>
          <a:p>
            <a:r>
              <a:rPr lang="zh-CN" altLang="en-US" dirty="0"/>
              <a:t>这一时期，批判现实主义文学仍是世界文学发展</a:t>
            </a:r>
          </a:p>
          <a:p>
            <a:r>
              <a:rPr lang="zh-CN" altLang="en-US" dirty="0"/>
              <a:t>的主流，自然主义、象征主义、唯美主义、印象主</a:t>
            </a:r>
          </a:p>
          <a:p>
            <a:r>
              <a:rPr lang="zh-CN" altLang="en-US" dirty="0"/>
              <a:t>义等文学流派也更快成为世界文学发展中的一个组</a:t>
            </a:r>
          </a:p>
          <a:p>
            <a:r>
              <a:rPr lang="zh-CN" altLang="en-US" dirty="0"/>
              <a:t>成部分</a:t>
            </a:r>
            <a:endParaRPr lang="en-US" altLang="zh-CN" dirty="0"/>
          </a:p>
          <a:p>
            <a:r>
              <a:rPr lang="zh-CN" altLang="en-US" dirty="0"/>
              <a:t>世界文学基本特征：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、三种文学思想同时出现：社会主义倾向文学、写实主义</a:t>
            </a:r>
          </a:p>
          <a:p>
            <a:r>
              <a:rPr lang="zh-CN" altLang="en-US" dirty="0"/>
              <a:t>文学、形式主义文学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、工人阶级取代贵族阶级成为世界文学人物画廊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、文学技巧注重与群众结合，民谣、故事、小品等，注重视 </a:t>
            </a:r>
          </a:p>
          <a:p>
            <a:r>
              <a:rPr lang="zh-CN" altLang="en-US" dirty="0"/>
              <a:t> 心理描写、知觉经验等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zh-CN" altLang="en-US" dirty="0"/>
              <a:t>、文学思潮的传播与发展速度空前</a:t>
            </a:r>
            <a:endParaRPr lang="en-US" altLang="zh-CN" dirty="0"/>
          </a:p>
          <a:p>
            <a:r>
              <a:rPr lang="zh-CN" altLang="en-US" dirty="0"/>
              <a:t>代表作家：莫泊桑、陀思妥耶夫斯基、托尔斯泰、</a:t>
            </a:r>
          </a:p>
          <a:p>
            <a:r>
              <a:rPr lang="zh-CN" altLang="en-US" dirty="0"/>
              <a:t> 契诃夫、泰戈尔、马克</a:t>
            </a:r>
            <a:r>
              <a:rPr lang="en-US" altLang="zh-CN" dirty="0"/>
              <a:t>.</a:t>
            </a:r>
            <a:r>
              <a:rPr lang="zh-CN" altLang="en-US" dirty="0"/>
              <a:t>吐温</a:t>
            </a:r>
          </a:p>
          <a:p>
            <a:r>
              <a:rPr lang="zh-CN" altLang="en-US" dirty="0"/>
              <a:t>❈ 代表作品：</a:t>
            </a:r>
            <a:r>
              <a:rPr lang="en-US" altLang="zh-CN" dirty="0"/>
              <a:t>《</a:t>
            </a:r>
            <a:r>
              <a:rPr lang="zh-CN" altLang="en-US" dirty="0"/>
              <a:t>包法利夫人</a:t>
            </a:r>
            <a:r>
              <a:rPr lang="en-US" altLang="zh-CN" dirty="0"/>
              <a:t>》《</a:t>
            </a:r>
            <a:r>
              <a:rPr lang="zh-CN" altLang="en-US" dirty="0"/>
              <a:t>最后一课</a:t>
            </a:r>
            <a:r>
              <a:rPr lang="en-US" altLang="zh-CN" dirty="0"/>
              <a:t>》《</a:t>
            </a:r>
            <a:r>
              <a:rPr lang="zh-CN" altLang="en-US" dirty="0"/>
              <a:t>牛虻</a:t>
            </a:r>
            <a:r>
              <a:rPr lang="en-US" altLang="zh-CN" dirty="0"/>
              <a:t>》《</a:t>
            </a:r>
            <a:r>
              <a:rPr lang="zh-CN" altLang="en-US" dirty="0"/>
              <a:t>田野生活</a:t>
            </a:r>
            <a:r>
              <a:rPr lang="en-US" altLang="zh-CN" dirty="0"/>
              <a:t>》</a:t>
            </a:r>
          </a:p>
          <a:p>
            <a:r>
              <a:rPr lang="en-US" altLang="zh-CN" dirty="0"/>
              <a:t>《</a:t>
            </a:r>
            <a:r>
              <a:rPr lang="zh-CN" altLang="en-US" dirty="0"/>
              <a:t>贵族之家</a:t>
            </a:r>
            <a:r>
              <a:rPr lang="en-US" altLang="zh-CN" dirty="0"/>
              <a:t>》《</a:t>
            </a:r>
            <a:r>
              <a:rPr lang="zh-CN" altLang="en-US" dirty="0"/>
              <a:t>大雷雨</a:t>
            </a:r>
            <a:r>
              <a:rPr lang="en-US" altLang="zh-CN" dirty="0"/>
              <a:t>》《</a:t>
            </a:r>
            <a:r>
              <a:rPr lang="zh-CN" altLang="en-US" dirty="0"/>
              <a:t>罪与罚</a:t>
            </a:r>
            <a:r>
              <a:rPr lang="en-US" altLang="zh-CN" dirty="0"/>
              <a:t>》《</a:t>
            </a:r>
            <a:r>
              <a:rPr lang="zh-CN" altLang="en-US" dirty="0"/>
              <a:t>傀儡</a:t>
            </a:r>
            <a:r>
              <a:rPr lang="en-US" altLang="zh-CN" dirty="0"/>
              <a:t>》《</a:t>
            </a:r>
            <a:r>
              <a:rPr lang="zh-CN" altLang="en-US" dirty="0"/>
              <a:t>汤姆叔叔的小屋</a:t>
            </a:r>
            <a:r>
              <a:rPr lang="en-US" altLang="zh-CN" dirty="0"/>
              <a:t>》</a:t>
            </a:r>
          </a:p>
          <a:p>
            <a:r>
              <a:rPr lang="en-US" altLang="zh-CN" dirty="0"/>
              <a:t>《</a:t>
            </a:r>
            <a:r>
              <a:rPr lang="zh-CN" altLang="en-US" dirty="0"/>
              <a:t>麦琪的礼物</a:t>
            </a:r>
            <a:r>
              <a:rPr lang="en-US" altLang="zh-CN" dirty="0"/>
              <a:t>》《</a:t>
            </a:r>
            <a:r>
              <a:rPr lang="zh-CN" altLang="en-US" dirty="0"/>
              <a:t>最后一片绿叶</a:t>
            </a:r>
            <a:r>
              <a:rPr lang="en-US" altLang="zh-CN" dirty="0"/>
              <a:t>》《</a:t>
            </a:r>
            <a:r>
              <a:rPr lang="zh-CN" altLang="en-US" dirty="0"/>
              <a:t>竞选州长</a:t>
            </a:r>
            <a:r>
              <a:rPr lang="en-US" altLang="zh-CN" dirty="0"/>
              <a:t>》《</a:t>
            </a:r>
            <a:r>
              <a:rPr lang="zh-CN" altLang="en-US" dirty="0"/>
              <a:t>国际歌</a:t>
            </a:r>
            <a:r>
              <a:rPr lang="en-US" altLang="zh-CN" dirty="0"/>
              <a:t>》《</a:t>
            </a:r>
            <a:r>
              <a:rPr lang="zh-CN" altLang="en-US" dirty="0"/>
              <a:t>萌 芽</a:t>
            </a:r>
            <a:r>
              <a:rPr lang="en-US" altLang="zh-CN" dirty="0"/>
              <a:t>》《</a:t>
            </a:r>
            <a:r>
              <a:rPr lang="zh-CN" altLang="en-US" dirty="0"/>
              <a:t>玩偶之家</a:t>
            </a:r>
            <a:r>
              <a:rPr lang="en-US" altLang="zh-CN" dirty="0"/>
              <a:t>》《</a:t>
            </a:r>
            <a:r>
              <a:rPr lang="zh-CN" altLang="en-US" dirty="0"/>
              <a:t>莎乐美</a:t>
            </a:r>
            <a:r>
              <a:rPr lang="en-US" altLang="zh-CN" dirty="0"/>
              <a:t>》</a:t>
            </a:r>
            <a:r>
              <a:rPr lang="zh-CN" altLang="en-US" dirty="0"/>
              <a:t>巴黎公社文学等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4506C7-60B8-2547-62E1-078A612EB1E7}"/>
              </a:ext>
            </a:extLst>
          </p:cNvPr>
          <p:cNvSpPr txBox="1"/>
          <p:nvPr/>
        </p:nvSpPr>
        <p:spPr>
          <a:xfrm>
            <a:off x="6589515" y="328523"/>
            <a:ext cx="5361979" cy="590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/>
              <a:t>20</a:t>
            </a:r>
            <a:r>
              <a:rPr lang="zh-CN" altLang="en-US" b="1" dirty="0"/>
              <a:t>上</a:t>
            </a:r>
            <a:endParaRPr lang="en-US" altLang="zh-CN" b="1" dirty="0"/>
          </a:p>
          <a:p>
            <a:r>
              <a:rPr lang="zh-CN" altLang="en-US" dirty="0"/>
              <a:t>三件大事影响世界文坛：</a:t>
            </a:r>
          </a:p>
          <a:p>
            <a:r>
              <a:rPr lang="zh-CN" altLang="en-US" dirty="0"/>
              <a:t> 1、第一次世界大战</a:t>
            </a:r>
          </a:p>
          <a:p>
            <a:r>
              <a:rPr lang="zh-CN" altLang="en-US" dirty="0"/>
              <a:t> 2、第一个无产阶级专政国家——苏维埃社会主义共和国成立</a:t>
            </a:r>
          </a:p>
          <a:p>
            <a:r>
              <a:rPr lang="zh-CN" altLang="en-US" dirty="0"/>
              <a:t> 3、欧美资本主义国家广泛性经济危机</a:t>
            </a:r>
            <a:endParaRPr lang="en-US" altLang="zh-CN" dirty="0"/>
          </a:p>
          <a:p>
            <a:r>
              <a:rPr lang="zh-CN" altLang="en-US" dirty="0"/>
              <a:t>这一时期，</a:t>
            </a:r>
            <a:r>
              <a:rPr lang="zh-CN" altLang="en-US" b="1" dirty="0"/>
              <a:t>世界文坛存在三种文学思潮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、社会主义现实主义文学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20</a:t>
            </a:r>
            <a:r>
              <a:rPr lang="zh-CN" altLang="en-US" dirty="0"/>
              <a:t>世纪前期现实主义文学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20</a:t>
            </a:r>
            <a:r>
              <a:rPr lang="zh-CN" altLang="en-US" dirty="0"/>
              <a:t>世纪前期现代主义文学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b="1" dirty="0"/>
              <a:t>社会主义现实主义文学</a:t>
            </a:r>
          </a:p>
          <a:p>
            <a:r>
              <a:rPr lang="zh-CN" altLang="en-US" dirty="0"/>
              <a:t>❈ 文学基本特点：</a:t>
            </a:r>
          </a:p>
          <a:p>
            <a:r>
              <a:rPr lang="zh-CN" altLang="en-US" dirty="0"/>
              <a:t> （</a:t>
            </a:r>
            <a:r>
              <a:rPr lang="en-US" altLang="zh-CN" dirty="0"/>
              <a:t>1</a:t>
            </a:r>
            <a:r>
              <a:rPr lang="zh-CN" altLang="en-US" dirty="0"/>
              <a:t>）具有鲜明的无产阶级党性</a:t>
            </a:r>
          </a:p>
          <a:p>
            <a:r>
              <a:rPr lang="zh-CN" altLang="en-US" dirty="0"/>
              <a:t> （</a:t>
            </a:r>
            <a:r>
              <a:rPr lang="en-US" altLang="zh-CN" dirty="0"/>
              <a:t>2</a:t>
            </a:r>
            <a:r>
              <a:rPr lang="zh-CN" altLang="en-US" dirty="0"/>
              <a:t>）表现了新的主题和新的主人公</a:t>
            </a:r>
          </a:p>
          <a:p>
            <a:r>
              <a:rPr lang="zh-CN" altLang="en-US" dirty="0"/>
              <a:t> （</a:t>
            </a:r>
            <a:r>
              <a:rPr lang="en-US" altLang="zh-CN" dirty="0"/>
              <a:t>3</a:t>
            </a:r>
            <a:r>
              <a:rPr lang="zh-CN" altLang="en-US" dirty="0"/>
              <a:t>）形成了全新的创作方法</a:t>
            </a:r>
            <a:r>
              <a:rPr lang="en-US" altLang="zh-CN" dirty="0"/>
              <a:t>——</a:t>
            </a:r>
            <a:r>
              <a:rPr lang="zh-CN" altLang="en-US" dirty="0"/>
              <a:t>革命现实主义与革命浪漫主义相结合</a:t>
            </a:r>
          </a:p>
          <a:p>
            <a:r>
              <a:rPr lang="zh-CN" altLang="en-US" dirty="0"/>
              <a:t>❈ 代表作家：高尔基、肖洛霍夫、奥斯特洛夫斯基、托尔斯泰</a:t>
            </a:r>
          </a:p>
          <a:p>
            <a:r>
              <a:rPr lang="zh-CN" altLang="en-US" dirty="0"/>
              <a:t>❈ 代表作品：</a:t>
            </a:r>
            <a:r>
              <a:rPr lang="en-US" altLang="zh-CN" dirty="0"/>
              <a:t>《</a:t>
            </a:r>
            <a:r>
              <a:rPr lang="zh-CN" altLang="en-US" dirty="0"/>
              <a:t>列宁</a:t>
            </a:r>
            <a:r>
              <a:rPr lang="en-US" altLang="zh-CN" dirty="0"/>
              <a:t>》《</a:t>
            </a:r>
            <a:r>
              <a:rPr lang="zh-CN" altLang="en-US" dirty="0"/>
              <a:t>静静的顿河</a:t>
            </a:r>
            <a:r>
              <a:rPr lang="en-US" altLang="zh-CN" dirty="0"/>
              <a:t>》《</a:t>
            </a:r>
            <a:r>
              <a:rPr lang="zh-CN" altLang="en-US" dirty="0"/>
              <a:t>苦难的历程</a:t>
            </a:r>
            <a:r>
              <a:rPr lang="en-US" altLang="zh-CN" dirty="0"/>
              <a:t>》《</a:t>
            </a:r>
            <a:r>
              <a:rPr lang="zh-CN" altLang="en-US" dirty="0"/>
              <a:t>钢铁是怎样炼 成的</a:t>
            </a:r>
            <a:r>
              <a:rPr lang="en-US" altLang="zh-CN" dirty="0"/>
              <a:t>》《</a:t>
            </a:r>
            <a:r>
              <a:rPr lang="zh-CN" altLang="en-US" dirty="0"/>
              <a:t>青年近卫军</a:t>
            </a:r>
            <a:r>
              <a:rPr lang="en-US" altLang="zh-CN" dirty="0"/>
              <a:t>》《</a:t>
            </a:r>
            <a:r>
              <a:rPr lang="zh-CN" altLang="en-US" dirty="0"/>
              <a:t>党生活者</a:t>
            </a:r>
            <a:r>
              <a:rPr lang="en-US" altLang="zh-CN" dirty="0"/>
              <a:t>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461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797A755-5B1D-8D75-D4CD-92697869C5C7}"/>
              </a:ext>
            </a:extLst>
          </p:cNvPr>
          <p:cNvSpPr txBox="1"/>
          <p:nvPr/>
        </p:nvSpPr>
        <p:spPr>
          <a:xfrm>
            <a:off x="262532" y="289679"/>
            <a:ext cx="6097190" cy="6186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18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世纪前期现实主义文学 </a:t>
            </a:r>
            <a:endParaRPr lang="zh-CN" altLang="en-US" dirty="0"/>
          </a:p>
          <a:p>
            <a:r>
              <a:rPr lang="zh-CN" altLang="en-US" sz="1800" b="1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b="1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文学基本特征：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）人道主义为思想基础，支持同情无产阶级革命运动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）创作方法继承现实主义传统，力求反映时代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）表现技巧上，既坚持、丰富和发展现实主义的，也汲取现代主义表现技巧的长处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代表作家：伯纳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肖、劳伦斯、罗曼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罗兰、夏目漱石等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代表作品：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易卜生主义的精神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恋爱中的女人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母与子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 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约翰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克里斯朵夫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我是猫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等</a:t>
            </a:r>
            <a:endParaRPr lang="en-US" altLang="zh-CN" sz="18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20</a:t>
            </a:r>
            <a:r>
              <a:rPr lang="zh-CN" altLang="en-US" dirty="0"/>
              <a:t>世纪前期</a:t>
            </a:r>
            <a:r>
              <a:rPr lang="zh-CN" altLang="en-US" b="1" dirty="0"/>
              <a:t>现代主义</a:t>
            </a:r>
            <a:r>
              <a:rPr lang="zh-CN" altLang="en-US" dirty="0"/>
              <a:t>文学</a:t>
            </a:r>
          </a:p>
          <a:p>
            <a:r>
              <a:rPr lang="zh-CN" altLang="en-US" dirty="0"/>
              <a:t>❈ 文学基本特征：</a:t>
            </a:r>
          </a:p>
          <a:p>
            <a:r>
              <a:rPr lang="zh-CN" altLang="en-US" dirty="0"/>
              <a:t> （</a:t>
            </a:r>
            <a:r>
              <a:rPr lang="en-US" altLang="zh-CN" dirty="0"/>
              <a:t>1</a:t>
            </a:r>
            <a:r>
              <a:rPr lang="zh-CN" altLang="en-US" dirty="0"/>
              <a:t>）思想特征</a:t>
            </a:r>
            <a:r>
              <a:rPr lang="en-US" altLang="zh-CN" dirty="0"/>
              <a:t>:</a:t>
            </a:r>
            <a:r>
              <a:rPr lang="zh-CN" altLang="en-US" dirty="0"/>
              <a:t>反科学、反理性的非理性主义</a:t>
            </a:r>
          </a:p>
          <a:p>
            <a:r>
              <a:rPr lang="zh-CN" altLang="en-US" dirty="0"/>
              <a:t> （</a:t>
            </a:r>
            <a:r>
              <a:rPr lang="en-US" altLang="zh-CN" dirty="0"/>
              <a:t>2</a:t>
            </a:r>
            <a:r>
              <a:rPr lang="zh-CN" altLang="en-US" dirty="0"/>
              <a:t>）社会特征：反社会、反道德的个人主义</a:t>
            </a:r>
          </a:p>
          <a:p>
            <a:r>
              <a:rPr lang="zh-CN" altLang="en-US" dirty="0"/>
              <a:t> （</a:t>
            </a:r>
            <a:r>
              <a:rPr lang="en-US" altLang="zh-CN" dirty="0"/>
              <a:t>3</a:t>
            </a:r>
            <a:r>
              <a:rPr lang="zh-CN" altLang="en-US" dirty="0"/>
              <a:t>）艺术特征：反客观化的有机形式主义</a:t>
            </a:r>
          </a:p>
          <a:p>
            <a:r>
              <a:rPr lang="zh-CN" altLang="en-US" dirty="0"/>
              <a:t>❈ 代表作家：布勒东、普鲁斯特、乔伊斯、川端康成、戴望舒、艾青等</a:t>
            </a:r>
          </a:p>
          <a:p>
            <a:r>
              <a:rPr lang="zh-CN" altLang="en-US" dirty="0"/>
              <a:t>❈ 代表作品：</a:t>
            </a:r>
            <a:r>
              <a:rPr lang="en-US" altLang="zh-CN" dirty="0"/>
              <a:t>《</a:t>
            </a:r>
            <a:r>
              <a:rPr lang="zh-CN" altLang="en-US" dirty="0"/>
              <a:t>警觉</a:t>
            </a:r>
            <a:r>
              <a:rPr lang="en-US" altLang="zh-CN" dirty="0"/>
              <a:t>》《</a:t>
            </a:r>
            <a:r>
              <a:rPr lang="zh-CN" altLang="en-US" dirty="0"/>
              <a:t>追忆流水年华</a:t>
            </a:r>
            <a:r>
              <a:rPr lang="en-US" altLang="zh-CN" dirty="0"/>
              <a:t>》《</a:t>
            </a:r>
            <a:r>
              <a:rPr lang="zh-CN" altLang="en-US" dirty="0"/>
              <a:t>尤利西斯</a:t>
            </a:r>
            <a:r>
              <a:rPr lang="en-US" altLang="zh-CN" dirty="0"/>
              <a:t>》《</a:t>
            </a:r>
            <a:r>
              <a:rPr lang="zh-CN" altLang="en-US" dirty="0"/>
              <a:t>荒原</a:t>
            </a:r>
            <a:r>
              <a:rPr lang="en-US" altLang="zh-CN" dirty="0"/>
              <a:t>》《</a:t>
            </a:r>
            <a:r>
              <a:rPr lang="zh-CN" altLang="en-US" dirty="0"/>
              <a:t>雪国</a:t>
            </a:r>
            <a:r>
              <a:rPr lang="en-US" altLang="zh-CN" dirty="0"/>
              <a:t>》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zh-CN" altLang="en-US" dirty="0"/>
              <a:t>这时期</a:t>
            </a:r>
            <a:r>
              <a:rPr lang="zh-CN" altLang="en-US" b="1" dirty="0"/>
              <a:t>世界文学总体特征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、文学思想：三种不同的文学思想开展尖锐、激烈的交锋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、创作方法：百花齐放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、人物画廊：异彩纷呈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C8CA79-0A43-19B2-6400-AAA256A8C1B1}"/>
              </a:ext>
            </a:extLst>
          </p:cNvPr>
          <p:cNvSpPr txBox="1"/>
          <p:nvPr/>
        </p:nvSpPr>
        <p:spPr>
          <a:xfrm>
            <a:off x="6431160" y="289679"/>
            <a:ext cx="5584628" cy="6186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/>
              <a:t>20</a:t>
            </a:r>
            <a:r>
              <a:rPr lang="zh-CN" altLang="en-US" b="1" dirty="0"/>
              <a:t>下</a:t>
            </a:r>
            <a:endParaRPr lang="en-US" altLang="zh-CN" b="1" dirty="0"/>
          </a:p>
          <a:p>
            <a:r>
              <a:rPr lang="zh-CN" altLang="en-US" dirty="0"/>
              <a:t>二件大事影响世界文坛：</a:t>
            </a:r>
          </a:p>
          <a:p>
            <a:r>
              <a:rPr lang="zh-CN" altLang="en-US" dirty="0"/>
              <a:t> 1、第二次世界大战结束后，50-80年代，出现社会主义</a:t>
            </a:r>
          </a:p>
          <a:p>
            <a:r>
              <a:rPr lang="zh-CN" altLang="en-US" dirty="0"/>
              <a:t>和资本主义两大阵营对峙。</a:t>
            </a:r>
          </a:p>
          <a:p>
            <a:r>
              <a:rPr lang="zh-CN" altLang="en-US" dirty="0"/>
              <a:t> 2、原子能、电子学、生物技术等自然科学长足进步，</a:t>
            </a:r>
          </a:p>
          <a:p>
            <a:r>
              <a:rPr lang="zh-CN" altLang="en-US" dirty="0"/>
              <a:t>部分国家进入崭新的超工业社会。</a:t>
            </a:r>
            <a:endParaRPr lang="en-US" altLang="zh-CN" dirty="0"/>
          </a:p>
          <a:p>
            <a:r>
              <a:rPr lang="zh-CN" altLang="en-US" dirty="0"/>
              <a:t>这时期世界文学特征：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、文学思想：马克思列宁主义社会主义学说和存在主义</a:t>
            </a:r>
          </a:p>
          <a:p>
            <a:r>
              <a:rPr lang="zh-CN" altLang="en-US" dirty="0"/>
              <a:t>学说，是当今世界文学的主要思想基础。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、创作方法：百花齐放，相互渗透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、文学构思：地球村意识</a:t>
            </a:r>
            <a:r>
              <a:rPr lang="en-US" altLang="zh-CN" dirty="0"/>
              <a:t>——</a:t>
            </a:r>
            <a:r>
              <a:rPr lang="zh-CN" altLang="en-US" dirty="0"/>
              <a:t>这是当代作家最有时代特</a:t>
            </a:r>
          </a:p>
          <a:p>
            <a:r>
              <a:rPr lang="zh-CN" altLang="en-US" dirty="0"/>
              <a:t>色的文学意识</a:t>
            </a:r>
            <a:endParaRPr lang="en-US" altLang="zh-CN" dirty="0"/>
          </a:p>
          <a:p>
            <a:r>
              <a:rPr lang="zh-CN" altLang="en-US" dirty="0"/>
              <a:t>代表作家：瓦西里耶夫、拉斯普京、路易</a:t>
            </a:r>
            <a:r>
              <a:rPr lang="en-US" altLang="zh-CN" dirty="0"/>
              <a:t>.</a:t>
            </a:r>
            <a:r>
              <a:rPr lang="zh-CN" altLang="en-US" dirty="0"/>
              <a:t>阿拉贡、布</a:t>
            </a:r>
          </a:p>
          <a:p>
            <a:r>
              <a:rPr lang="zh-CN" altLang="en-US" dirty="0"/>
              <a:t>莱希特、海明威、奥茨、马尔克斯、萨特、海勒等</a:t>
            </a:r>
          </a:p>
          <a:p>
            <a:r>
              <a:rPr lang="zh-CN" altLang="en-US" dirty="0"/>
              <a:t>❈ 代表作品：</a:t>
            </a:r>
            <a:r>
              <a:rPr lang="en-US" altLang="zh-CN" dirty="0"/>
              <a:t>《</a:t>
            </a:r>
            <a:r>
              <a:rPr lang="zh-CN" altLang="en-US" dirty="0"/>
              <a:t>这里的黎明静悄悄</a:t>
            </a:r>
            <a:r>
              <a:rPr lang="en-US" altLang="zh-CN" dirty="0"/>
              <a:t>》《</a:t>
            </a:r>
            <a:r>
              <a:rPr lang="zh-CN" altLang="en-US" dirty="0"/>
              <a:t>活着，可要记住</a:t>
            </a:r>
            <a:r>
              <a:rPr lang="en-US" altLang="zh-CN" dirty="0"/>
              <a:t>》</a:t>
            </a:r>
          </a:p>
          <a:p>
            <a:r>
              <a:rPr lang="en-US" altLang="zh-CN" dirty="0"/>
              <a:t>《</a:t>
            </a:r>
            <a:r>
              <a:rPr lang="zh-CN" altLang="en-US" dirty="0"/>
              <a:t>共产党人</a:t>
            </a:r>
            <a:r>
              <a:rPr lang="en-US" altLang="zh-CN" dirty="0"/>
              <a:t>》《</a:t>
            </a:r>
            <a:r>
              <a:rPr lang="zh-CN" altLang="en-US" dirty="0"/>
              <a:t>高加索灰阑记</a:t>
            </a:r>
            <a:r>
              <a:rPr lang="en-US" altLang="zh-CN" dirty="0"/>
              <a:t>》《</a:t>
            </a:r>
            <a:r>
              <a:rPr lang="zh-CN" altLang="en-US" dirty="0"/>
              <a:t>老人与海</a:t>
            </a:r>
            <a:r>
              <a:rPr lang="en-US" altLang="zh-CN" dirty="0"/>
              <a:t>》《</a:t>
            </a:r>
            <a:r>
              <a:rPr lang="zh-CN" altLang="en-US" dirty="0"/>
              <a:t>奇境</a:t>
            </a:r>
            <a:r>
              <a:rPr lang="en-US" altLang="zh-CN" dirty="0"/>
              <a:t>》</a:t>
            </a:r>
          </a:p>
          <a:p>
            <a:r>
              <a:rPr lang="en-US" altLang="zh-CN" dirty="0"/>
              <a:t>《</a:t>
            </a:r>
            <a:r>
              <a:rPr lang="zh-CN" altLang="en-US" dirty="0"/>
              <a:t>百年孤独</a:t>
            </a:r>
            <a:r>
              <a:rPr lang="en-US" altLang="zh-CN" dirty="0"/>
              <a:t>》《</a:t>
            </a:r>
            <a:r>
              <a:rPr lang="zh-CN" altLang="en-US" dirty="0"/>
              <a:t>等待戈多</a:t>
            </a:r>
            <a:r>
              <a:rPr lang="en-US" altLang="zh-CN" dirty="0"/>
              <a:t>》《</a:t>
            </a:r>
            <a:r>
              <a:rPr lang="zh-CN" altLang="en-US" dirty="0"/>
              <a:t>窥视者</a:t>
            </a:r>
            <a:r>
              <a:rPr lang="en-US" altLang="zh-CN" dirty="0"/>
              <a:t>》《</a:t>
            </a:r>
            <a:r>
              <a:rPr lang="zh-CN" altLang="en-US" dirty="0"/>
              <a:t>第二十二条军规</a:t>
            </a:r>
            <a:r>
              <a:rPr lang="en-US" altLang="zh-CN" dirty="0"/>
              <a:t>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4288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C4E34B1-23E8-A538-093F-BCF2D69B0EA9}"/>
              </a:ext>
            </a:extLst>
          </p:cNvPr>
          <p:cNvSpPr txBox="1"/>
          <p:nvPr/>
        </p:nvSpPr>
        <p:spPr>
          <a:xfrm>
            <a:off x="212526" y="280124"/>
            <a:ext cx="545961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（一）先秦时期</a:t>
            </a:r>
          </a:p>
          <a:p>
            <a:r>
              <a:rPr lang="zh-CN" altLang="en-US" dirty="0"/>
              <a:t>第一部诗歌总集</a:t>
            </a:r>
            <a:r>
              <a:rPr lang="en-US" altLang="zh-CN" dirty="0"/>
              <a:t>《</a:t>
            </a:r>
            <a:r>
              <a:rPr lang="zh-CN" altLang="en-US" dirty="0"/>
              <a:t>诗经</a:t>
            </a:r>
            <a:r>
              <a:rPr lang="en-US" altLang="zh-CN" dirty="0"/>
              <a:t>》</a:t>
            </a:r>
            <a:r>
              <a:rPr lang="zh-CN" altLang="en-US" dirty="0"/>
              <a:t>：</a:t>
            </a:r>
            <a:r>
              <a:rPr lang="en-US" altLang="zh-CN" dirty="0"/>
              <a:t>305</a:t>
            </a:r>
            <a:r>
              <a:rPr lang="zh-CN" altLang="en-US" dirty="0"/>
              <a:t>篇</a:t>
            </a:r>
          </a:p>
          <a:p>
            <a:r>
              <a:rPr lang="zh-CN" altLang="en-US" dirty="0"/>
              <a:t> 音乐分类：风雅颂</a:t>
            </a:r>
          </a:p>
          <a:p>
            <a:r>
              <a:rPr lang="zh-CN" altLang="en-US" dirty="0"/>
              <a:t> 表现手法：赋比兴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《</a:t>
            </a:r>
            <a:r>
              <a:rPr lang="zh-CN" altLang="en-US" dirty="0"/>
              <a:t>诗经</a:t>
            </a:r>
            <a:r>
              <a:rPr lang="en-US" altLang="zh-CN" dirty="0"/>
              <a:t>》+ 《</a:t>
            </a:r>
            <a:r>
              <a:rPr lang="zh-CN" altLang="en-US" dirty="0"/>
              <a:t>楚辞</a:t>
            </a:r>
            <a:r>
              <a:rPr lang="en-US" altLang="zh-CN" dirty="0"/>
              <a:t>》= “</a:t>
            </a:r>
            <a:r>
              <a:rPr lang="zh-CN" altLang="en-US" dirty="0"/>
              <a:t>风骚”</a:t>
            </a:r>
          </a:p>
          <a:p>
            <a:r>
              <a:rPr lang="zh-CN" altLang="en-US" dirty="0"/>
              <a:t>春秋战国：诸子散文（论语、孟子、庄子）</a:t>
            </a:r>
          </a:p>
          <a:p>
            <a:r>
              <a:rPr lang="zh-CN" altLang="en-US" dirty="0"/>
              <a:t> 历史散文（左传、国语、战国策）</a:t>
            </a:r>
            <a:endParaRPr lang="en-US" altLang="zh-CN" dirty="0"/>
          </a:p>
          <a:p>
            <a:r>
              <a:rPr lang="zh-CN" altLang="en-US" b="1" dirty="0"/>
              <a:t>（二）两汉时期</a:t>
            </a:r>
            <a:endParaRPr lang="en-US" altLang="zh-CN" b="1" dirty="0"/>
          </a:p>
          <a:p>
            <a:r>
              <a:rPr lang="zh-CN" altLang="en-US" dirty="0"/>
              <a:t>乐府诗：两汉最有价值文学</a:t>
            </a:r>
          </a:p>
          <a:p>
            <a:r>
              <a:rPr lang="zh-CN" altLang="en-US" dirty="0"/>
              <a:t>司马迁</a:t>
            </a:r>
            <a:r>
              <a:rPr lang="en-US" altLang="zh-CN" dirty="0"/>
              <a:t>《</a:t>
            </a:r>
            <a:r>
              <a:rPr lang="zh-CN" altLang="en-US" dirty="0"/>
              <a:t>史记</a:t>
            </a:r>
            <a:r>
              <a:rPr lang="en-US" altLang="zh-CN" dirty="0"/>
              <a:t>》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 两汉散文最高成就，开创了纪传体史书体例</a:t>
            </a:r>
            <a:endParaRPr lang="en-US" altLang="zh-CN" dirty="0"/>
          </a:p>
          <a:p>
            <a:r>
              <a:rPr lang="zh-CN" altLang="en-US" b="1" dirty="0"/>
              <a:t>（三）魏晋南北朝时期</a:t>
            </a:r>
            <a:endParaRPr lang="en-US" altLang="zh-CN" b="1" dirty="0"/>
          </a:p>
          <a:p>
            <a:r>
              <a:rPr lang="zh-CN" altLang="en-US" dirty="0"/>
              <a:t>诗歌、散文、辞赋、骈文、小说等文学样式都取得显著成就</a:t>
            </a:r>
          </a:p>
          <a:p>
            <a:r>
              <a:rPr lang="zh-CN" altLang="en-US" dirty="0"/>
              <a:t>“文”“笔”之分日渐明显</a:t>
            </a:r>
          </a:p>
          <a:p>
            <a:r>
              <a:rPr lang="zh-CN" altLang="en-US" dirty="0"/>
              <a:t>晋干宝</a:t>
            </a:r>
            <a:r>
              <a:rPr lang="en-US" altLang="zh-CN" dirty="0"/>
              <a:t>《</a:t>
            </a:r>
            <a:r>
              <a:rPr lang="zh-CN" altLang="en-US" dirty="0"/>
              <a:t>搜神｝记</a:t>
            </a:r>
            <a:r>
              <a:rPr lang="en-US" altLang="zh-CN" dirty="0"/>
              <a:t>》</a:t>
            </a:r>
            <a:r>
              <a:rPr lang="zh-CN" altLang="en-US" dirty="0"/>
              <a:t>、刘宋时刘义庆</a:t>
            </a:r>
            <a:r>
              <a:rPr lang="en-US" altLang="zh-CN" dirty="0"/>
              <a:t>《</a:t>
            </a:r>
            <a:r>
              <a:rPr lang="zh-CN" altLang="en-US" dirty="0"/>
              <a:t>世说新语</a:t>
            </a:r>
            <a:r>
              <a:rPr lang="en-US" altLang="zh-CN" dirty="0"/>
              <a:t>》</a:t>
            </a:r>
          </a:p>
          <a:p>
            <a:r>
              <a:rPr lang="zh-CN" altLang="en-US" dirty="0"/>
              <a:t>曹丕</a:t>
            </a:r>
            <a:r>
              <a:rPr lang="en-US" altLang="zh-CN" dirty="0"/>
              <a:t>《</a:t>
            </a:r>
            <a:r>
              <a:rPr lang="zh-CN" altLang="en-US" dirty="0"/>
              <a:t>典论</a:t>
            </a:r>
            <a:r>
              <a:rPr lang="en-US" altLang="zh-CN" dirty="0"/>
              <a:t>.</a:t>
            </a:r>
            <a:r>
              <a:rPr lang="zh-CN" altLang="en-US" dirty="0"/>
              <a:t>论文</a:t>
            </a:r>
            <a:r>
              <a:rPr lang="en-US" altLang="zh-CN" dirty="0"/>
              <a:t>》</a:t>
            </a:r>
            <a:r>
              <a:rPr lang="zh-CN" altLang="en-US" dirty="0"/>
              <a:t>、陆机</a:t>
            </a:r>
            <a:r>
              <a:rPr lang="en-US" altLang="zh-CN" dirty="0"/>
              <a:t>《</a:t>
            </a:r>
            <a:r>
              <a:rPr lang="zh-CN" altLang="en-US" dirty="0"/>
              <a:t>文赋</a:t>
            </a:r>
            <a:r>
              <a:rPr lang="en-US" altLang="zh-CN" dirty="0"/>
              <a:t>》</a:t>
            </a:r>
          </a:p>
          <a:p>
            <a:r>
              <a:rPr lang="zh-CN" altLang="en-US" dirty="0"/>
              <a:t>刘勰</a:t>
            </a:r>
            <a:r>
              <a:rPr lang="en-US" altLang="zh-CN" dirty="0"/>
              <a:t>《</a:t>
            </a:r>
            <a:r>
              <a:rPr lang="zh-CN" altLang="en-US" dirty="0"/>
              <a:t>文心雕龙</a:t>
            </a:r>
            <a:r>
              <a:rPr lang="en-US" altLang="zh-CN" dirty="0"/>
              <a:t>》</a:t>
            </a:r>
            <a:r>
              <a:rPr lang="zh-CN" altLang="en-US" dirty="0"/>
              <a:t>、钟嵘</a:t>
            </a:r>
            <a:r>
              <a:rPr lang="en-US" altLang="zh-CN" dirty="0"/>
              <a:t>《</a:t>
            </a:r>
            <a:r>
              <a:rPr lang="zh-CN" altLang="en-US" dirty="0"/>
              <a:t>诗品</a:t>
            </a:r>
            <a:r>
              <a:rPr lang="en-US" altLang="zh-CN" dirty="0"/>
              <a:t>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BD72D6-DAD2-157E-27DA-7CB088DBDEF0}"/>
              </a:ext>
            </a:extLst>
          </p:cNvPr>
          <p:cNvSpPr txBox="1"/>
          <p:nvPr/>
        </p:nvSpPr>
        <p:spPr>
          <a:xfrm>
            <a:off x="5734645" y="256191"/>
            <a:ext cx="609719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（四）唐代（初唐、盛唐、中唐、晚唐）</a:t>
            </a:r>
            <a:endParaRPr lang="en-US" altLang="zh-CN" b="1" dirty="0"/>
          </a:p>
          <a:p>
            <a:r>
              <a:rPr lang="zh-CN" altLang="en-US" dirty="0"/>
              <a:t>唐诗空前发展</a:t>
            </a:r>
          </a:p>
          <a:p>
            <a:r>
              <a:rPr lang="zh-CN" altLang="en-US" dirty="0"/>
              <a:t>❈初唐四杰</a:t>
            </a:r>
            <a:r>
              <a:rPr lang="en-US" altLang="zh-CN" dirty="0"/>
              <a:t>:</a:t>
            </a:r>
            <a:r>
              <a:rPr lang="zh-CN" altLang="en-US" dirty="0"/>
              <a:t>王勃、杨炯、卢照邻、骆宾王</a:t>
            </a:r>
          </a:p>
          <a:p>
            <a:r>
              <a:rPr lang="zh-CN" altLang="en-US" dirty="0"/>
              <a:t>❈盛唐流派：山水田园诗（王维、孟浩然）、边塞诗（高适、岑参、王昌龄） 中国诗史双子星座：李白、杜甫</a:t>
            </a:r>
          </a:p>
          <a:p>
            <a:r>
              <a:rPr lang="zh-CN" altLang="en-US" dirty="0"/>
              <a:t>❈中唐时期：新乐府运动，</a:t>
            </a:r>
          </a:p>
          <a:p>
            <a:r>
              <a:rPr lang="zh-CN" altLang="en-US" dirty="0"/>
              <a:t>“文章合为时而著，歌诗合为事而作”</a:t>
            </a:r>
          </a:p>
          <a:p>
            <a:r>
              <a:rPr lang="zh-CN" altLang="en-US" dirty="0"/>
              <a:t> 白居易</a:t>
            </a:r>
            <a:r>
              <a:rPr lang="en-US" altLang="zh-CN" dirty="0"/>
              <a:t>《</a:t>
            </a:r>
            <a:r>
              <a:rPr lang="zh-CN" altLang="en-US" dirty="0"/>
              <a:t>长恨歌</a:t>
            </a:r>
            <a:r>
              <a:rPr lang="en-US" altLang="zh-CN" dirty="0"/>
              <a:t>》《</a:t>
            </a:r>
            <a:r>
              <a:rPr lang="zh-CN" altLang="en-US" dirty="0"/>
              <a:t>琵琶行</a:t>
            </a:r>
            <a:r>
              <a:rPr lang="en-US" altLang="zh-CN" dirty="0"/>
              <a:t>》</a:t>
            </a:r>
          </a:p>
          <a:p>
            <a:r>
              <a:rPr lang="en-US" altLang="zh-CN" dirty="0"/>
              <a:t> </a:t>
            </a:r>
            <a:r>
              <a:rPr lang="zh-CN" altLang="en-US" dirty="0"/>
              <a:t>柳宗元、韩愈、元稹、刘禹锡、孟郊、贾岛、李贺等</a:t>
            </a:r>
          </a:p>
          <a:p>
            <a:r>
              <a:rPr lang="zh-CN" altLang="en-US" dirty="0"/>
              <a:t>❈晚唐时期：感伤色彩（ 杜牧、李商隐、李煜）</a:t>
            </a:r>
            <a:endParaRPr lang="zh-CN" altLang="en-US" b="1" dirty="0"/>
          </a:p>
          <a:p>
            <a:r>
              <a:rPr lang="zh-CN" altLang="en-US" b="1" dirty="0"/>
              <a:t>（五）宋代 </a:t>
            </a:r>
            <a:endParaRPr lang="en-US" altLang="zh-CN" b="1" dirty="0"/>
          </a:p>
          <a:p>
            <a:r>
              <a:rPr lang="zh-CN" altLang="en-US" dirty="0"/>
              <a:t>北宋初期：婉约绮靡（晏幾道）</a:t>
            </a:r>
          </a:p>
          <a:p>
            <a:r>
              <a:rPr lang="zh-CN" altLang="en-US" dirty="0"/>
              <a:t>❈ 南宋：豪放词派</a:t>
            </a:r>
          </a:p>
          <a:p>
            <a:r>
              <a:rPr lang="zh-CN" altLang="en-US" dirty="0"/>
              <a:t>❈ 南渡后：感时伤乱、抗金爱国</a:t>
            </a:r>
          </a:p>
          <a:p>
            <a:r>
              <a:rPr lang="zh-CN" altLang="en-US" dirty="0"/>
              <a:t>❈ 代表：柳永、苏轼、秦观、贺铸、黄庭坚、周邦彦、</a:t>
            </a:r>
          </a:p>
          <a:p>
            <a:r>
              <a:rPr lang="zh-CN" altLang="en-US" dirty="0"/>
              <a:t> 李清照、陆游、杨万里、范成大</a:t>
            </a:r>
            <a:endParaRPr lang="en-US" altLang="zh-CN" dirty="0"/>
          </a:p>
          <a:p>
            <a:r>
              <a:rPr lang="zh-CN" altLang="en-US" dirty="0"/>
              <a:t>欧阳修：诗文革新领袖、宋代散文奠基人</a:t>
            </a:r>
          </a:p>
          <a:p>
            <a:r>
              <a:rPr lang="zh-CN" altLang="en-US" dirty="0"/>
              <a:t>❈ 唐宋八大家：韩愈、柳宗元、欧阳修、王安石、 </a:t>
            </a:r>
          </a:p>
          <a:p>
            <a:r>
              <a:rPr lang="zh-CN" altLang="en-US" dirty="0"/>
              <a:t> 曾巩、苏洵、苏轼、苏澈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380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CCA4375-C10D-234D-E24E-C48CE494C968}"/>
              </a:ext>
            </a:extLst>
          </p:cNvPr>
          <p:cNvSpPr txBox="1"/>
          <p:nvPr/>
        </p:nvSpPr>
        <p:spPr>
          <a:xfrm>
            <a:off x="105369" y="0"/>
            <a:ext cx="609719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（六）元代 </a:t>
            </a:r>
            <a:endParaRPr lang="en-US" altLang="zh-CN" b="1" dirty="0"/>
          </a:p>
          <a:p>
            <a:r>
              <a:rPr lang="zh-CN" altLang="en-US" dirty="0"/>
              <a:t>元曲 </a:t>
            </a:r>
            <a:r>
              <a:rPr lang="en-US" altLang="zh-CN" dirty="0"/>
              <a:t>= </a:t>
            </a:r>
            <a:r>
              <a:rPr lang="zh-CN" altLang="en-US" dirty="0"/>
              <a:t>杂剧 </a:t>
            </a:r>
            <a:r>
              <a:rPr lang="en-US" altLang="zh-CN" dirty="0"/>
              <a:t>+ </a:t>
            </a:r>
            <a:r>
              <a:rPr lang="zh-CN" altLang="en-US" dirty="0"/>
              <a:t>散曲</a:t>
            </a:r>
          </a:p>
          <a:p>
            <a:r>
              <a:rPr lang="zh-CN" altLang="en-US" dirty="0"/>
              <a:t>❈ 关汉卿</a:t>
            </a:r>
            <a:r>
              <a:rPr lang="en-US" altLang="zh-CN" dirty="0"/>
              <a:t>《</a:t>
            </a:r>
            <a:r>
              <a:rPr lang="zh-CN" altLang="en-US" dirty="0"/>
              <a:t>窦娥冤</a:t>
            </a:r>
            <a:r>
              <a:rPr lang="en-US" altLang="zh-CN" dirty="0"/>
              <a:t>》</a:t>
            </a:r>
            <a:r>
              <a:rPr lang="zh-CN" altLang="en-US" dirty="0"/>
              <a:t>、王实甫</a:t>
            </a:r>
            <a:r>
              <a:rPr lang="en-US" altLang="zh-CN" dirty="0"/>
              <a:t>《</a:t>
            </a:r>
            <a:r>
              <a:rPr lang="zh-CN" altLang="en-US" dirty="0"/>
              <a:t>西厢记</a:t>
            </a:r>
            <a:r>
              <a:rPr lang="en-US" altLang="zh-CN" dirty="0"/>
              <a:t>》</a:t>
            </a:r>
            <a:r>
              <a:rPr lang="zh-CN" altLang="en-US" dirty="0"/>
              <a:t>、</a:t>
            </a:r>
          </a:p>
          <a:p>
            <a:r>
              <a:rPr lang="zh-CN" altLang="en-US" dirty="0"/>
              <a:t> 马致远</a:t>
            </a:r>
            <a:r>
              <a:rPr lang="en-US" altLang="zh-CN" dirty="0"/>
              <a:t>《</a:t>
            </a:r>
            <a:r>
              <a:rPr lang="zh-CN" altLang="en-US" dirty="0"/>
              <a:t>天净沙</a:t>
            </a:r>
            <a:r>
              <a:rPr lang="en-US" altLang="zh-CN" dirty="0"/>
              <a:t>.</a:t>
            </a:r>
            <a:r>
              <a:rPr lang="zh-CN" altLang="en-US" dirty="0"/>
              <a:t>秋思</a:t>
            </a:r>
            <a:r>
              <a:rPr lang="en-US" altLang="zh-CN" dirty="0"/>
              <a:t>》</a:t>
            </a:r>
            <a:r>
              <a:rPr lang="zh-CN" altLang="en-US" dirty="0"/>
              <a:t>、睢景臣</a:t>
            </a:r>
            <a:r>
              <a:rPr lang="en-US" altLang="zh-CN" dirty="0"/>
              <a:t>《</a:t>
            </a:r>
            <a:r>
              <a:rPr lang="zh-CN" altLang="en-US" dirty="0"/>
              <a:t>哨遍</a:t>
            </a:r>
            <a:r>
              <a:rPr lang="en-US" altLang="zh-CN" dirty="0"/>
              <a:t>.</a:t>
            </a:r>
            <a:r>
              <a:rPr lang="zh-CN" altLang="en-US" dirty="0"/>
              <a:t>高祖还乡</a:t>
            </a:r>
            <a:r>
              <a:rPr lang="en-US" altLang="zh-CN" dirty="0"/>
              <a:t>》</a:t>
            </a:r>
          </a:p>
          <a:p>
            <a:r>
              <a:rPr lang="zh-CN" altLang="en-US" b="1" dirty="0"/>
              <a:t>（七）明代 </a:t>
            </a:r>
            <a:endParaRPr lang="en-US" altLang="zh-CN" b="1" dirty="0"/>
          </a:p>
          <a:p>
            <a:r>
              <a:rPr lang="zh-CN" altLang="en-US" dirty="0"/>
              <a:t>长篇章回小说：罗贯中</a:t>
            </a:r>
            <a:r>
              <a:rPr lang="en-US" altLang="zh-CN" dirty="0"/>
              <a:t>《</a:t>
            </a:r>
            <a:r>
              <a:rPr lang="zh-CN" altLang="en-US" dirty="0"/>
              <a:t>三国志通俗演义</a:t>
            </a:r>
            <a:r>
              <a:rPr lang="en-US" altLang="zh-CN" dirty="0"/>
              <a:t>》</a:t>
            </a:r>
            <a:r>
              <a:rPr lang="zh-CN" altLang="en-US" dirty="0"/>
              <a:t>施耐庵</a:t>
            </a:r>
            <a:r>
              <a:rPr lang="en-US" altLang="zh-CN" dirty="0"/>
              <a:t>《</a:t>
            </a:r>
            <a:r>
              <a:rPr lang="zh-CN" altLang="en-US" dirty="0"/>
              <a:t>水 </a:t>
            </a:r>
          </a:p>
          <a:p>
            <a:r>
              <a:rPr lang="zh-CN" altLang="en-US" dirty="0"/>
              <a:t> 浒传</a:t>
            </a:r>
            <a:r>
              <a:rPr lang="en-US" altLang="zh-CN" dirty="0"/>
              <a:t>》</a:t>
            </a:r>
            <a:r>
              <a:rPr lang="zh-CN" altLang="en-US" dirty="0"/>
              <a:t>吴承恩</a:t>
            </a:r>
            <a:r>
              <a:rPr lang="en-US" altLang="zh-CN" dirty="0"/>
              <a:t>《</a:t>
            </a:r>
            <a:r>
              <a:rPr lang="zh-CN" altLang="en-US" dirty="0"/>
              <a:t>西游记</a:t>
            </a:r>
            <a:r>
              <a:rPr lang="en-US" altLang="zh-CN" dirty="0"/>
              <a:t>》</a:t>
            </a:r>
            <a:r>
              <a:rPr lang="zh-CN" altLang="en-US" dirty="0"/>
              <a:t>笑笑生</a:t>
            </a:r>
            <a:r>
              <a:rPr lang="en-US" altLang="zh-CN" dirty="0"/>
              <a:t>《</a:t>
            </a:r>
            <a:r>
              <a:rPr lang="zh-CN" altLang="en-US" dirty="0"/>
              <a:t>金瓶梅</a:t>
            </a:r>
            <a:r>
              <a:rPr lang="en-US" altLang="zh-CN" dirty="0"/>
              <a:t>》</a:t>
            </a:r>
          </a:p>
          <a:p>
            <a:r>
              <a:rPr lang="en-US" altLang="zh-CN" dirty="0"/>
              <a:t>❈ </a:t>
            </a:r>
            <a:r>
              <a:rPr lang="zh-CN" altLang="en-US" dirty="0"/>
              <a:t>短篇拟话本：冯梦龙“三言”“两拍”</a:t>
            </a:r>
          </a:p>
          <a:p>
            <a:r>
              <a:rPr lang="zh-CN" altLang="en-US" dirty="0"/>
              <a:t>❈ 戏曲：汤显祖</a:t>
            </a:r>
            <a:r>
              <a:rPr lang="en-US" altLang="zh-CN" dirty="0"/>
              <a:t>《</a:t>
            </a:r>
            <a:r>
              <a:rPr lang="zh-CN" altLang="en-US" dirty="0"/>
              <a:t>牡丹亭</a:t>
            </a:r>
            <a:r>
              <a:rPr lang="en-US" altLang="zh-CN" dirty="0"/>
              <a:t>》</a:t>
            </a:r>
          </a:p>
          <a:p>
            <a:r>
              <a:rPr lang="en-US" altLang="zh-CN" dirty="0"/>
              <a:t>❈ </a:t>
            </a:r>
            <a:r>
              <a:rPr lang="zh-CN" altLang="en-US" dirty="0"/>
              <a:t>小品文：张岱</a:t>
            </a:r>
            <a:r>
              <a:rPr lang="en-US" altLang="zh-CN" dirty="0"/>
              <a:t>《</a:t>
            </a:r>
            <a:r>
              <a:rPr lang="zh-CN" altLang="en-US" dirty="0"/>
              <a:t>陶庵梦忆</a:t>
            </a:r>
            <a:r>
              <a:rPr lang="en-US" altLang="zh-CN" dirty="0"/>
              <a:t>》《</a:t>
            </a:r>
            <a:r>
              <a:rPr lang="zh-CN" altLang="en-US" dirty="0"/>
              <a:t>西湖梦寻</a:t>
            </a:r>
            <a:r>
              <a:rPr lang="en-US" altLang="zh-CN" dirty="0"/>
              <a:t>》</a:t>
            </a:r>
          </a:p>
          <a:p>
            <a:r>
              <a:rPr lang="zh-CN" altLang="en-US" b="1" dirty="0"/>
              <a:t>（八）清代 </a:t>
            </a:r>
            <a:endParaRPr lang="en-US" altLang="zh-CN" b="1" dirty="0"/>
          </a:p>
          <a:p>
            <a:r>
              <a:rPr lang="zh-CN" altLang="en-US" dirty="0"/>
              <a:t>中国最后一个封建王朝</a:t>
            </a:r>
          </a:p>
          <a:p>
            <a:r>
              <a:rPr lang="zh-CN" altLang="en-US" dirty="0"/>
              <a:t>❈ 清代文学最大成就</a:t>
            </a:r>
            <a:r>
              <a:rPr lang="en-US" altLang="zh-CN" dirty="0"/>
              <a:t>——</a:t>
            </a:r>
            <a:r>
              <a:rPr lang="zh-CN" altLang="en-US" dirty="0"/>
              <a:t>小说</a:t>
            </a:r>
          </a:p>
          <a:p>
            <a:r>
              <a:rPr lang="zh-CN" altLang="en-US" dirty="0"/>
              <a:t>❈ 曹雪芹</a:t>
            </a:r>
            <a:r>
              <a:rPr lang="en-US" altLang="zh-CN" dirty="0"/>
              <a:t>《</a:t>
            </a:r>
            <a:r>
              <a:rPr lang="zh-CN" altLang="en-US" dirty="0"/>
              <a:t>红楼梦</a:t>
            </a:r>
            <a:r>
              <a:rPr lang="en-US" altLang="zh-CN" dirty="0"/>
              <a:t>》</a:t>
            </a:r>
            <a:r>
              <a:rPr lang="zh-CN" altLang="en-US" dirty="0"/>
              <a:t>、吴敬梓</a:t>
            </a:r>
            <a:r>
              <a:rPr lang="en-US" altLang="zh-CN" dirty="0"/>
              <a:t>《</a:t>
            </a:r>
            <a:r>
              <a:rPr lang="zh-CN" altLang="en-US" dirty="0"/>
              <a:t>儒林外史</a:t>
            </a:r>
            <a:r>
              <a:rPr lang="en-US" altLang="zh-CN" dirty="0"/>
              <a:t>》</a:t>
            </a:r>
            <a:r>
              <a:rPr lang="zh-CN" altLang="en-US" dirty="0"/>
              <a:t>、蒲松龄 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《</a:t>
            </a:r>
            <a:r>
              <a:rPr lang="zh-CN" altLang="en-US" dirty="0"/>
              <a:t>聊斋志异</a:t>
            </a:r>
            <a:r>
              <a:rPr lang="en-US" altLang="zh-CN" dirty="0"/>
              <a:t>》</a:t>
            </a:r>
          </a:p>
          <a:p>
            <a:r>
              <a:rPr lang="en-US" altLang="zh-CN" dirty="0"/>
              <a:t>❈ </a:t>
            </a:r>
            <a:r>
              <a:rPr lang="zh-CN" altLang="en-US" dirty="0"/>
              <a:t>戏曲：吴伟业</a:t>
            </a:r>
            <a:r>
              <a:rPr lang="en-US" altLang="zh-CN" dirty="0"/>
              <a:t>《</a:t>
            </a:r>
            <a:r>
              <a:rPr lang="zh-CN" altLang="en-US" dirty="0"/>
              <a:t>秣陵春</a:t>
            </a:r>
            <a:r>
              <a:rPr lang="en-US" altLang="zh-CN" dirty="0"/>
              <a:t>》</a:t>
            </a:r>
            <a:r>
              <a:rPr lang="zh-CN" altLang="en-US" dirty="0"/>
              <a:t>、李玉</a:t>
            </a:r>
            <a:r>
              <a:rPr lang="en-US" altLang="zh-CN" dirty="0"/>
              <a:t>《</a:t>
            </a:r>
            <a:r>
              <a:rPr lang="zh-CN" altLang="en-US" dirty="0"/>
              <a:t>清忠谱</a:t>
            </a:r>
            <a:r>
              <a:rPr lang="en-US" altLang="zh-CN" dirty="0"/>
              <a:t>》</a:t>
            </a:r>
            <a:r>
              <a:rPr lang="zh-CN" altLang="en-US" dirty="0"/>
              <a:t>、</a:t>
            </a:r>
          </a:p>
          <a:p>
            <a:r>
              <a:rPr lang="zh-CN" altLang="en-US" dirty="0"/>
              <a:t> 洪昇</a:t>
            </a:r>
            <a:r>
              <a:rPr lang="en-US" altLang="zh-CN" dirty="0"/>
              <a:t>《</a:t>
            </a:r>
            <a:r>
              <a:rPr lang="zh-CN" altLang="en-US" dirty="0"/>
              <a:t>长生殿</a:t>
            </a:r>
            <a:r>
              <a:rPr lang="en-US" altLang="zh-CN" dirty="0"/>
              <a:t>》</a:t>
            </a:r>
            <a:r>
              <a:rPr lang="zh-CN" altLang="en-US" dirty="0"/>
              <a:t>、孔尚任</a:t>
            </a:r>
            <a:r>
              <a:rPr lang="en-US" altLang="zh-CN" dirty="0"/>
              <a:t>《</a:t>
            </a:r>
            <a:r>
              <a:rPr lang="zh-CN" altLang="en-US" dirty="0"/>
              <a:t>桃花扇</a:t>
            </a:r>
            <a:r>
              <a:rPr lang="en-US" altLang="zh-CN" dirty="0"/>
              <a:t>》</a:t>
            </a:r>
          </a:p>
          <a:p>
            <a:r>
              <a:rPr lang="zh-CN" altLang="en-US" b="1" dirty="0"/>
              <a:t>（九）近代 </a:t>
            </a:r>
            <a:endParaRPr lang="en-US" altLang="zh-CN" b="1" dirty="0"/>
          </a:p>
          <a:p>
            <a:r>
              <a:rPr lang="zh-CN" altLang="en-US" dirty="0"/>
              <a:t>鸦片战争爆发，中国沦为半封建半殖民地</a:t>
            </a:r>
          </a:p>
          <a:p>
            <a:r>
              <a:rPr lang="zh-CN" altLang="en-US" dirty="0"/>
              <a:t>❈ 文学主题：反帝爱国、民主主义 </a:t>
            </a:r>
            <a:r>
              <a:rPr lang="en-US" altLang="zh-CN" dirty="0"/>
              <a:t>&amp; </a:t>
            </a:r>
          </a:p>
          <a:p>
            <a:r>
              <a:rPr lang="en-US" altLang="zh-CN" dirty="0"/>
              <a:t> </a:t>
            </a:r>
            <a:r>
              <a:rPr lang="zh-CN" altLang="en-US" dirty="0"/>
              <a:t>维护封建统治、抗拒新思想</a:t>
            </a:r>
          </a:p>
          <a:p>
            <a:r>
              <a:rPr lang="zh-CN" altLang="en-US" dirty="0"/>
              <a:t>❈ 代表：龚自珍、魏源、林则徐、张维屏、梁启超</a:t>
            </a:r>
          </a:p>
          <a:p>
            <a:r>
              <a:rPr lang="zh-CN" altLang="en-US" dirty="0"/>
              <a:t>❈ 谴责小说：李宝嘉</a:t>
            </a:r>
            <a:r>
              <a:rPr lang="en-US" altLang="zh-CN" dirty="0"/>
              <a:t>《</a:t>
            </a:r>
            <a:r>
              <a:rPr lang="zh-CN" altLang="en-US" dirty="0"/>
              <a:t>官场现形记</a:t>
            </a:r>
            <a:r>
              <a:rPr lang="en-US" altLang="zh-CN" dirty="0"/>
              <a:t>》</a:t>
            </a:r>
            <a:r>
              <a:rPr lang="zh-CN" altLang="en-US" dirty="0"/>
              <a:t>、吴沃尧</a:t>
            </a:r>
            <a:r>
              <a:rPr lang="en-US" altLang="zh-CN" dirty="0"/>
              <a:t>《</a:t>
            </a:r>
            <a:r>
              <a:rPr lang="zh-CN" altLang="en-US" dirty="0"/>
              <a:t>二十年 </a:t>
            </a:r>
          </a:p>
          <a:p>
            <a:r>
              <a:rPr lang="zh-CN" altLang="en-US" dirty="0"/>
              <a:t> 目睹之怪现状</a:t>
            </a:r>
            <a:r>
              <a:rPr lang="en-US" altLang="zh-CN" dirty="0"/>
              <a:t>》</a:t>
            </a:r>
            <a:r>
              <a:rPr lang="zh-CN" altLang="en-US" dirty="0"/>
              <a:t>、曾朴</a:t>
            </a:r>
            <a:r>
              <a:rPr lang="en-US" altLang="zh-CN" dirty="0"/>
              <a:t>《</a:t>
            </a:r>
            <a:r>
              <a:rPr lang="zh-CN" altLang="en-US" dirty="0"/>
              <a:t>孽海花</a:t>
            </a:r>
            <a:r>
              <a:rPr lang="en-US" altLang="zh-CN" dirty="0"/>
              <a:t>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E83203B-FA84-E2C9-3876-EB7692E31378}"/>
              </a:ext>
            </a:extLst>
          </p:cNvPr>
          <p:cNvSpPr txBox="1"/>
          <p:nvPr/>
        </p:nvSpPr>
        <p:spPr>
          <a:xfrm>
            <a:off x="5927526" y="258245"/>
            <a:ext cx="609719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（十）现代</a:t>
            </a:r>
            <a:endParaRPr lang="en-US" altLang="zh-CN" b="1" dirty="0"/>
          </a:p>
          <a:p>
            <a:r>
              <a:rPr lang="zh-CN" altLang="en-US" dirty="0"/>
              <a:t>中国现代文学发短语“五四”新文化运动和文学革命</a:t>
            </a:r>
          </a:p>
          <a:p>
            <a:r>
              <a:rPr lang="zh-CN" altLang="en-US" dirty="0"/>
              <a:t>❈ 最早发生变化的是诗歌创作</a:t>
            </a:r>
          </a:p>
          <a:p>
            <a:r>
              <a:rPr lang="zh-CN" altLang="en-US" dirty="0"/>
              <a:t>❈ 陈独秀</a:t>
            </a:r>
            <a:r>
              <a:rPr lang="en-US" altLang="zh-CN" dirty="0"/>
              <a:t>《</a:t>
            </a:r>
            <a:r>
              <a:rPr lang="zh-CN" altLang="en-US" dirty="0"/>
              <a:t>新青年</a:t>
            </a:r>
            <a:r>
              <a:rPr lang="en-US" altLang="zh-CN" dirty="0"/>
              <a:t>》</a:t>
            </a:r>
          </a:p>
          <a:p>
            <a:r>
              <a:rPr lang="en-US" altLang="zh-CN" dirty="0"/>
              <a:t>❈ </a:t>
            </a:r>
            <a:r>
              <a:rPr lang="zh-CN" altLang="en-US" dirty="0"/>
              <a:t>胡适</a:t>
            </a:r>
            <a:r>
              <a:rPr lang="en-US" altLang="zh-CN" dirty="0"/>
              <a:t>《</a:t>
            </a:r>
            <a:r>
              <a:rPr lang="zh-CN" altLang="en-US" dirty="0"/>
              <a:t>尝试集</a:t>
            </a:r>
            <a:r>
              <a:rPr lang="en-US" altLang="zh-CN" dirty="0"/>
              <a:t>》</a:t>
            </a:r>
            <a:r>
              <a:rPr lang="zh-CN" altLang="en-US" dirty="0"/>
              <a:t>（五四运动时期第一部白话诗集）</a:t>
            </a:r>
            <a:endParaRPr lang="en-US" altLang="zh-CN" dirty="0"/>
          </a:p>
          <a:p>
            <a:r>
              <a:rPr lang="zh-CN" altLang="en-US" dirty="0"/>
              <a:t>文学代表</a:t>
            </a:r>
            <a:endParaRPr lang="en-US" altLang="zh-CN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诗人：胡适、郭沫若、闻一多、戴望舒、徐志摩、艾青、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田间、臧克家等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小说：鲁迅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狂人日记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呐喊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彷徨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、郁达夫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沉沦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矛盾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子夜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、巴金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激流三部曲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、老舍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骆驼祥子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 </a:t>
            </a:r>
            <a:endParaRPr lang="zh-CN" altLang="en-US" dirty="0"/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四世同堂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、叶圣陶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倪焕之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、沈从文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边城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赵树理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小二黑结婚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、冰心等等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话剧：曹禺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雷雨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日出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、夏衍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上海屋檐下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郭沫若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屈原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、贺敬之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白毛女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等</a:t>
            </a:r>
            <a:endParaRPr lang="en-US" altLang="zh-CN" sz="18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b="1" dirty="0"/>
              <a:t>（十一）当代</a:t>
            </a:r>
            <a:endParaRPr lang="en-US" altLang="zh-CN" b="1" dirty="0"/>
          </a:p>
          <a:p>
            <a:r>
              <a:rPr lang="zh-CN" altLang="en-US" dirty="0"/>
              <a:t> </a:t>
            </a:r>
            <a:r>
              <a:rPr lang="en-US" altLang="zh-CN" dirty="0"/>
              <a:t>1949</a:t>
            </a:r>
            <a:r>
              <a:rPr lang="zh-CN" altLang="en-US" dirty="0"/>
              <a:t>年，中华人民共和国宣告成立</a:t>
            </a:r>
          </a:p>
          <a:p>
            <a:r>
              <a:rPr lang="zh-CN" altLang="en-US" dirty="0"/>
              <a:t>❈ 中国文学掀开全新篇章</a:t>
            </a:r>
          </a:p>
          <a:p>
            <a:r>
              <a:rPr lang="zh-CN" altLang="en-US" dirty="0"/>
              <a:t>❈ 诗词、小说、散文、论文、说明文、电视电影、网络文学</a:t>
            </a:r>
          </a:p>
        </p:txBody>
      </p:sp>
    </p:spTree>
    <p:extLst>
      <p:ext uri="{BB962C8B-B14F-4D97-AF65-F5344CB8AC3E}">
        <p14:creationId xmlns:p14="http://schemas.microsoft.com/office/powerpoint/2010/main" val="4078420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9403DD4-79A3-020C-BA59-4276CDFE9732}"/>
              </a:ext>
            </a:extLst>
          </p:cNvPr>
          <p:cNvSpPr txBox="1"/>
          <p:nvPr/>
        </p:nvSpPr>
        <p:spPr>
          <a:xfrm>
            <a:off x="162520" y="70188"/>
            <a:ext cx="609719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中国文学在世界发展中的地位</a:t>
            </a:r>
            <a:endParaRPr lang="en-US" altLang="zh-CN" b="1" dirty="0"/>
          </a:p>
          <a:p>
            <a:r>
              <a:rPr lang="zh-CN" altLang="en-US" b="1" dirty="0"/>
              <a:t>（一）中国文学是世界文学发展的源头之一</a:t>
            </a:r>
            <a:endParaRPr lang="en-US" altLang="zh-CN" b="1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中国著名神话集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山海关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中记载了不少当时的外国神话。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如西王母神话。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中国最早的诗歌总集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诗经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，其流传与成书年代和古希腊的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荷 马史诗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流传与成书的年代相近。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中国的先秦文学成就可以和古巴比伦、古印度、古希腊等文明古国的 文学相媲美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中国文学在世界文学发展的初期，就是最早的文学发展源头之一。中 国最古老的作品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诗经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尚书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为中国文学创下了自己的独特风格。</a:t>
            </a:r>
            <a:endParaRPr lang="zh-CN" altLang="en-US" dirty="0"/>
          </a:p>
          <a:p>
            <a:r>
              <a:rPr lang="zh-CN" altLang="en-US" dirty="0"/>
              <a:t> </a:t>
            </a:r>
            <a:r>
              <a:rPr lang="zh-CN" altLang="en-US" b="1" dirty="0"/>
              <a:t>（二）中国文学形成为东亚文学的核心</a:t>
            </a:r>
            <a:endParaRPr lang="en-US" altLang="zh-CN" b="1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公元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6--13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世纪，中国历史上南北朝至元朝中叶时代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文学上的体现为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昭君合番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文成公主远嫁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汉文学从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世纪开始广泛地在日本产生影响，而朝鲜、越南，在秦 汉之际都是中国的郡，公元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5--7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世纪，朝鲜贵族皆用汉文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公元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5--13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世纪，中国与南亚、西亚和欧洲的文学交流，已有较广 泛的开展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唐太宗贞观年间至唐玄宗开元年间，即公元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7--8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世纪是中外文化 交流的繁盛时期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玄奘在唐代中外文化交流中的伟大贡献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——《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大唐西域记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endParaRPr lang="zh-CN" altLang="en-US" dirty="0"/>
          </a:p>
          <a:p>
            <a:r>
              <a:rPr lang="zh-CN" altLang="en-US" dirty="0"/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9F6B8-9216-4672-3E29-E48D661CEA2A}"/>
              </a:ext>
            </a:extLst>
          </p:cNvPr>
          <p:cNvSpPr txBox="1"/>
          <p:nvPr/>
        </p:nvSpPr>
        <p:spPr>
          <a:xfrm>
            <a:off x="6096000" y="-8393"/>
            <a:ext cx="6097190" cy="750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（三）中国文学西传的两个热潮</a:t>
            </a:r>
            <a:endParaRPr lang="en-US" altLang="zh-CN" b="1" dirty="0"/>
          </a:p>
          <a:p>
            <a:r>
              <a:rPr lang="en-US" altLang="zh-CN" dirty="0"/>
              <a:t> </a:t>
            </a:r>
            <a:r>
              <a:rPr lang="zh-CN" altLang="en-US" dirty="0"/>
              <a:t>公元</a:t>
            </a:r>
            <a:r>
              <a:rPr lang="en-US" altLang="zh-CN" dirty="0"/>
              <a:t>12--13</a:t>
            </a:r>
            <a:r>
              <a:rPr lang="zh-CN" altLang="en-US" dirty="0"/>
              <a:t>世纪，对欧洲文学影响最大的，是这个时 期传到欧洲的印刷术和造纸法</a:t>
            </a:r>
          </a:p>
          <a:p>
            <a:r>
              <a:rPr lang="zh-CN" altLang="en-US" dirty="0"/>
              <a:t>❈ 汉文化西传的第二次热潮是</a:t>
            </a:r>
            <a:r>
              <a:rPr lang="en-US" altLang="zh-CN" dirty="0"/>
              <a:t>15</a:t>
            </a:r>
            <a:r>
              <a:rPr lang="zh-CN" altLang="en-US" dirty="0"/>
              <a:t>世纪的郑和</a:t>
            </a:r>
            <a:r>
              <a:rPr lang="en-US" altLang="zh-CN" dirty="0"/>
              <a:t>7</a:t>
            </a:r>
            <a:r>
              <a:rPr lang="zh-CN" altLang="en-US" dirty="0"/>
              <a:t>次下西洋 （把中华文化传播至东南亚与非洲东岸）</a:t>
            </a:r>
          </a:p>
          <a:p>
            <a:r>
              <a:rPr lang="zh-CN" altLang="en-US" dirty="0"/>
              <a:t> </a:t>
            </a:r>
            <a:r>
              <a:rPr lang="zh-CN" altLang="en-US" b="1" dirty="0"/>
              <a:t>（四）进入中、欧文学交流的时代</a:t>
            </a:r>
            <a:endParaRPr lang="en-US" altLang="zh-CN" b="1" dirty="0"/>
          </a:p>
          <a:p>
            <a:r>
              <a:rPr lang="zh-CN" altLang="en-US" dirty="0"/>
              <a:t>公元</a:t>
            </a:r>
            <a:r>
              <a:rPr lang="en-US" altLang="zh-CN" dirty="0"/>
              <a:t>17--18</a:t>
            </a:r>
            <a:r>
              <a:rPr lang="zh-CN" altLang="en-US" dirty="0"/>
              <a:t>世纪，中国明末清初，中国国势鼎盛时期，欧 </a:t>
            </a:r>
          </a:p>
          <a:p>
            <a:r>
              <a:rPr lang="zh-CN" altLang="en-US" dirty="0"/>
              <a:t> 亚文化广泛交流时期，中国文学开始跨越洲界，对欧洲文 </a:t>
            </a:r>
          </a:p>
          <a:p>
            <a:r>
              <a:rPr lang="zh-CN" altLang="en-US" dirty="0"/>
              <a:t> 学产生影响</a:t>
            </a:r>
          </a:p>
          <a:p>
            <a:r>
              <a:rPr lang="zh-CN" altLang="en-US" dirty="0"/>
              <a:t>❈ </a:t>
            </a:r>
            <a:r>
              <a:rPr lang="en-US" altLang="zh-CN" dirty="0"/>
              <a:t>18</a:t>
            </a:r>
            <a:r>
              <a:rPr lang="zh-CN" altLang="en-US" dirty="0"/>
              <a:t>世纪欧洲曾掀起一阵中国热</a:t>
            </a:r>
          </a:p>
          <a:p>
            <a:r>
              <a:rPr lang="zh-CN" altLang="en-US" dirty="0"/>
              <a:t>❈ </a:t>
            </a:r>
            <a:r>
              <a:rPr lang="en-US" altLang="zh-CN" dirty="0"/>
              <a:t>18</a:t>
            </a:r>
            <a:r>
              <a:rPr lang="zh-CN" altLang="en-US" dirty="0"/>
              <a:t>世纪的欧洲人，对中国文学也有持怀疑或反对态度的 </a:t>
            </a:r>
          </a:p>
          <a:p>
            <a:r>
              <a:rPr lang="zh-CN" altLang="en-US" dirty="0"/>
              <a:t> （法国卢梭</a:t>
            </a:r>
            <a:r>
              <a:rPr lang="en-US" altLang="zh-CN" dirty="0"/>
              <a:t>——</a:t>
            </a:r>
            <a:r>
              <a:rPr lang="zh-CN" altLang="en-US" dirty="0"/>
              <a:t>怀疑，费奈隆</a:t>
            </a:r>
            <a:r>
              <a:rPr lang="en-US" altLang="zh-CN" dirty="0"/>
              <a:t>——</a:t>
            </a:r>
            <a:r>
              <a:rPr lang="zh-CN" altLang="en-US" dirty="0"/>
              <a:t>反对）</a:t>
            </a:r>
          </a:p>
          <a:p>
            <a:r>
              <a:rPr lang="zh-CN" altLang="en-US" dirty="0"/>
              <a:t>❈ 公元</a:t>
            </a:r>
            <a:r>
              <a:rPr lang="en-US" altLang="zh-CN" dirty="0"/>
              <a:t>17--18</a:t>
            </a:r>
            <a:r>
              <a:rPr lang="zh-CN" altLang="en-US" dirty="0"/>
              <a:t>世纪中国文学在亚洲的影响，朝鲜、日本、越南</a:t>
            </a:r>
            <a:r>
              <a:rPr lang="en-US" altLang="zh-CN" dirty="0"/>
              <a:t>---《</a:t>
            </a:r>
            <a:r>
              <a:rPr lang="zh-CN" altLang="en-US" dirty="0"/>
              <a:t>三国演义</a:t>
            </a:r>
            <a:r>
              <a:rPr lang="en-US" altLang="zh-CN" dirty="0"/>
              <a:t>》</a:t>
            </a:r>
            <a:r>
              <a:rPr lang="zh-CN" altLang="en-US" dirty="0"/>
              <a:t>等</a:t>
            </a:r>
          </a:p>
          <a:p>
            <a:r>
              <a:rPr lang="zh-CN" altLang="en-US" dirty="0"/>
              <a:t> </a:t>
            </a:r>
            <a:r>
              <a:rPr lang="zh-CN" altLang="en-US" b="1" dirty="0"/>
              <a:t>（五）中国文学在世人眼中的两个形象</a:t>
            </a:r>
            <a:endParaRPr lang="en-US" altLang="zh-CN" b="1" dirty="0"/>
          </a:p>
          <a:p>
            <a:r>
              <a:rPr lang="zh-CN" altLang="en-US" sz="16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以渊源久远的文明古国的形象，进入已形成的世界性的文学思潮中作为 其重要组成部分 </a:t>
            </a:r>
            <a:endParaRPr lang="zh-CN" altLang="en-US" sz="1600" dirty="0"/>
          </a:p>
          <a:p>
            <a:r>
              <a:rPr lang="zh-CN" altLang="en-US" sz="16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6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作为被压迫、被侮辱的弱者形象，出现在一些有世界影响的文学作品中 </a:t>
            </a:r>
            <a:endParaRPr lang="zh-CN" altLang="en-US" sz="1600" dirty="0"/>
          </a:p>
          <a:p>
            <a:r>
              <a:rPr lang="zh-CN" altLang="en-US" sz="16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6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俄国列夫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托尔斯泰写给辜鸿铭的信中：“在欧洲人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其中在很大 程度上也包括俄国人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对中国人所施加的种种暴行之后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中国人民的 </a:t>
            </a:r>
            <a:endParaRPr lang="zh-CN" altLang="en-US" sz="1600" dirty="0"/>
          </a:p>
          <a:p>
            <a:r>
              <a:rPr lang="zh-CN" altLang="en-US" sz="16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精神，特别引起我的兴趣，而且还将会引起我的兴趣。。。我认为，在我 们的时代，在人类的生活当中，镇通过在发生着一个重大的转变，而在这 个转变中，中国将领导着东方各民族起着巨大的作用”</a:t>
            </a:r>
            <a:endParaRPr lang="zh-CN" altLang="en-US" sz="1600" dirty="0"/>
          </a:p>
          <a:p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826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43BB85C-31B1-E8D5-2DDC-4640A114E157}"/>
              </a:ext>
            </a:extLst>
          </p:cNvPr>
          <p:cNvSpPr txBox="1"/>
          <p:nvPr/>
        </p:nvSpPr>
        <p:spPr>
          <a:xfrm>
            <a:off x="284560" y="162610"/>
            <a:ext cx="571734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（六）中外文学大规模的交流</a:t>
            </a:r>
            <a:endParaRPr lang="en-US" altLang="zh-CN" b="1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时期：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世纪上半叶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19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世纪末年，由于大批留学生从欧、美、日本等地回国， </a:t>
            </a:r>
            <a:endParaRPr lang="zh-CN" altLang="en-US" dirty="0"/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世纪初中国文坛上的外国文学翻译、介绍十分活跃，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多用古典格律诗体或浅易文言文体。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1919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年中国“五四”新文学运动，最集中、最充分、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最深刻地体现了中外文学交流的时代特征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1915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新青年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创刊，是质变的开始，是综合性的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社会科学杂志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1921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年成立文学研究会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E40B2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❈</a:t>
            </a:r>
            <a:r>
              <a:rPr lang="zh-CN" altLang="en-US" sz="1800" dirty="0">
                <a:solidFill>
                  <a:srgbClr val="0E40B2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1922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年的创造社，开拓了浪漫主义文学的阵地</a:t>
            </a:r>
            <a:endParaRPr lang="zh-CN" altLang="en-US" dirty="0"/>
          </a:p>
          <a:p>
            <a:r>
              <a:rPr lang="zh-CN" altLang="en-US" dirty="0"/>
              <a:t> </a:t>
            </a:r>
            <a:r>
              <a:rPr lang="zh-CN" altLang="en-US" b="1" dirty="0"/>
              <a:t>（七）中国文学是世界文学的重要组成部</a:t>
            </a:r>
            <a:endParaRPr lang="en-US" altLang="zh-CN" b="1" dirty="0"/>
          </a:p>
          <a:p>
            <a:r>
              <a:rPr lang="en-US" altLang="zh-CN" dirty="0"/>
              <a:t>20</a:t>
            </a:r>
            <a:r>
              <a:rPr lang="zh-CN" altLang="en-US" dirty="0"/>
              <a:t>世纪下半叶，中国文学在世界文学发展方面产生重大</a:t>
            </a:r>
          </a:p>
          <a:p>
            <a:r>
              <a:rPr lang="zh-CN" altLang="en-US" dirty="0"/>
              <a:t> 影响的</a:t>
            </a:r>
            <a:r>
              <a:rPr lang="en-US" altLang="zh-CN" dirty="0"/>
              <a:t>3</a:t>
            </a:r>
            <a:r>
              <a:rPr lang="zh-CN" altLang="en-US" dirty="0"/>
              <a:t>件事：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、美国诗坛发生第二次“中国诗热”，“禅与道”成了美国当代诗坛的热门话题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、接受中国戏曲影响的布莱希特式戏剧已被列为世界著名的戏剧体系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、在比较文学领域，中国学派正在形成</a:t>
            </a:r>
          </a:p>
          <a:p>
            <a:r>
              <a:rPr lang="zh-CN" altLang="en-US" dirty="0"/>
              <a:t>❈ </a:t>
            </a:r>
            <a:r>
              <a:rPr lang="en-US" altLang="zh-CN" dirty="0"/>
              <a:t>20</a:t>
            </a:r>
            <a:r>
              <a:rPr lang="zh-CN" altLang="en-US" dirty="0"/>
              <a:t>世纪下半叶，中国文坛上的主流是社会主义现实主义文学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A7CE3D-128B-2134-7CB3-4FD3A67BBECC}"/>
              </a:ext>
            </a:extLst>
          </p:cNvPr>
          <p:cNvSpPr txBox="1"/>
          <p:nvPr/>
        </p:nvSpPr>
        <p:spPr>
          <a:xfrm>
            <a:off x="6094978" y="249652"/>
            <a:ext cx="590882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武大最后的</a:t>
            </a:r>
            <a:endParaRPr lang="en-US" altLang="zh-CN" sz="1800" b="1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一、 感官层次的审美愉快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在审美感知阶段获得的审美愉快是一种初级的审美愉快，是在感官层次获得的愉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快。 感性愉快并不是纯生理的愉快，但它在感知阶段发生， 离不开人的器官和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生理的东西，这决定了感性愉快的短暂性和变异性。 </a:t>
            </a:r>
            <a:endParaRPr lang="zh-CN" altLang="en-US" dirty="0"/>
          </a:p>
          <a:p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二、 心意层次的审美愉快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心意层次的审美愉快是在审美体验阶段获得的，是一种高级的审美愉快。在这个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阶段，主体深入到审美对象的意义层次，体验、领悟审美对象的意义和情感，并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且在“物我同一”的境界中体验、领悟自我的意义和情感。 </a:t>
            </a:r>
            <a:endParaRPr lang="zh-CN" altLang="en-US" dirty="0"/>
          </a:p>
          <a:p>
            <a:r>
              <a:rPr lang="zh-CN" altLang="en-US" sz="18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三、 精神人格层次的审美愉快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精神人格层次的审美愉快是在审美超越阶段获得的，是最高级的审美愉快。在这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个阶段，主体获得的审美愉快是精神人格层次的愉快，也称为“悦志悦神”。它 </a:t>
            </a:r>
            <a:endParaRPr lang="zh-CN" altLang="en-US" dirty="0"/>
          </a:p>
          <a:p>
            <a:r>
              <a:rPr lang="zh-CN" altLang="en-US" sz="1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常常表现为人格的震动、心灵的战栗，这是人的心灵的洗涤，主观精神的升华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7156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E05F1D-5C4C-AE8C-039A-C4D71C80374A}"/>
              </a:ext>
            </a:extLst>
          </p:cNvPr>
          <p:cNvSpPr txBox="1"/>
          <p:nvPr/>
        </p:nvSpPr>
        <p:spPr>
          <a:xfrm>
            <a:off x="533994" y="117693"/>
            <a:ext cx="914340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武大，接对一面</a:t>
            </a:r>
            <a:endParaRPr lang="en-US" altLang="zh-CN" sz="1600" dirty="0"/>
          </a:p>
          <a:p>
            <a:r>
              <a:rPr lang="zh-CN" altLang="en-US" sz="1600" dirty="0"/>
              <a:t>第十章 审美愉快</a:t>
            </a:r>
          </a:p>
          <a:p>
            <a:r>
              <a:rPr lang="zh-CN" altLang="en-US" sz="1600" dirty="0"/>
              <a:t>第一节 审美愉快及其特征</a:t>
            </a:r>
          </a:p>
          <a:p>
            <a:r>
              <a:rPr lang="zh-CN" altLang="en-US" sz="1600" dirty="0"/>
              <a:t>审美愉快既是感性的，又是理性的，是感性与理性的统一，是一种综合的、全面</a:t>
            </a:r>
          </a:p>
          <a:p>
            <a:r>
              <a:rPr lang="zh-CN" altLang="en-US" sz="1600" dirty="0"/>
              <a:t>的愉快经验。</a:t>
            </a:r>
          </a:p>
          <a:p>
            <a:r>
              <a:rPr lang="zh-CN" altLang="en-US" sz="1600" dirty="0"/>
              <a:t>一、 作为美感的审美愉快</a:t>
            </a:r>
          </a:p>
          <a:p>
            <a:r>
              <a:rPr lang="zh-CN" altLang="en-US" sz="1600" dirty="0"/>
              <a:t>亚里士多德在其《伦理学》中强调了美感或审美经 验主要来自看和听的感觉，</a:t>
            </a:r>
          </a:p>
          <a:p>
            <a:r>
              <a:rPr lang="zh-CN" altLang="en-US" sz="1600" dirty="0"/>
              <a:t>也可以是间接地来自其他的感觉，但都是一种愉快的感觉。</a:t>
            </a:r>
          </a:p>
          <a:p>
            <a:r>
              <a:rPr lang="zh-CN" altLang="en-US" sz="1600" dirty="0"/>
              <a:t>托马斯阿奎纳曾经从主体的感受的特点来定义美，提出“凡是一眼见到就使人愉</a:t>
            </a:r>
          </a:p>
          <a:p>
            <a:r>
              <a:rPr lang="zh-CN" altLang="en-US" sz="1600" dirty="0"/>
              <a:t>悦的东西才叫作美的。”</a:t>
            </a:r>
          </a:p>
          <a:p>
            <a:r>
              <a:rPr lang="zh-CN" altLang="en-US" sz="1600" dirty="0"/>
              <a:t>休谟、博克都提出了审美经验是一种愉快的经验。</a:t>
            </a:r>
          </a:p>
          <a:p>
            <a:r>
              <a:rPr lang="zh-CN" altLang="en-US" sz="1600" dirty="0"/>
              <a:t>康德提出“美是无一切利害关系的愉快的对象。”</a:t>
            </a:r>
          </a:p>
          <a:p>
            <a:r>
              <a:rPr lang="zh-CN" altLang="en-US" sz="1600" dirty="0"/>
              <a:t>费尔巴哈提出，美感是通过感觉器官对客观对象的认识。</a:t>
            </a:r>
          </a:p>
          <a:p>
            <a:r>
              <a:rPr lang="zh-CN" altLang="en-US" sz="1600" dirty="0"/>
              <a:t>近现代的美学家有把美与审美愉快等同起来，形成了“快乐派”。</a:t>
            </a:r>
          </a:p>
          <a:p>
            <a:r>
              <a:rPr lang="zh-CN" altLang="en-US" sz="1600" dirty="0"/>
              <a:t>二、 审美愉快的特征</a:t>
            </a:r>
          </a:p>
          <a:p>
            <a:r>
              <a:rPr lang="zh-CN" altLang="en-US" sz="1600" dirty="0"/>
              <a:t>审美愉快是一种感性与理性相统一的愉快，这构成了审美愉快的本质特征。审美</a:t>
            </a:r>
          </a:p>
          <a:p>
            <a:r>
              <a:rPr lang="zh-CN" altLang="en-US" sz="1600" dirty="0"/>
              <a:t>愉快更多地来自理想、追求等心灵、精神方面的满足，因此，审美愉快更具有理</a:t>
            </a:r>
          </a:p>
          <a:p>
            <a:r>
              <a:rPr lang="zh-CN" altLang="en-US" sz="1600" dirty="0"/>
              <a:t>性的特征，是一种理性的愉快。</a:t>
            </a:r>
          </a:p>
          <a:p>
            <a:r>
              <a:rPr lang="zh-CN" altLang="en-US" sz="1600" dirty="0"/>
              <a:t>不同于认识活动中获得的愉快:在认识活动中，愉快的感觉称为“美感”或“科</a:t>
            </a:r>
          </a:p>
          <a:p>
            <a:r>
              <a:rPr lang="zh-CN" altLang="en-US" sz="1600" dirty="0"/>
              <a:t>学美感”认识活动中获得的愉快与情感要求、审美需要没有直接的关系，是从属</a:t>
            </a:r>
          </a:p>
          <a:p>
            <a:r>
              <a:rPr lang="zh-CN" altLang="en-US" sz="1600" dirty="0"/>
              <a:t>于人的理性活动。</a:t>
            </a:r>
          </a:p>
          <a:p>
            <a:r>
              <a:rPr lang="zh-CN" altLang="en-US" sz="1600" dirty="0"/>
              <a:t>不同于遵循道德规范的人获得的愉快，道德愉快来自两个方面:</a:t>
            </a:r>
          </a:p>
          <a:p>
            <a:r>
              <a:rPr lang="zh-CN" altLang="en-US" sz="1600" dirty="0"/>
              <a:t>1、遵循了道德规范，对社会尽到了责任和义务，因而获得来自社会的精神上的</a:t>
            </a:r>
          </a:p>
          <a:p>
            <a:r>
              <a:rPr lang="zh-CN" altLang="en-US" sz="1600" dirty="0"/>
              <a:t>奖励与赞赏;</a:t>
            </a:r>
          </a:p>
          <a:p>
            <a:r>
              <a:rPr lang="zh-CN" altLang="en-US" sz="1600" dirty="0"/>
              <a:t>2、主体觉得自己有严格的自律，对自己产生满意的感觉。 第二节 审美愉快的层次</a:t>
            </a:r>
          </a:p>
          <a:p>
            <a:r>
              <a:rPr lang="zh-CN" altLang="en-US" sz="1600" dirty="0"/>
              <a:t>审美愉快具有层次性。当代美学家李泽厚曾把审美愉快概括为“悦耳悦目”、“悦</a:t>
            </a:r>
          </a:p>
          <a:p>
            <a:r>
              <a:rPr lang="zh-CN" altLang="en-US" sz="1600" dirty="0"/>
              <a:t>心 悦意”、“悦志悦神”三个层次。</a:t>
            </a:r>
          </a:p>
        </p:txBody>
      </p:sp>
    </p:spTree>
    <p:extLst>
      <p:ext uri="{BB962C8B-B14F-4D97-AF65-F5344CB8AC3E}">
        <p14:creationId xmlns:p14="http://schemas.microsoft.com/office/powerpoint/2010/main" val="3825268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4012</Words>
  <Application>Microsoft Office PowerPoint</Application>
  <PresentationFormat>宽屏</PresentationFormat>
  <Paragraphs>344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MS Gothic</vt:lpstr>
      <vt:lpstr>等线</vt:lpstr>
      <vt:lpstr>等线 Light</vt:lpstr>
      <vt:lpstr>楷体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Qing ZI JIN</dc:creator>
  <cp:lastModifiedBy>Qing ZI JIN</cp:lastModifiedBy>
  <cp:revision>3</cp:revision>
  <dcterms:created xsi:type="dcterms:W3CDTF">2024-04-16T09:20:59Z</dcterms:created>
  <dcterms:modified xsi:type="dcterms:W3CDTF">2024-04-16T09:59:20Z</dcterms:modified>
</cp:coreProperties>
</file>